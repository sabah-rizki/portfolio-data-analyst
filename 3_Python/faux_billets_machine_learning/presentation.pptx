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640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ONCFM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33172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Détection automatique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faux billets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605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de quatre méthodes de Machine Learning (K-means, régression logistique, KNN, random forest) et livraison d'une application de prédiction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Rizki Sabah — Data Analyst  ·  Septembre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5544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737360" y="1554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mission</a:t>
            </a:r>
            <a:endParaRPr lang="en-US" sz="16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1284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données et leur exploration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71216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287121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 des données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529584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737360" y="352958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non supervisé — K-means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18795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737360" y="41879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supervisé — 3 modèles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8463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4846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et choix du modèle final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50468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737360" y="550468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L'application de prédiction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&amp; mission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Contexte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234440"/>
            <a:ext cx="6035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L'ONCFM (Organisation nationale de lutte contre le faux-monnayage) souhaite équiper ses équipes d'une application de Machine Learning capable de dire, à partir des mesures géométriques d'un billet scanné, s'il s'agit d'un vrai ou d'un faux billet.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461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méthodes mises en concurrence (demande EMV) :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377647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(centroïdes)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418795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logistique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459943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4360" y="5010912"/>
            <a:ext cx="109728" cy="1097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1234440"/>
            <a:ext cx="4663440" cy="2377440"/>
          </a:xfrm>
          <a:prstGeom prst="rect">
            <a:avLst/>
          </a:prstGeom>
          <a:solidFill>
            <a:srgbClr val="F7F8FC"/>
          </a:solidFill>
          <a:ln/>
        </p:spPr>
        <p:txBody>
          <a:bodyPr wrap="square" lIns="177800" tIns="177800" rIns="177800" bIns="17780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E2761"/>
                </a:solidFill>
              </a:rPr>
              <a:t>Livrables attendus
</a:t>
            </a:r>
            <a:endParaRPr lang="en-US" sz="14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22222"/>
                </a:solidFill>
              </a:rPr>
              <a:t>1. Notebook d'analyse (traitements + tests)
</a:t>
            </a:r>
            <a:endParaRPr lang="en-US" sz="14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22222"/>
                </a:solidFill>
              </a:rPr>
              <a:t>2. Script applicatif (prédiction vrai/faux)
</a:t>
            </a:r>
            <a:endParaRPr lang="en-US" sz="14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222222"/>
                </a:solidFill>
              </a:rPr>
              <a:t>3. Support de présentation (ce document)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mois pour livrer une application performante, priorisant la détection du plus grand nombre de faux billets possible.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données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Données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 billets scannés, décrits par 6 mesures géométriques (en mm) et une étiquette de vérité terrain 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F7F8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diagonal  </a:t>
            </a:r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</a:rPr>
              <a:t>Diagonale du billet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06240" y="1783080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F7F8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343400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height_left  </a:t>
            </a:r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</a:rPr>
              <a:t>Hauteur, côté gauche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50008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F7F8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3500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height_right  </a:t>
            </a:r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</a:rPr>
              <a:t>Hauteur, côté droit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206240" y="2350008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F7F8F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43400" y="23500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margin_low  </a:t>
            </a:r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</a:rPr>
              <a:t>Marge basse (bord ↔ image)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2916936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F7F8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291693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margin_up  </a:t>
            </a:r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</a:rPr>
              <a:t>Marge haute (bord ↔ image)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06240" y="2916936"/>
            <a:ext cx="3383280" cy="457200"/>
          </a:xfrm>
          <a:prstGeom prst="roundRect">
            <a:avLst>
              <a:gd name="adj" fmla="val 16000"/>
            </a:avLst>
          </a:prstGeom>
          <a:solidFill>
            <a:srgbClr val="F7F8F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343400" y="291693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  </a:t>
            </a:r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</a:rPr>
              <a:t>Longueur du billet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38160" y="1691640"/>
            <a:ext cx="1554480" cy="1554480"/>
          </a:xfrm>
          <a:prstGeom prst="ellipse">
            <a:avLst/>
          </a:prstGeom>
          <a:solidFill>
            <a:srgbClr val="F7F8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138160" y="1971446"/>
            <a:ext cx="155448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1500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8001000" y="2624328"/>
            <a:ext cx="182880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billets scannés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966960" y="1691640"/>
            <a:ext cx="1554480" cy="1554480"/>
          </a:xfrm>
          <a:prstGeom prst="ellipse">
            <a:avLst/>
          </a:prstGeom>
          <a:solidFill>
            <a:srgbClr val="F7F8FC"/>
          </a:solidFill>
          <a:ln w="25400">
            <a:solidFill>
              <a:srgbClr val="2ECC7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966960" y="1971446"/>
            <a:ext cx="155448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</a:t>
            </a:r>
            <a:endParaRPr lang="en-US" sz="2800" dirty="0"/>
          </a:p>
        </p:txBody>
      </p:sp>
      <p:sp>
        <p:nvSpPr>
          <p:cNvPr id="23" name="Text 21"/>
          <p:cNvSpPr txBox="1"/>
          <p:nvPr/>
        </p:nvSpPr>
        <p:spPr>
          <a:xfrm>
            <a:off x="9829800" y="2624328"/>
            <a:ext cx="182880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vrais billets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052560" y="3520440"/>
            <a:ext cx="1554480" cy="1554480"/>
          </a:xfrm>
          <a:prstGeom prst="ellipse">
            <a:avLst/>
          </a:prstGeom>
          <a:solidFill>
            <a:srgbClr val="F7F8FC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052560" y="3800246"/>
            <a:ext cx="1554480" cy="6995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8915400" y="4453128"/>
            <a:ext cx="1828800" cy="544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 billets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jeu de production (soutenance) suit le même format, avec un séparateur "," et une colonne d'identifiant "id".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Exploration des données (1/3)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Données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5" name="Image 0" descr="/home/claude/oncfm_p12/figures/01_repartition_clas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4023360" cy="321868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846320" y="128016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1E2761"/>
                </a:solidFill>
              </a:rPr>
              <a:t>Répartition déséquilibrée (2:1)
</a:t>
            </a:r>
            <a:endParaRPr lang="en-US" sz="15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222222"/>
                </a:solidFill>
              </a:rPr>
              <a:t>1000 vrais billets pour 500 faux ⇒ split train/test stratifié pour préserver ce ratio, et lecture prioritaire du recall par classe (pas seulement l'accuracy globale).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846320" y="3017520"/>
            <a:ext cx="6766560" cy="3017520"/>
          </a:xfrm>
          <a:prstGeom prst="roundRect">
            <a:avLst>
              <a:gd name="adj" fmla="val 3030"/>
            </a:avLst>
          </a:prstGeom>
          <a:solidFill>
            <a:srgbClr val="F7F8F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120640" y="3200400"/>
            <a:ext cx="63093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E2761"/>
                </a:solidFill>
              </a:rPr>
              <a:t>Qualité des données
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22222"/>
                </a:solidFill>
              </a:rPr>
              <a:t>•  Aucun doublon détecté
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22222"/>
                </a:solidFill>
              </a:rPr>
              <a:t>•  37 valeurs manquantes, uniquement sur margin_low (2,5 % des billets)
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dirty="0">
                <a:solidFill>
                  <a:srgbClr val="222222"/>
                </a:solidFill>
              </a:rPr>
              <a:t>•  Réparties sur les deux classes (29 vrais, 8 faux) — pas de biais de collecte apparent
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50" i="1" dirty="0">
                <a:solidFill>
                  <a:srgbClr val="1E2761"/>
                </a:solidFill>
              </a:rPr>
              <a:t>→  Traitées par imputation plutôt que suppression (cf. section 03)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Exploration des données (2/3)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Données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5" name="Image 0" descr="/home/claude/oncfm_p12/figures/02_distributions_par_clas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7772400" cy="41422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412480" y="1371600"/>
            <a:ext cx="32918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2761"/>
                </a:solidFill>
              </a:rPr>
              <a:t>Variables les plus discriminantes
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22222"/>
                </a:solidFill>
              </a:rPr>
              <a:t>length et margin_low séparent très nettement les deux classes (quasiment pas de recouvrement).
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22222"/>
                </a:solidFill>
              </a:rPr>
              <a:t>margin_up discrimine aussi, plus modérément.
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22222"/>
                </a:solidFill>
              </a:rPr>
              <a:t>diagonal ne montre presque aucune différence entre vrais et faux billets.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Exploration des données (3/3)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Données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5" name="Image 0" descr="/home/claude/oncfm_p12/figures/04_corre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5120640" cy="43891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35040" y="1234440"/>
            <a:ext cx="55778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1E2761"/>
                </a:solidFill>
              </a:rPr>
              <a:t>Corrélation avec is_genuine
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            +0.85
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margin_low      −0.78
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margin_up       −0.61
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height_right    −0.49
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height_left     −0.38
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diagonal        +0.13
</a:t>
            </a:r>
            <a:endParaRPr lang="en-US" sz="15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i="1" dirty="0">
                <a:solidFill>
                  <a:srgbClr val="222222"/>
                </a:solidFill>
              </a:rPr>
              <a:t>On conserve les 6 variables : les modèles retenus gèrent nativement les variables peu informatives, et ce sont les mesures toujours disponibles en production.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Prétraitement — valeurs manquantes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Prétraitement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billets n'ont pas de valeur pour margin_low. Les supprimer ferait perdre ~2,5 % des données (déjà peu nombreuses côté faux billets). On les impute par régression linéaire.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7F8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4688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Entraîner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7472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régression linéaire prédisant margin_low à partir des 5 autres mesures géométriques, sur les 1463 billets complets.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228600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7F8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17720" y="24688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clé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347472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is_genuine n'est jamais utilisé comme variable explicative : c'est la cible à prédire, inconnue pour un nouveau billet (fuite de donnée sinon).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0" y="228600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7F8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58200" y="24688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45820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347472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pour compléter les 37 valeurs manquantes, puis vérifier qu'il ne reste aucun NaN.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478"/>
                </a:solidFill>
              </a:rPr>
              <a:t>R² du modèle d'imputation : </a:t>
            </a:r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E2761"/>
                </a:solidFill>
              </a:rPr>
              <a:t>0,48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5B6478"/>
                </a:solidFill>
              </a:rPr>
              <a:t>  —  modeste mais attendu, et très supérieur à une imputation par la moyenne qui casserait toute relation entre variables.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Prétraitement — split &amp; standardisation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Prétraitement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F7F8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00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Séparation apprentissage / test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031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80 % train / 20 % test, avec stratification sur is_genuine pour conserver le ratio 2:1 vrais/faux dans les deux jeux.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3063240"/>
            <a:ext cx="1737360" cy="1737360"/>
          </a:xfrm>
          <a:prstGeom prst="ellipse">
            <a:avLst/>
          </a:prstGeom>
          <a:solidFill>
            <a:srgbClr val="F7F8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3375965"/>
            <a:ext cx="1737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1200</a:t>
            </a:r>
            <a:endParaRPr lang="en-US" sz="28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105656"/>
            <a:ext cx="201168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billets d'entraînement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08960" y="3063240"/>
            <a:ext cx="1737360" cy="1737360"/>
          </a:xfrm>
          <a:prstGeom prst="ellipse">
            <a:avLst/>
          </a:prstGeom>
          <a:solidFill>
            <a:srgbClr val="F7F8FC"/>
          </a:solidFill>
          <a:ln w="254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08960" y="3375965"/>
            <a:ext cx="173736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2971800" y="4105656"/>
            <a:ext cx="201168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billets de test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074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6 mesures géométriques   —   y = is_genuine (vrai / faux)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17920" y="1371600"/>
            <a:ext cx="5394960" cy="4389120"/>
          </a:xfrm>
          <a:prstGeom prst="roundRect">
            <a:avLst>
              <a:gd name="adj" fmla="val 2083"/>
            </a:avLst>
          </a:prstGeom>
          <a:solidFill>
            <a:srgbClr val="F7F8F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92240" y="1600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Standardisation (StandardScaler)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10312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régression logistique et le KNN reposent sur des distances / produits scalaires : sans standardisation, les variables de plus grande échelle (ex. length ~112mm) domineraient artificiellement les variables plus petites (ex. margin_low ~4mm).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93192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E74C3C"/>
                </a:solidFill>
              </a:rPr>
              <a:t>⚠ Règle essentielle
</a:t>
            </a:r>
            <a:endParaRPr lang="en-US" sz="13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3333"/>
                </a:solidFill>
              </a:rPr>
              <a:t>Le scaler est ajusté (fit) uniquement sur le train, puis appliqué (transform) au train et au test — jamais l'inverse, pour éviter toute fuite d'information du test vers l'entraînement.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— apprentissage non supervisé (1/2)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K-means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K-means regroupe les billets uniquement à partir de leurs mesures géométriques, sans jamais voir l'étiquette vrai/faux pendant l'entraînement.</a:t>
            </a:r>
            <a:endParaRPr lang="en-US" sz="1450" dirty="0"/>
          </a:p>
        </p:txBody>
      </p:sp>
      <p:pic>
        <p:nvPicPr>
          <p:cNvPr id="6" name="Image 0" descr="/home/claude/oncfm_p12/figures/06_kmeans_choix_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0"/>
            <a:ext cx="6949440" cy="2606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0" y="1920240"/>
            <a:ext cx="3840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E2761"/>
                </a:solidFill>
              </a:rPr>
              <a:t>Choix de k = 2
</a:t>
            </a:r>
            <a:endParaRPr lang="en-US" sz="15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222222"/>
                </a:solidFill>
              </a:rPr>
              <a:t>Le score de silhouette est maximal pour k=2, ce qui confirme statistiquement que la structure naturelle des données correspond à deux groupes — cohérent avec le besoin métier vrai/faux.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7F8FC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4892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Caractérisation des clusters  </a:t>
            </a:r>
            <a:pPr indent="0" marL="0">
              <a:buNone/>
            </a:pPr>
            <a:r>
              <a:rPr lang="en-US" sz="1150" i="1" dirty="0">
                <a:solidFill>
                  <a:srgbClr val="5B6478"/>
                </a:solidFill>
              </a:rPr>
              <a:t>(proportion de vrais billets par cluster, calculée a posteriori sur le train)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257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ECC71"/>
                </a:solidFill>
              </a:rPr>
              <a:t>Cluster 1 → 98,5 % de vrais billets  ⇒  mappé sur "vrai"
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74C3C"/>
                </a:solidFill>
              </a:rPr>
              <a:t>Cluster 0 → 1,5 % de vrais billets (98,5 % faux)  ⇒  mappé sur "faux"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— apprentissage non supervisé (2/2)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K-means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pic>
        <p:nvPicPr>
          <p:cNvPr id="5" name="Image 0" descr="/home/claude/oncfm_p12/figures/07_kmeans_clusters_p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6675120" cy="2560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84048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ACP : la carte des clusters K-means (gauche) se superpose presque parfaitement à la carte des vraies classes (droite) — le clustering non supervisé retrouve seul une structure très proche de la réalité métier.</a:t>
            </a:r>
            <a:endParaRPr lang="en-US" sz="1250" dirty="0"/>
          </a:p>
        </p:txBody>
      </p:sp>
      <p:pic>
        <p:nvPicPr>
          <p:cNvPr id="7" name="Image 1" descr="/home/claude/oncfm_p12/figures/08_cm_kmea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188720"/>
            <a:ext cx="4160520" cy="31089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7F8FC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51937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98,7 %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55961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2926080" y="51937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99,0 %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2926080" y="55961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5029200" y="51937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99,0 %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5029200" y="55961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132320" y="51937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99,0 %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7132320" y="55961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9235440" y="519379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0,999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9235440" y="55961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ROC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Régression logistique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Modèles supervisés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pic>
        <p:nvPicPr>
          <p:cNvPr id="5" name="Image 0" descr="/home/claude/oncfm_p12/figures/cm_regression_logistiq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3931920" cy="2971800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188720"/>
          <a:ext cx="3108960" cy="256032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</a:tblGrid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Métrique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99,0 %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Précision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99,0 %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99,5 %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99,25 %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ROC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0,9995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229600" y="1188720"/>
            <a:ext cx="3383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400" b="1" dirty="0">
                <a:solidFill>
                  <a:srgbClr val="1E2761"/>
                </a:solidFill>
              </a:rPr>
              <a:t>Coefficients standardisés
</a:t>
            </a:r>
            <a:endParaRPr lang="en-US" sz="14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          +3,69
</a:t>
            </a:r>
            <a:endParaRPr lang="en-US" sz="14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margin_low      −2,62
</a:t>
            </a:r>
            <a:endParaRPr lang="en-US" sz="14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74C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margin_up       −1,63
</a:t>
            </a:r>
            <a:endParaRPr lang="en-US" sz="14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height_right    −0,64
</a:t>
            </a:r>
            <a:endParaRPr lang="en-US" sz="14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height_left     −0,35
</a:t>
            </a:r>
            <a:endParaRPr lang="en-US" sz="14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diagonal        +0,18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48640" y="443484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F7F8FC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822960" y="46177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Un modèle directement interprétable  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4937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et margin_low dominent très largement la décision (cohérent avec l'EDA et les corrélations). On peut expliquer précisément, pour chaque billet, pourquoi il a été classé faux — un atout important dans un contexte de contrôle et d'audit pour l'ONCFM.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KNN — k plus proches voisins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Modèles supervisés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5" name="Image 0" descr="/home/claude/oncfm_p12/figures/09_knn_choix_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029200" cy="2880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160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nombre de voisins k est choisi par validation croisée à 5 plis sur le train, en balayant k de 1 à 30.</a:t>
            </a:r>
            <a:endParaRPr lang="en-US" sz="1250" dirty="0"/>
          </a:p>
        </p:txBody>
      </p:sp>
      <p:pic>
        <p:nvPicPr>
          <p:cNvPr id="7" name="Image 1" descr="/home/claude/oncfm_p12/figures/cm_kn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1188720"/>
            <a:ext cx="3291840" cy="2468880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09760" y="1188720"/>
          <a:ext cx="2148840" cy="2377440"/>
        </p:xfrm>
        <a:graphic>
          <a:graphicData uri="http://schemas.openxmlformats.org/drawingml/2006/table">
            <a:tbl>
              <a:tblPr/>
              <a:tblGrid>
                <a:gridCol w="1074420"/>
                <a:gridCol w="10744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Métrique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optimal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(test)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99,3 %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(test)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99,5 %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 (test)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99,5 %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4"/>
          <p:cNvSpPr/>
          <p:nvPr/>
        </p:nvSpPr>
        <p:spPr>
          <a:xfrm>
            <a:off x="548640" y="498348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7F8FC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822960" y="51389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Limite à noter  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822960" y="54406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k=12, les probabilités prédites ne peuvent prendre que des valeurs par paliers de 1/12 (≈8,3 %) : une granularité de confiance nettement plus grossière que la régression logistique ou la random forest.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Modèles supervisés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5" name="Image 0" descr="/home/claude/oncfm_p12/figures/cm_random_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3657600" cy="2743200"/>
          </a:xfrm>
          <a:prstGeom prst="rect">
            <a:avLst/>
          </a:prstGeom>
        </p:spPr>
      </p:pic>
      <p:pic>
        <p:nvPicPr>
          <p:cNvPr id="6" name="Image 1" descr="/home/claude/oncfm_p12/figures/10_rf_importanc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188720"/>
            <a:ext cx="4206240" cy="2743200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0" y="1188720"/>
          <a:ext cx="2743200" cy="237744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</a:tblGrid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Métrique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Valeur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99,5 %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99,25 %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 ROC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8961120" y="37033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Hyperparamètres retenus (GridSearchCV, 5 plis) : 100 arbres, profondeur illimitée, min. 1 échantillon par feuille.</a:t>
            </a:r>
            <a:endParaRPr lang="en-US" sz="1050" dirty="0"/>
          </a:p>
        </p:txBody>
      </p:sp>
      <p:sp>
        <p:nvSpPr>
          <p:cNvPr id="9" name="Shape 4"/>
          <p:cNvSpPr/>
          <p:nvPr/>
        </p:nvSpPr>
        <p:spPr>
          <a:xfrm>
            <a:off x="548640" y="4617720"/>
            <a:ext cx="11064240" cy="1691640"/>
          </a:xfrm>
          <a:prstGeom prst="roundRect">
            <a:avLst>
              <a:gd name="adj" fmla="val 5405"/>
            </a:avLst>
          </a:prstGeom>
          <a:solidFill>
            <a:srgbClr val="F7F8FC"/>
          </a:solidFill>
          <a:ln/>
        </p:spPr>
      </p:sp>
      <p:sp>
        <p:nvSpPr>
          <p:cNvPr id="10" name="Text 5"/>
          <p:cNvSpPr txBox="1"/>
          <p:nvPr/>
        </p:nvSpPr>
        <p:spPr>
          <a:xfrm>
            <a:off x="822960" y="4800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des variables — une troisième confirmation indépendante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822960" y="5138928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(48,6 %) et margin_low (32,2 %) concentrent à elles seules plus de 80 % de l'importance des variables (mesurée par réduction d'impureté de Gini). La convergence de trois méthodes indépendantes (corrélations, coefficients de régression, importances random forest) renforce la confiance dans ce diagnostic.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Comparaison des modèles — jeu de test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Comparaison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5" name="Image 0" descr="/home/claude/oncfm_p12/figures/11_comparaison_mode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6126480" cy="3566160"/>
          </a:xfrm>
          <a:prstGeom prst="rect">
            <a:avLst/>
          </a:prstGeom>
        </p:spPr>
      </p:pic>
      <p:pic>
        <p:nvPicPr>
          <p:cNvPr id="6" name="Image 1" descr="/home/claude/oncfm_p12/figures/12_roc_curv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88720"/>
            <a:ext cx="3566160" cy="35661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93776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7F8FC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822960" y="50749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4 modèles sont tous excellents sur ce split de 300 billets (accuracy ≥ 98,7 %, AUC ≥ 0,999), avec un écart de seulement 2 à 3 erreurs de classification entre le meilleur et le moins bon. Un split unique de cette taille est trop bruité pour départager sérieusement les modèles → on complète par une validation croisée robuste (slide suivante).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Comparaison robuste — validation croisée (10 plis)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Comparaison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5" name="Image 0" descr="/home/claude/oncfm_p12/figures/13_comparaison_cv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760720" cy="3566160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280160"/>
          <a:ext cx="5120640" cy="13716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faux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Régression logistique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99,13 %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99,35 %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98,2 %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99,13 %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99,35 %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98,0 %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99,00 %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99,25 %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97,8 %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492240" y="283464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"Recall faux" = proportion de faux billets correctement détectés — la métrique la plus critique pour l'ONCFM (un faux billet classé "vrai" est l'erreur la plus coûteuse).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6492240" y="3794760"/>
            <a:ext cx="5120640" cy="2743200"/>
          </a:xfrm>
          <a:prstGeom prst="roundRect">
            <a:avLst>
              <a:gd name="adj" fmla="val 3333"/>
            </a:avLst>
          </a:prstGeom>
          <a:solidFill>
            <a:srgbClr val="1E2761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766560" y="39776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Modèle retenu : Régression logistique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6766560" y="443484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•  Performance statistiquement équivalente à la random forest, et meilleure que le KNN sur le recall des faux billets
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•  Modèle interprétable (coefficients explicites) — auditable
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•  Probabilités continues bien calibrées
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•  Simple, rapide, peu de risque de sur-apprentissage sur 1500 billets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L'application de prédiction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Application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 complet (imputation + standardisation + régression logistique) est sauvegardé (joblib) et réutilisé par un script de production autonome.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F7F8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en ligne de commande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60604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predict_billets.py --csv billets_production.csv
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predict_billets.py --diagonal 171.8 \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--height_left 104.9 --height_right 104.9 \</a:t>
            </a:r>
            <a:endParaRPr lang="en-US" sz="11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--margin_low 4.5 --margin_up 2.9 --length 112.8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3434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•  Accepte un CSV multi-billets OU les valeurs d'un billet unique
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•  Impute automatiquement un margin_low manquant
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•  Sortie binaire vrai/faux + probabilité de confirmation
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•  Export CSV optionnel des résultats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5394960" cy="3931920"/>
          </a:xfrm>
          <a:prstGeom prst="roundRect">
            <a:avLst>
              <a:gd name="adj" fmla="val 2326"/>
            </a:avLst>
          </a:prstGeom>
          <a:solidFill>
            <a:srgbClr val="F7F8F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 démonstration (Streamlit)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6492240" y="26060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streamlit run app_streamlit.py
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320040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•  Dépôt d'un fichier CSV avec résultats en tableau coloré (vert/rouge)
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•  Saisie manuelle d'un billet avec jauge de probabilité
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•  Téléchargement des résultats
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33333"/>
                </a:solidFill>
              </a:rPr>
              <a:t>•  Pratique pour la démonstration en direct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5120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Démonstration en direct pendant la soutenance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Synthèse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Conclusion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651052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7F8F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3716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37160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1500 billets nettoyés (imputation de 37 valeurs manquantes par régression linéaire) et explorés : length et margin_low sont les variables les plus discriminantes.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7F8F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56032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méthodes testées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256032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K-means, régression logistique, KNN et random forest atteignent tous une excellente performance (accuracy &gt; 98 %) — les deux classes sont géométriquement très bien séparées.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7F8F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74904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retenu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74904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Régression logistique : performance statistiquement équivalente aux meilleurs modèles, tout en étant interprétable, robuste et simple à maintenir.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8463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7F8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49377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livrée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0" y="493776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 sauvegardé et exploitable via un script CLI et une interface Streamlit, testés avec succès sur le format billets_production.csv.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4114800" cy="41148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6517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703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démonstration en direct de l'application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Rizki Sabah — Data Analyst  ·  Mission ONCFM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2026-10-01T05:57:32Z</dcterms:created>
  <dcterms:modified xsi:type="dcterms:W3CDTF">2026-10-01T05:57:32Z</dcterms:modified>
</cp:coreProperties>
</file>