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6429" autoAdjust="0"/>
  </p:normalViewPr>
  <p:slideViewPr>
    <p:cSldViewPr snapToGrid="0" snapToObjects="1">
      <p:cViewPr varScale="1">
        <p:scale>
          <a:sx n="75" d="100"/>
          <a:sy n="75" d="100"/>
        </p:scale>
        <p:origin x="195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5697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 On nous a </a:t>
            </a:r>
            <a:r>
              <a:rPr lang="en-US" dirty="0" err="1"/>
              <a:t>confié</a:t>
            </a:r>
            <a:r>
              <a:rPr lang="en-US" dirty="0"/>
              <a:t> </a:t>
            </a:r>
            <a:r>
              <a:rPr lang="en-US" dirty="0" err="1"/>
              <a:t>une</a:t>
            </a:r>
            <a:r>
              <a:rPr lang="en-US" dirty="0"/>
              <a:t> question simple à formuler et difficile à trancher : notre production de poulets bio est solide en France, où exporter maintenant ?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contraintes encadraient la mission.
D'abord, la demande de Patrick : des groupes, pas une liste. Si on mise tout sur un pays et qu'une barrière douanière bloque l'implantation, on n'a pas de plan B.
Ensuite, la reproductibilité : tout est dans deux notebooks documentés, on relance quand on veut.
Enfin, la nature du produit, et c'est la contrainte qui a le plus changé mes conclusions. Un poulet bio n'est pas un poulet. Un pays peut manquer de volaille et être incapable de payer la nôtre. Vous verrez qu'elle élimine à elle seule 74 pays.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temps.
Construire : assembler trois sources qui ne se parlent pas — deux bases FAO en français, une base Banque mondiale en anglais.
Analyser : réduire quinze variables à quatre dimensions, puis regrouper les pays qui se ressemblent.
Décider : passer du statistique au commercial.
La construction du jeu de données a représenté l'essentiel du temps.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sources, et aucune directement exploitable.
Les fichiers FAO sont au format empilé : une ligne par pays, croisé avec un produit, croisé avec une mesure. L'Afghanistan occupait plus de mille lignes à lui seul. Il a fallu transformer ça en un tableau où chaque ligne est un pays.
Le chiffre de 39 % mérite une explication, parce qu'il contient un piège. Sur toutes les combinaisons théoriquement possibles, 39 % n'apparaissent pas dans le fichier. Et ce ne sont pas des cases vides, ce sont des lignes absentes. Un logiciel qui compte les valeurs manquantes en trouve zéro et conclut que le fichier est parfait. Il ne l'est pas.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choix des variables n'a pas été intuitif, il a suivi la grille PESTEL, qui force à examiner un marché sous six angles.
J'ai retenu l'inflation pour la stabilité, le PIB par habitant pour le pouvoir d'achat, la population et l'urbanisation pour le social, la production locale pour la capacité industrielle, et le taux d'importation pour l'ouverture commerciale.
Sur l'environnemental, je n'ai rien trouvé d'exploitable dans les sources je ne </a:t>
            </a:r>
            <a:r>
              <a:rPr lang="en-US" dirty="0" err="1"/>
              <a:t>veux</a:t>
            </a:r>
            <a:r>
              <a:rPr lang="en-US" dirty="0"/>
              <a:t> pas </a:t>
            </a:r>
            <a:r>
              <a:rPr lang="en-US" dirty="0" err="1"/>
              <a:t>inventer</a:t>
            </a:r>
            <a:r>
              <a:rPr lang="en-US" dirty="0"/>
              <a:t>.
Sans cette grille, j'aurais produit une carte de la consommation de poulet — intéressante, mais sans valeur décisionnelle, parce que les pays qui en mangent le plus sont souvent ceux qui en produisent le plus.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Aux douze variables tirées des sources, j'en ai ajouté quatre que j'ai construites.
L'exemple du haut explique pourquoi. Si je vous dis qu'un pays importe cinq cent mille tonnes de volaille, vous ne pouvez rien en faire. Si je vous dis qu'il importe 45 % de sa volaille, vous savez que c'est un client.
La première, la dépendance aux importations, est la variable la plus décisive de toute l'étude.
Le taux d'autosuffisance est son miroir : il mesure la barrière à l'entrée.
La croissance démographique nous fait regarder le marché de demain.
Et la part de protéines animales capte une dimension culturelle : un pays riche au régime végétal n'achètera pas notre poulet.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résultat de la phase de construction.
164 pays, 96,3 % de la population mondiale, aucune valeur manquante, dix-neuf variables dont quatre créées. 
Comme </a:t>
            </a:r>
            <a:r>
              <a:rPr lang="en-US" dirty="0" err="1"/>
              <a:t>vous</a:t>
            </a:r>
            <a:r>
              <a:rPr lang="en-US" dirty="0"/>
              <a:t> </a:t>
            </a:r>
            <a:r>
              <a:rPr lang="en-US" dirty="0" err="1"/>
              <a:t>pouvez</a:t>
            </a:r>
            <a:r>
              <a:rPr lang="en-US" dirty="0"/>
              <a:t> le </a:t>
            </a:r>
            <a:r>
              <a:rPr lang="en-US" dirty="0" err="1"/>
              <a:t>voir</a:t>
            </a:r>
            <a:r>
              <a:rPr lang="en-US" dirty="0"/>
              <a:t> dix pays sur 174 ont été écartés. Quatre pour absence pure et simple de données — Bermudes, Brunei, Ouzbékistan, Laos. Et six pour un motif de périmètre : la Corée du Nord, pour laquelle la Banque mondiale ne publie aucun chiffre ; Hong-Kong et Macao, qui ne sont pas des États ; la Nouvelle-Calédonie et la Polynésie, qui sont pour nous du marché intérieur.
Aucune exclusion n'est arbitraire, toutes sont documentées.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avons quinze variables. C'est trop pour raisonner, et surtout beaucoup mesurent la même chose : le PIB, l'urbanisation et la part de viande dans le régime évoluent ensemble. Les garder toutes reviendrait à compter le développement trois fois.
L'analyse en composantes principales combine les variables corrélées en dimensions synthétiques, indépendantes entre elles.
Le graphique : les barres bleu foncé sont les quatre dimensions retenues, la courbe orange cumule l'information conservée. Elle atteint 75 % à la quatrième.
À droite, les trois critères que j'ai appliqués pour décider de ce nombre. Le critère de Kaiser en donne quatre. Le coude de la courbe est visible à l'œil entre la deuxième barre à 20,5 % et la troisième à 9,8 %. Le seuil conventionnel de 70 % est atteint au quatrième axe.
Trois critères indépendants, une seule réponse. Je n'ai pas eu à arbitrer.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graphique demande trente secondes, mais il porte l'essentiel de l'analyse.
Chaque flèche est une variable. Deux flèches dans la même direction sont liées, deux flèches opposées varient en sens inverse.
Le faisceau qui part vers la droite : PIB par habitant, protéines animales, urbanisation, consommation de volaille. Toutes ensemble. À l'opposé, seule, la croissance démographique. C'est la première dimension, le développement du marché. Pour nous, les marchés solvables sont à droite.
Le faisceau vertical : population, production, autosuffisance vers le haut. La dépendance aux importations pointe exactement à l'opposé — je l'ai mise en vert parce que c'est notre variable clé. C'est la deuxième dimension : en haut les producteurs, donc nos concurrents, en bas les importateurs, donc nos clients.
Le point essentiel : les deux faisceaux sont perpendiculaires. La richesse d'un pays et sa capacité à produire sa volaille sont indépendantes. C'est ce qui rend l'analyse utile — sinon il suffirait de regarder le PIB.</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164 pays placés sur ces deux dimensions. Chaque point est un pays, chaque couleur un groupe.
Les repères : vers la droite les pays riches, vers le haut les producteurs, vers le bas les importateurs.
J'ai annoté quelques pays. La Chine et l'Inde tout en haut, énormes producteurs. Les États-Unis et le Brésil en haut à droite : riches et producteurs, donc concurrents. La France dans la même zone.
Et regardez le Koweït, l'Arabie saoudite et l'Irlande : à droite pour la richesse, vers le bas pour la dépendance. C'est exactement le quadrant qui nous intéresse.
Une remarque importante : les couleurs ne recoupent pas les continents. Ces groupes sont économiques, pas géographiques. Le Koweït et la Norvège sont voisins ici alors que tout les sépare sur une carte.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former les groupes, j'ai utilisé deux méthodes différentes, volontairement.
La première, la classification hiérarchique, part de 164 pays isolés et les regroupe deux par deux. Le graphique est l'historique de ces regroupements : plus une branche est haute, plus les groupes fusionnés étaient différents. La ligne rouge est l'endroit où j'ai coupé. Son avantage : elle ne présuppose pas le nombre de groupes, l'arbre le suggère.
La seconde, le k-means, fonctionne à l'envers : on lui dit combien de groupes on veut et il corrige à chaque tour. Son avantage : la première méthode ne revient jamais sur une fusion, celle-ci peut se corriger.
Sur le nombre de groupes, je veux être transparente : les critères statistiques indiquaient une plage de trois à six, ils ne tranchaient pas. J'ai retenu quatre en ajoutant un critère opérationnel — c'est un nombre de segments sur lequel un comité peut réellement arbitrer. Douze groupes seraient plus précis mathématiquement et inutilisables pour vous.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pourquoi deux méthodes plutôt qu'une.
82,9 % des pays sont classés dans le même groupe par les deux algorithmes. L'indice de concordance vaut 0,63, ce qu'on qualifie d'accord substantiel.
C'est le résultat que je cherchais. Deux algorithmes de principes complètement différents trouvent les mêmes groupes : ces groupes existent donc réellement dans les données, ce ne sont pas le produit d'une méthode. S'ils avaient divergé, j'aurais dû tout remettre en question.
Le troisième chiffre est le plus utile : 28 pays sont classés différemment. Ce sont les pays situés à la frontière entre deux groupes, dont l'appartenance est fragile. Si l'un d'eux remontait dans nos recommandations, je vous dirais de le réexaminer. Aucun ne figure dans le trio que je vais proposer.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quatre groupes, avec mon verdict commercial pour chacun.
Le groupe 1, les émergents autosuffisants : 52 pays, 3,4 milliards d'habitants — l'Inde, l'Indonésie, le Nigéria. Un réservoir immense, mais 2 416 dollars de PIB par habitant et 11 % d'importations seulement : ils produisent leur volaille. Pas une cible pour du bio aujourd'hui.
Le groupe 2, les puissances productives : la Chine, les États-Unis, le Brésil, l'Allemagne, la France. Riches et gros consommateurs, mais leur autosuffisance dépasse 100 % : ils produisent plus qu'ils ne consomment. Ce sont nos concurrents, avec quelques exceptions individuelles.
Le groupe 3, en vert, est celui qui nous intéresse : la consommation de volaille la plus élevée des quatre — 33 kilos par habitant — un pouvoir d'achat correct et 57 % d'importations. C'est le profil du client idéal. Sa limite : 64 millions d'habitants au total, moins que la France. Il faut donc sélectionner à l'intérieur.
Le groupe 4 : très dépendants des importations, donc accessibles, mais 3 429 dollars de PIB. Non solvables pour un produit premium.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vous ne retenez qu'une slide, c'est celle-ci.
Les deux dimensions se croisent et donnent quatre cases. En colonnes, la capacité à produire. En lignes, le pouvoir d'achat.
En haut à gauche, riches et producteurs : nos concurrents. En bas à gauche, pauvres et producteurs : marchés de demain. En bas à droite, pauvres et dépendants : ils ont besoin d'importer mais ne peuvent pas payer du bio.
Et en haut à droite, encadré en vert : riches et dépendants des importations. C'est la seule case qui contient des clients.
Il faut les deux conditions à la fois. Un pays riche qui produit sa volaille ne nous achètera rien ; un pays qui importe tout mais n'a pas les moyens non plus. C'est la synthèse de toute l'étude.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passe maintenant du statistique au commercial. Quatre filtres.
Le premier est le plus sélectif : 74 pays ont moins de 5 000 dollars de PIB par habitant. Ce seuil est une hypothèse commerciale que je soumets à votre validation. Si vous le jugez trop élevé ou trop bas, on le change et on relance.
Le deuxième écarte 53 pays qui importent moins de 10 % de leur volaille : la barrière à l'entrée est trop haute.
Le troisième écarte 24 pays de moins d'un million d'habitants.
Le quatrième est plus subtil : 15 pays importent plus de volaille qu'ils n'en consomment. Ce sont des plateformes logistiques. Les Pays-Bas importent 608 000 tonnes et en exportent 1,4 million : Rotterdam redistribue vers toute l'Europe. Vendre là, c'est vendre à un intermédiaire.
Un point important : ces 140 pays ne sont pas supprimés, ils restent dans les groupes. Un pays écarté aujourd'hui peut devenir une cible dans dix ans.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classement des 24 pays éligibles, les douze premiers affichés.
À droite, le mode de calcul, et je veux être transparente. Le score combine six critères pondérés. La dépendance aux importations pèse le plus, 30 %, parce que c'est la condition d'accès. Puis la consommation et le PIB à 20 % chacun.
Ces pondérations sont mon choix d'analyste, pas un résultat des données. C'est écrit en rouge parce que c'est là que j'attends votre arbitrage. Si vous estimez que la taille du marché doit primer sur la dépendance, on change les poids et le classement bouge.
Le trio de tête est en rouge : le Koweït domine avec 70,6 points, devant l'Irlande à 61,1 et l'Arabie saoudite à 60,8.
Je note la présence surprenante du Gabon en quatrième : petit marché de 2 millions d'habitants, mais 97 % d'importations et une consommation élevée. À examiner séparément.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recommandation porte sur trois pays, relevant de deux logiques que je propose de mener en parallèle.
La logique du Golfe, avec le Koweït et l'Arabie saoudite. Des pays riches, où l'on consomme 43 à 46 kilos de volaille par habitant contre 20 en moyenne mondiale. Leur dépendance aux importations est structurelle et durable : on ne fait pas d'élevage intensif dans le désert. Et leur démographie est très dynamique.
Le Koweït est mon premier choix. L'Arabie saoudite offre un volume dix fois supérieur, 33 millions d'habitants.
La logique européenne, avec l'Irlande. Marché mature, 72 000 dollars de PIB par habitant, 77 % d'importations, aucune barrière douanière ni logistique complexe depuis la France. Ticket d'entrée faible, risque faible.
Une nuance honnête sur le Koweït, découverte en analysant la démographie : sa croissance de 38 % n'est pas de la natalité, c'est de l'immigration de main-d'œuvre. Le potentiel est réel, mais le segment de clientèle n'est pas celui qu'on imagine spontanément.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Concrètement, voici ce que je propose.
À court terme, deux actions en parallèle. Un test commercial en Irlande, parce que c'est le marché le plus simple : pas de douane, pas de logistique lourde. On peut y aller vite et à faible coût.
Et en parallèle, une étude terrain sur le Koweït. Pas un engagement — une étude. Il faut vérifier trois choses que les données ne disent pas : les circuits de distribution, la reconnaissance du label bio français, et les contraintes de chaîne du froid.
À moyen terme, si les tests sont concluants : l'Arabie saoudite pour le volume, et l'Europe centrale — l'Autriche, l'Allemagne et le Royaume-Uni suivent au classement.
À écarter clairement : les grands marchés riches mais autosuffisants. Les États-Unis, le Brésil, Israël, l'Australie. Ils consomment beaucoup de poulet mais produisent tout. Ce n'est pas une question de prix.
Les données quantitatives nous ont amenés de 174 pays à 3. Pour aller plus loin, il faut du terrain.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termine par ce que cette étude ne dit pas. Je préfère vous le présenter moi-même.
Les données datent de 2017 : c'est la dernière année complète publiée par la FAO. L'analyse est une photographie, pas une tendance.
Deuxième limite, la plus importante commercialement : ni droits de douane, ni accords commerciaux, ni normes sanitaires, ni reconnaissance du label bio. Ces éléments peuvent être bloquants — la certification bio européenne n'est pas reconnue partout.
Troisième : les coûts logistiques ne sont pas chiffrés. Exporter du poulet réfrigéré vers le Golfe pose des contraintes réelles de chaîne du froid.
Quatrième, méthodologique : les quatre groupes ne sont pas des catégories étanches. Le développement économique est un dégradé. Nos groupes sont un découpage utile pour décider, pas une vérité de la nature.
Aucune de ces limites n'invalide la recommandation. Toutes doivent être levées avant l'engagement.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résumé, en quatre chiffres.
De 174 pays, j'en ai retenu 164, couvrant 96 % de la population mondiale, sans aucune donnée manquante.
De quinze variables, je suis passée à quatre dimensions conservant 75 % de l'information.
Ces 164 pays forment quatre groupes, validés par deux méthodes indépendantes qui s'accordent à 83 %.
Et après filtres commerciaux, 24 marchés accessibles dont 3 recommandés : le Koweït, l'Irlande et l'Arabie saoudite.
Toute la démarche tient dans deux notebooks documentés : on relance quand les données 2025 seront disponibles.
Deux points appellent votre arbitrage, et ce sont des décisions de direction, pas d'analyste. Le seuil de pouvoir d'achat à 5 000 dollars, qui écarte 74 pays à lui seul. Et les pondérations du score, qui privilégient l'accessibilité sur le volume. Dans les deux cas, le recalcul prend quelques secondes.
Je suis à votre disposition.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transition, à ne pas afficher pendant la présentation. Les quatre slides suivantes servent à répondre aux questions sans improviser.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à montrer si on m'interroge sur le traitement des données manquantes]
Rien n'a été corrigé en douce. Quand une ligne manque dans le fichier FAO, ça ne veut pas dire que la donnée est inconnue : le flux est nul. Un pays sans ligne « exportations » n'exporte pas. Je les ai donc mis à zéro plutôt que remplacés par une moyenne qui aurait inventé des exportations fictives.
Le cas du Soudan illustre la méthode : il n'avait pas de population 2010, la sécession du Soudan du Sud ayant coupé la série. Plutôt que la moyenne africaine, j'ai retrouvé la donnée sous l'ancien libellé et je l'ai répartie entre les deux États. Résultat cohérent et vérifiable.
Et je n'ai supprimé aucun pays parce qu'il était atypique : la Chine est réellement un géant, ce n'est pas une erreur de saisie.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à montrer si on me demande d'expliquer l'ACP plus lentement]
Quinze variables, c'est trop pour raisonner, et beaucoup mesurent la même chose. Trois variables qui mesurent la richesse comptent la richesse trois fois.
L'analyse en composantes principales repère les variables qui varient ensemble et les combine en dimensions synthétiques indépendantes. Quatre dimensions conservent 75 % de l'information de départ.
On perd un quart, mais on élimine la redondance et on rend l'analyse visualisable.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à montrer si on me demande pourquoi ces méthodes et pas d'autres]
J'ai testé sept familles d'algorithmes sur exactement les mêmes données.
Mes deux méthodes sont en rouge. Certaines barres grises ont une meilleure note de qualité — mais le deuxième panneau montre pourquoi : elles isolent un seul pays. Statistiquement excellent, commercialement absurde. Une méthode place même 161 pays sur 164 dans le même groupe.
Le troisième panneau est le plus intéressant. DBSCAN, qui cherche des zones denses séparées par du vide, laisse 70 pays sans classement. Ce n'est pas un défaut de l'algorithme, c'est une information sur le monde : il n'y a pas de frontière naturelle entre pays riches et pays pauvres, il y a un dégradé continu.</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[ANNEXE — à montrer si on me demande de détailler les profils de groupes]
Chaque colonne est un groupe, chaque ligne une variable. Rouge = nettement au-dessus de la moyenne mondiale, bleu = nettement en dessous.
Lisez la colonne du groupe 3 : PIB au-dessus, consommation de volaille au-dessus, dépendance aux importations au-dessus, autosuffisance en dessous. Exactement la combinaison recherchée.
Le groupe 2 a le même profil de richesse, mais son autosuffisance est au-dessus : ils produisent.
Le groupe 4 a une dépendance très élevée et un PIB très bas : accessible et insolvable.
Une seule colonne combine les bons signaux.</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640080" y="2148840"/>
            <a:ext cx="10881360" cy="457200"/>
          </a:xfrm>
          <a:prstGeom prst="rect">
            <a:avLst/>
          </a:prstGeom>
          <a:noFill/>
          <a:ln/>
        </p:spPr>
        <p:txBody>
          <a:bodyPr wrap="square" lIns="0" tIns="0" rIns="0" bIns="0" rtlCol="0" anchor="ctr"/>
          <a:lstStyle/>
          <a:p>
            <a:pPr marL="0" indent="0">
              <a:buNone/>
            </a:pPr>
            <a:r>
              <a:rPr lang="en-US" sz="1600" kern="0" spc="300" dirty="0">
                <a:solidFill>
                  <a:srgbClr val="CADCFC"/>
                </a:solidFill>
                <a:latin typeface="Calibri" pitchFamily="34" charset="0"/>
                <a:ea typeface="Calibri" pitchFamily="34" charset="-122"/>
                <a:cs typeface="Calibri" pitchFamily="34" charset="-120"/>
              </a:rPr>
              <a:t>ÉTUDE DE MARCHÉ INTERNATIONALE</a:t>
            </a:r>
            <a:endParaRPr lang="en-US" sz="1600" dirty="0"/>
          </a:p>
        </p:txBody>
      </p:sp>
      <p:sp>
        <p:nvSpPr>
          <p:cNvPr id="3" name="Text 1"/>
          <p:cNvSpPr txBox="1"/>
          <p:nvPr/>
        </p:nvSpPr>
        <p:spPr>
          <a:xfrm>
            <a:off x="640080" y="2606040"/>
            <a:ext cx="10881360" cy="1097280"/>
          </a:xfrm>
          <a:prstGeom prst="rect">
            <a:avLst/>
          </a:prstGeom>
          <a:noFill/>
          <a:ln/>
        </p:spPr>
        <p:txBody>
          <a:bodyPr wrap="square" lIns="0" tIns="0" rIns="0" bIns="0"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Où exporter nos poulets bio ?</a:t>
            </a:r>
            <a:endParaRPr lang="en-US" sz="4600" dirty="0"/>
          </a:p>
        </p:txBody>
      </p:sp>
      <p:sp>
        <p:nvSpPr>
          <p:cNvPr id="4" name="Text 2"/>
          <p:cNvSpPr txBox="1"/>
          <p:nvPr/>
        </p:nvSpPr>
        <p:spPr>
          <a:xfrm>
            <a:off x="640080" y="3794760"/>
            <a:ext cx="10881360" cy="457200"/>
          </a:xfrm>
          <a:prstGeom prst="rect">
            <a:avLst/>
          </a:prstGeom>
          <a:noFill/>
          <a:ln/>
        </p:spPr>
        <p:txBody>
          <a:bodyPr wrap="square" lIns="0" tIns="0" rIns="0" bIns="0" rtlCol="0" anchor="ctr"/>
          <a:lstStyle/>
          <a:p>
            <a:pPr marL="0" indent="0">
              <a:buNone/>
            </a:pPr>
            <a:r>
              <a:rPr lang="en-US" sz="1700" dirty="0">
                <a:solidFill>
                  <a:srgbClr val="CADCFC"/>
                </a:solidFill>
                <a:latin typeface="Calibri" pitchFamily="34" charset="0"/>
                <a:ea typeface="Calibri" pitchFamily="34" charset="-122"/>
                <a:cs typeface="Calibri" pitchFamily="34" charset="-120"/>
              </a:rPr>
              <a:t>164 pays analysés · 4 groupes identifiés · 3 marchés recommandés</a:t>
            </a:r>
            <a:endParaRPr lang="en-US" sz="1700" dirty="0"/>
          </a:p>
        </p:txBody>
      </p:sp>
      <p:sp>
        <p:nvSpPr>
          <p:cNvPr id="5" name="Shape 3"/>
          <p:cNvSpPr/>
          <p:nvPr/>
        </p:nvSpPr>
        <p:spPr>
          <a:xfrm>
            <a:off x="640080" y="4434840"/>
            <a:ext cx="2194560" cy="0"/>
          </a:xfrm>
          <a:prstGeom prst="line">
            <a:avLst/>
          </a:prstGeom>
          <a:noFill/>
          <a:ln w="38100">
            <a:solidFill>
              <a:srgbClr val="E07A3F"/>
            </a:solidFill>
            <a:prstDash val="solid"/>
          </a:ln>
        </p:spPr>
      </p:sp>
      <p:sp>
        <p:nvSpPr>
          <p:cNvPr id="6" name="Text 4"/>
          <p:cNvSpPr txBox="1"/>
          <p:nvPr/>
        </p:nvSpPr>
        <p:spPr>
          <a:xfrm>
            <a:off x="640080" y="4709160"/>
            <a:ext cx="10881360" cy="365760"/>
          </a:xfrm>
          <a:prstGeom prst="rect">
            <a:avLst/>
          </a:prstGeom>
          <a:noFill/>
          <a:ln/>
        </p:spPr>
        <p:txBody>
          <a:bodyPr wrap="square" lIns="0" tIns="0" rIns="0" bIns="0" rtlCol="0" anchor="ctr"/>
          <a:lstStyle/>
          <a:p>
            <a:pPr marL="0" indent="0">
              <a:buNone/>
            </a:pPr>
            <a:r>
              <a:rPr lang="en-US" sz="1250" dirty="0">
                <a:solidFill>
                  <a:srgbClr val="9FB0D0"/>
                </a:solidFill>
                <a:latin typeface="Calibri" pitchFamily="34" charset="0"/>
                <a:ea typeface="Calibri" pitchFamily="34" charset="-122"/>
                <a:cs typeface="Calibri" pitchFamily="34" charset="-120"/>
              </a:rPr>
              <a:t>La poule qui chante  ·  Comité de direction  ·  Sabah Rizki</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731520"/>
          </a:xfrm>
          <a:prstGeom prst="rect">
            <a:avLst/>
          </a:prstGeom>
          <a:noFill/>
          <a:ln/>
        </p:spPr>
        <p:txBody>
          <a:bodyPr wrap="square" lIns="0" tIns="0" rIns="0" bIns="0" rtlCol="0" anchor="ctr"/>
          <a:lstStyle/>
          <a:p>
            <a:pPr marL="0" indent="0" algn="l">
              <a:buNone/>
            </a:pPr>
            <a:r>
              <a:rPr lang="en-US" sz="3000" b="1" dirty="0">
                <a:solidFill>
                  <a:srgbClr val="1E2761"/>
                </a:solidFill>
                <a:latin typeface="Calibri" pitchFamily="34" charset="0"/>
                <a:ea typeface="Calibri" pitchFamily="34" charset="-122"/>
                <a:cs typeface="Calibri" pitchFamily="34" charset="-120"/>
              </a:rPr>
              <a:t>La question posée</a:t>
            </a:r>
            <a:endParaRPr lang="en-US" sz="3000" dirty="0"/>
          </a:p>
        </p:txBody>
      </p:sp>
      <p:sp>
        <p:nvSpPr>
          <p:cNvPr id="3" name="Text 1"/>
          <p:cNvSpPr txBox="1"/>
          <p:nvPr/>
        </p:nvSpPr>
        <p:spPr>
          <a:xfrm>
            <a:off x="640080" y="1078992"/>
            <a:ext cx="10881360" cy="41148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Trois contraintes fixées par la direction</a:t>
            </a:r>
            <a:endParaRPr lang="en-US" sz="1400" dirty="0"/>
          </a:p>
        </p:txBody>
      </p:sp>
      <p:sp>
        <p:nvSpPr>
          <p:cNvPr id="4" name="Shape 2"/>
          <p:cNvSpPr/>
          <p:nvPr/>
        </p:nvSpPr>
        <p:spPr>
          <a:xfrm>
            <a:off x="640080" y="1783080"/>
            <a:ext cx="10881360" cy="1188720"/>
          </a:xfrm>
          <a:prstGeom prst="roundRect">
            <a:avLst>
              <a:gd name="adj" fmla="val 4615"/>
            </a:avLst>
          </a:prstGeom>
          <a:solidFill>
            <a:srgbClr val="EEF1F5"/>
          </a:solidFill>
          <a:ln w="12700">
            <a:solidFill>
              <a:srgbClr val="EEF1F5"/>
            </a:solidFill>
            <a:prstDash val="solid"/>
          </a:ln>
        </p:spPr>
      </p:sp>
      <p:sp>
        <p:nvSpPr>
          <p:cNvPr id="5" name="Shape 3"/>
          <p:cNvSpPr/>
          <p:nvPr/>
        </p:nvSpPr>
        <p:spPr>
          <a:xfrm>
            <a:off x="960120" y="2103120"/>
            <a:ext cx="548640" cy="548640"/>
          </a:xfrm>
          <a:prstGeom prst="ellipse">
            <a:avLst/>
          </a:prstGeom>
          <a:solidFill>
            <a:srgbClr val="1E2761"/>
          </a:solidFill>
          <a:ln w="12700">
            <a:solidFill>
              <a:srgbClr val="1E2761"/>
            </a:solidFill>
            <a:prstDash val="solid"/>
          </a:ln>
        </p:spPr>
      </p:sp>
      <p:sp>
        <p:nvSpPr>
          <p:cNvPr id="6" name="Text 4"/>
          <p:cNvSpPr txBox="1"/>
          <p:nvPr/>
        </p:nvSpPr>
        <p:spPr>
          <a:xfrm>
            <a:off x="960120" y="2185416"/>
            <a:ext cx="54864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737360" y="1984248"/>
            <a:ext cx="9418320" cy="365760"/>
          </a:xfrm>
          <a:prstGeom prst="rect">
            <a:avLst/>
          </a:prstGeom>
          <a:noFill/>
          <a:ln/>
        </p:spPr>
        <p:txBody>
          <a:bodyPr wrap="square" lIns="0" tIns="0" rIns="0" bIns="0"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Des groupes, pas une liste</a:t>
            </a:r>
            <a:endParaRPr lang="en-US" sz="1700" dirty="0"/>
          </a:p>
        </p:txBody>
      </p:sp>
      <p:sp>
        <p:nvSpPr>
          <p:cNvPr id="8" name="Text 6"/>
          <p:cNvSpPr txBox="1"/>
          <p:nvPr/>
        </p:nvSpPr>
        <p:spPr>
          <a:xfrm>
            <a:off x="1737360" y="2350008"/>
            <a:ext cx="9418320" cy="457200"/>
          </a:xfrm>
          <a:prstGeom prst="rect">
            <a:avLst/>
          </a:prstGeom>
          <a:noFill/>
          <a:ln/>
        </p:spPr>
        <p:txBody>
          <a:bodyPr wrap="square" lIns="0" tIns="0" rIns="0" bIns="0" rtlCol="0" anchor="ctr"/>
          <a:lstStyle/>
          <a:p>
            <a:pPr marL="0" indent="0">
              <a:buNone/>
            </a:pPr>
            <a:r>
              <a:rPr lang="en-US" sz="1300" dirty="0">
                <a:solidFill>
                  <a:srgbClr val="5A6472"/>
                </a:solidFill>
                <a:latin typeface="Calibri" pitchFamily="34" charset="0"/>
                <a:ea typeface="Calibri" pitchFamily="34" charset="-122"/>
                <a:cs typeface="Calibri" pitchFamily="34" charset="-120"/>
              </a:rPr>
              <a:t>Identifier des ensembles de pays au profil homogène, pour déployer par vagues plutôt que pari unique.</a:t>
            </a:r>
            <a:endParaRPr lang="en-US" sz="1300" dirty="0"/>
          </a:p>
        </p:txBody>
      </p:sp>
      <p:sp>
        <p:nvSpPr>
          <p:cNvPr id="9" name="Shape 7"/>
          <p:cNvSpPr/>
          <p:nvPr/>
        </p:nvSpPr>
        <p:spPr>
          <a:xfrm>
            <a:off x="640080" y="3200400"/>
            <a:ext cx="10881360" cy="1188720"/>
          </a:xfrm>
          <a:prstGeom prst="roundRect">
            <a:avLst>
              <a:gd name="adj" fmla="val 4615"/>
            </a:avLst>
          </a:prstGeom>
          <a:solidFill>
            <a:srgbClr val="EEF1F5"/>
          </a:solidFill>
          <a:ln w="12700">
            <a:solidFill>
              <a:srgbClr val="EEF1F5"/>
            </a:solidFill>
            <a:prstDash val="solid"/>
          </a:ln>
        </p:spPr>
      </p:sp>
      <p:sp>
        <p:nvSpPr>
          <p:cNvPr id="10" name="Shape 8"/>
          <p:cNvSpPr/>
          <p:nvPr/>
        </p:nvSpPr>
        <p:spPr>
          <a:xfrm>
            <a:off x="960120" y="3520440"/>
            <a:ext cx="548640" cy="548640"/>
          </a:xfrm>
          <a:prstGeom prst="ellipse">
            <a:avLst/>
          </a:prstGeom>
          <a:solidFill>
            <a:srgbClr val="1E2761"/>
          </a:solidFill>
          <a:ln w="12700">
            <a:solidFill>
              <a:srgbClr val="1E2761"/>
            </a:solidFill>
            <a:prstDash val="solid"/>
          </a:ln>
        </p:spPr>
      </p:sp>
      <p:sp>
        <p:nvSpPr>
          <p:cNvPr id="11" name="Text 9"/>
          <p:cNvSpPr txBox="1"/>
          <p:nvPr/>
        </p:nvSpPr>
        <p:spPr>
          <a:xfrm>
            <a:off x="960120" y="3602736"/>
            <a:ext cx="54864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txBox="1"/>
          <p:nvPr/>
        </p:nvSpPr>
        <p:spPr>
          <a:xfrm>
            <a:off x="1737360" y="3401568"/>
            <a:ext cx="9418320" cy="365760"/>
          </a:xfrm>
          <a:prstGeom prst="rect">
            <a:avLst/>
          </a:prstGeom>
          <a:noFill/>
          <a:ln/>
        </p:spPr>
        <p:txBody>
          <a:bodyPr wrap="square" lIns="0" tIns="0" rIns="0" bIns="0"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Une méthode reproductible</a:t>
            </a:r>
            <a:endParaRPr lang="en-US" sz="1700" dirty="0"/>
          </a:p>
        </p:txBody>
      </p:sp>
      <p:sp>
        <p:nvSpPr>
          <p:cNvPr id="13" name="Text 11"/>
          <p:cNvSpPr txBox="1"/>
          <p:nvPr/>
        </p:nvSpPr>
        <p:spPr>
          <a:xfrm>
            <a:off x="1737360" y="3767328"/>
            <a:ext cx="9418320" cy="457200"/>
          </a:xfrm>
          <a:prstGeom prst="rect">
            <a:avLst/>
          </a:prstGeom>
          <a:noFill/>
          <a:ln/>
        </p:spPr>
        <p:txBody>
          <a:bodyPr wrap="square" lIns="0" tIns="0" rIns="0" bIns="0" rtlCol="0" anchor="ctr"/>
          <a:lstStyle/>
          <a:p>
            <a:pPr marL="0" indent="0">
              <a:buNone/>
            </a:pPr>
            <a:r>
              <a:rPr lang="en-US" sz="1300" dirty="0">
                <a:solidFill>
                  <a:srgbClr val="5A6472"/>
                </a:solidFill>
                <a:latin typeface="Calibri" pitchFamily="34" charset="0"/>
                <a:ea typeface="Calibri" pitchFamily="34" charset="-122"/>
                <a:cs typeface="Calibri" pitchFamily="34" charset="-120"/>
              </a:rPr>
              <a:t>Relancer l'analyse dans deux ans avec des données actualisées, sans tout refaire.</a:t>
            </a:r>
            <a:endParaRPr lang="en-US" sz="1300" dirty="0"/>
          </a:p>
        </p:txBody>
      </p:sp>
      <p:sp>
        <p:nvSpPr>
          <p:cNvPr id="14" name="Shape 12"/>
          <p:cNvSpPr/>
          <p:nvPr/>
        </p:nvSpPr>
        <p:spPr>
          <a:xfrm>
            <a:off x="640080" y="4617720"/>
            <a:ext cx="10881360" cy="1188720"/>
          </a:xfrm>
          <a:prstGeom prst="roundRect">
            <a:avLst>
              <a:gd name="adj" fmla="val 4615"/>
            </a:avLst>
          </a:prstGeom>
          <a:solidFill>
            <a:srgbClr val="EEF1F5"/>
          </a:solidFill>
          <a:ln w="12700">
            <a:solidFill>
              <a:srgbClr val="EEF1F5"/>
            </a:solidFill>
            <a:prstDash val="solid"/>
          </a:ln>
        </p:spPr>
      </p:sp>
      <p:sp>
        <p:nvSpPr>
          <p:cNvPr id="15" name="Shape 13"/>
          <p:cNvSpPr/>
          <p:nvPr/>
        </p:nvSpPr>
        <p:spPr>
          <a:xfrm>
            <a:off x="960120" y="4937760"/>
            <a:ext cx="548640" cy="548640"/>
          </a:xfrm>
          <a:prstGeom prst="ellipse">
            <a:avLst/>
          </a:prstGeom>
          <a:solidFill>
            <a:srgbClr val="1E2761"/>
          </a:solidFill>
          <a:ln w="12700">
            <a:solidFill>
              <a:srgbClr val="1E2761"/>
            </a:solidFill>
            <a:prstDash val="solid"/>
          </a:ln>
        </p:spPr>
      </p:sp>
      <p:sp>
        <p:nvSpPr>
          <p:cNvPr id="16" name="Text 14"/>
          <p:cNvSpPr txBox="1"/>
          <p:nvPr/>
        </p:nvSpPr>
        <p:spPr>
          <a:xfrm>
            <a:off x="960120" y="5020056"/>
            <a:ext cx="54864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txBox="1"/>
          <p:nvPr/>
        </p:nvSpPr>
        <p:spPr>
          <a:xfrm>
            <a:off x="1737360" y="4818888"/>
            <a:ext cx="9418320" cy="365760"/>
          </a:xfrm>
          <a:prstGeom prst="rect">
            <a:avLst/>
          </a:prstGeom>
          <a:noFill/>
          <a:ln/>
        </p:spPr>
        <p:txBody>
          <a:bodyPr wrap="square" lIns="0" tIns="0" rIns="0" bIns="0"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Un produit premium</a:t>
            </a:r>
            <a:endParaRPr lang="en-US" sz="1700" dirty="0"/>
          </a:p>
        </p:txBody>
      </p:sp>
      <p:sp>
        <p:nvSpPr>
          <p:cNvPr id="18" name="Text 16"/>
          <p:cNvSpPr txBox="1"/>
          <p:nvPr/>
        </p:nvSpPr>
        <p:spPr>
          <a:xfrm>
            <a:off x="1737360" y="5184648"/>
            <a:ext cx="9418320" cy="457200"/>
          </a:xfrm>
          <a:prstGeom prst="rect">
            <a:avLst/>
          </a:prstGeom>
          <a:noFill/>
          <a:ln/>
        </p:spPr>
        <p:txBody>
          <a:bodyPr wrap="square" lIns="0" tIns="0" rIns="0" bIns="0" rtlCol="0" anchor="ctr"/>
          <a:lstStyle/>
          <a:p>
            <a:pPr marL="0" indent="0">
              <a:buNone/>
            </a:pPr>
            <a:r>
              <a:rPr lang="en-US" sz="1300" dirty="0">
                <a:solidFill>
                  <a:srgbClr val="5A6472"/>
                </a:solidFill>
                <a:latin typeface="Calibri" pitchFamily="34" charset="0"/>
                <a:ea typeface="Calibri" pitchFamily="34" charset="-122"/>
                <a:cs typeface="Calibri" pitchFamily="34" charset="-120"/>
              </a:rPr>
              <a:t>Le bio impose un surcoût. Le marché doit être solvable, pas seulement demandeur.</a:t>
            </a:r>
            <a:endParaRPr lang="en-US" sz="1300" dirty="0"/>
          </a:p>
        </p:txBody>
      </p:sp>
      <p:sp>
        <p:nvSpPr>
          <p:cNvPr id="20" name="Text 17"/>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A8B0B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731520"/>
          </a:xfrm>
          <a:prstGeom prst="rect">
            <a:avLst/>
          </a:prstGeom>
          <a:noFill/>
          <a:ln/>
        </p:spPr>
        <p:txBody>
          <a:bodyPr wrap="square" lIns="0" tIns="0" rIns="0" bIns="0" rtlCol="0" anchor="ctr"/>
          <a:lstStyle/>
          <a:p>
            <a:pPr marL="0" indent="0" algn="l">
              <a:buNone/>
            </a:pPr>
            <a:r>
              <a:rPr lang="en-US" sz="3000" b="1" dirty="0">
                <a:solidFill>
                  <a:srgbClr val="1E2761"/>
                </a:solidFill>
                <a:latin typeface="Calibri" pitchFamily="34" charset="0"/>
                <a:ea typeface="Calibri" pitchFamily="34" charset="-122"/>
                <a:cs typeface="Calibri" pitchFamily="34" charset="-120"/>
              </a:rPr>
              <a:t>La démarche en trois temps</a:t>
            </a:r>
            <a:endParaRPr lang="en-US" sz="3000" dirty="0"/>
          </a:p>
        </p:txBody>
      </p:sp>
      <p:sp>
        <p:nvSpPr>
          <p:cNvPr id="3" name="Shape 1"/>
          <p:cNvSpPr/>
          <p:nvPr/>
        </p:nvSpPr>
        <p:spPr>
          <a:xfrm>
            <a:off x="640080" y="1828800"/>
            <a:ext cx="3429000" cy="3200400"/>
          </a:xfrm>
          <a:prstGeom prst="roundRect">
            <a:avLst>
              <a:gd name="adj" fmla="val 1714"/>
            </a:avLst>
          </a:prstGeom>
          <a:solidFill>
            <a:srgbClr val="EEF1F5"/>
          </a:solidFill>
          <a:ln w="12700">
            <a:solidFill>
              <a:srgbClr val="EEF1F5"/>
            </a:solidFill>
            <a:prstDash val="solid"/>
          </a:ln>
        </p:spPr>
      </p:sp>
      <p:sp>
        <p:nvSpPr>
          <p:cNvPr id="4" name="Text 2"/>
          <p:cNvSpPr txBox="1"/>
          <p:nvPr/>
        </p:nvSpPr>
        <p:spPr>
          <a:xfrm>
            <a:off x="640080" y="2057400"/>
            <a:ext cx="3429000" cy="914400"/>
          </a:xfrm>
          <a:prstGeom prst="rect">
            <a:avLst/>
          </a:prstGeom>
          <a:noFill/>
          <a:ln/>
        </p:spPr>
        <p:txBody>
          <a:bodyPr wrap="square" lIns="0" tIns="0" rIns="0" bIns="0" rtlCol="0" anchor="ctr"/>
          <a:lstStyle/>
          <a:p>
            <a:pPr marL="0" indent="0" algn="ctr">
              <a:buNone/>
            </a:pPr>
            <a:r>
              <a:rPr lang="en-US" sz="5400" b="1" dirty="0">
                <a:solidFill>
                  <a:srgbClr val="1E2761"/>
                </a:solidFill>
                <a:latin typeface="Calibri" pitchFamily="34" charset="0"/>
                <a:ea typeface="Calibri" pitchFamily="34" charset="-122"/>
                <a:cs typeface="Calibri" pitchFamily="34" charset="-120"/>
              </a:rPr>
              <a:t>1</a:t>
            </a:r>
            <a:endParaRPr lang="en-US" sz="5400" dirty="0"/>
          </a:p>
        </p:txBody>
      </p:sp>
      <p:sp>
        <p:nvSpPr>
          <p:cNvPr id="5" name="Text 3"/>
          <p:cNvSpPr txBox="1"/>
          <p:nvPr/>
        </p:nvSpPr>
        <p:spPr>
          <a:xfrm>
            <a:off x="640080" y="3063240"/>
            <a:ext cx="3429000" cy="457200"/>
          </a:xfrm>
          <a:prstGeom prst="rect">
            <a:avLst/>
          </a:prstGeom>
          <a:noFill/>
          <a:ln/>
        </p:spPr>
        <p:txBody>
          <a:bodyPr wrap="square" lIns="0" tIns="0" rIns="0" bIns="0" rtlCol="0" anchor="ctr"/>
          <a:lstStyle/>
          <a:p>
            <a:pPr marL="0" indent="0" algn="ctr">
              <a:buNone/>
            </a:pPr>
            <a:r>
              <a:rPr lang="en-US" sz="2100" b="1" dirty="0">
                <a:solidFill>
                  <a:srgbClr val="1E2761"/>
                </a:solidFill>
                <a:latin typeface="Calibri" pitchFamily="34" charset="0"/>
                <a:ea typeface="Calibri" pitchFamily="34" charset="-122"/>
                <a:cs typeface="Calibri" pitchFamily="34" charset="-120"/>
              </a:rPr>
              <a:t>Construire</a:t>
            </a:r>
            <a:endParaRPr lang="en-US" sz="2100" dirty="0"/>
          </a:p>
        </p:txBody>
      </p:sp>
      <p:sp>
        <p:nvSpPr>
          <p:cNvPr id="6" name="Text 4"/>
          <p:cNvSpPr txBox="1"/>
          <p:nvPr/>
        </p:nvSpPr>
        <p:spPr>
          <a:xfrm>
            <a:off x="914400" y="3611880"/>
            <a:ext cx="2880360" cy="1188720"/>
          </a:xfrm>
          <a:prstGeom prst="rect">
            <a:avLst/>
          </a:prstGeom>
          <a:noFill/>
          <a:ln/>
        </p:spPr>
        <p:txBody>
          <a:bodyPr wrap="square" lIns="0" tIns="0" rIns="0" bIns="0" rtlCol="0" anchor="ctr"/>
          <a:lstStyle/>
          <a:p>
            <a:pPr marL="0" indent="0" algn="ctr">
              <a:buNone/>
            </a:pPr>
            <a:r>
              <a:rPr lang="en-US" sz="1300" dirty="0">
                <a:solidFill>
                  <a:srgbClr val="5A6472"/>
                </a:solidFill>
                <a:latin typeface="Calibri" pitchFamily="34" charset="0"/>
                <a:ea typeface="Calibri" pitchFamily="34" charset="-122"/>
                <a:cs typeface="Calibri" pitchFamily="34" charset="-120"/>
              </a:rPr>
              <a:t>Assembler trois sources hétérogènes en un tableau propre : un pays par ligne, aucune donnée manquante.</a:t>
            </a:r>
            <a:endParaRPr lang="en-US" sz="1300" dirty="0"/>
          </a:p>
        </p:txBody>
      </p:sp>
      <p:sp>
        <p:nvSpPr>
          <p:cNvPr id="7" name="Shape 5"/>
          <p:cNvSpPr/>
          <p:nvPr/>
        </p:nvSpPr>
        <p:spPr>
          <a:xfrm>
            <a:off x="4389120" y="1828800"/>
            <a:ext cx="3429000" cy="3200400"/>
          </a:xfrm>
          <a:prstGeom prst="roundRect">
            <a:avLst>
              <a:gd name="adj" fmla="val 1714"/>
            </a:avLst>
          </a:prstGeom>
          <a:solidFill>
            <a:srgbClr val="EEF1F5"/>
          </a:solidFill>
          <a:ln w="12700">
            <a:solidFill>
              <a:srgbClr val="EEF1F5"/>
            </a:solidFill>
            <a:prstDash val="solid"/>
          </a:ln>
        </p:spPr>
      </p:sp>
      <p:sp>
        <p:nvSpPr>
          <p:cNvPr id="8" name="Text 6"/>
          <p:cNvSpPr txBox="1"/>
          <p:nvPr/>
        </p:nvSpPr>
        <p:spPr>
          <a:xfrm>
            <a:off x="4389120" y="2057400"/>
            <a:ext cx="3429000" cy="914400"/>
          </a:xfrm>
          <a:prstGeom prst="rect">
            <a:avLst/>
          </a:prstGeom>
          <a:noFill/>
          <a:ln/>
        </p:spPr>
        <p:txBody>
          <a:bodyPr wrap="square" lIns="0" tIns="0" rIns="0" bIns="0" rtlCol="0" anchor="ctr"/>
          <a:lstStyle/>
          <a:p>
            <a:pPr marL="0" indent="0" algn="ctr">
              <a:buNone/>
            </a:pPr>
            <a:r>
              <a:rPr lang="en-US" sz="5400" b="1" dirty="0">
                <a:solidFill>
                  <a:srgbClr val="E07A3F"/>
                </a:solidFill>
                <a:latin typeface="Calibri" pitchFamily="34" charset="0"/>
                <a:ea typeface="Calibri" pitchFamily="34" charset="-122"/>
                <a:cs typeface="Calibri" pitchFamily="34" charset="-120"/>
              </a:rPr>
              <a:t>2</a:t>
            </a:r>
            <a:endParaRPr lang="en-US" sz="5400" dirty="0"/>
          </a:p>
        </p:txBody>
      </p:sp>
      <p:sp>
        <p:nvSpPr>
          <p:cNvPr id="9" name="Text 7"/>
          <p:cNvSpPr txBox="1"/>
          <p:nvPr/>
        </p:nvSpPr>
        <p:spPr>
          <a:xfrm>
            <a:off x="4389120" y="3063240"/>
            <a:ext cx="3429000" cy="457200"/>
          </a:xfrm>
          <a:prstGeom prst="rect">
            <a:avLst/>
          </a:prstGeom>
          <a:noFill/>
          <a:ln/>
        </p:spPr>
        <p:txBody>
          <a:bodyPr wrap="square" lIns="0" tIns="0" rIns="0" bIns="0" rtlCol="0" anchor="ctr"/>
          <a:lstStyle/>
          <a:p>
            <a:pPr marL="0" indent="0" algn="ctr">
              <a:buNone/>
            </a:pPr>
            <a:r>
              <a:rPr lang="en-US" sz="2100" b="1" dirty="0">
                <a:solidFill>
                  <a:srgbClr val="1E2761"/>
                </a:solidFill>
                <a:latin typeface="Calibri" pitchFamily="34" charset="0"/>
                <a:ea typeface="Calibri" pitchFamily="34" charset="-122"/>
                <a:cs typeface="Calibri" pitchFamily="34" charset="-120"/>
              </a:rPr>
              <a:t>Analyser</a:t>
            </a:r>
            <a:endParaRPr lang="en-US" sz="2100" dirty="0"/>
          </a:p>
        </p:txBody>
      </p:sp>
      <p:sp>
        <p:nvSpPr>
          <p:cNvPr id="10" name="Text 8"/>
          <p:cNvSpPr txBox="1"/>
          <p:nvPr/>
        </p:nvSpPr>
        <p:spPr>
          <a:xfrm>
            <a:off x="4663440" y="3611880"/>
            <a:ext cx="2880360" cy="1188720"/>
          </a:xfrm>
          <a:prstGeom prst="rect">
            <a:avLst/>
          </a:prstGeom>
          <a:noFill/>
          <a:ln/>
        </p:spPr>
        <p:txBody>
          <a:bodyPr wrap="square" lIns="0" tIns="0" rIns="0" bIns="0" rtlCol="0" anchor="ctr"/>
          <a:lstStyle/>
          <a:p>
            <a:pPr marL="0" indent="0" algn="ctr">
              <a:buNone/>
            </a:pPr>
            <a:r>
              <a:rPr lang="en-US" sz="1300" dirty="0">
                <a:solidFill>
                  <a:srgbClr val="5A6472"/>
                </a:solidFill>
                <a:latin typeface="Calibri" pitchFamily="34" charset="0"/>
                <a:ea typeface="Calibri" pitchFamily="34" charset="-122"/>
                <a:cs typeface="Calibri" pitchFamily="34" charset="-120"/>
              </a:rPr>
              <a:t>Réduire 15 variables à 4 dimensions, puis regrouper les pays par similarité de profil.</a:t>
            </a:r>
            <a:endParaRPr lang="en-US" sz="1300" dirty="0"/>
          </a:p>
        </p:txBody>
      </p:sp>
      <p:sp>
        <p:nvSpPr>
          <p:cNvPr id="11" name="Shape 9"/>
          <p:cNvSpPr/>
          <p:nvPr/>
        </p:nvSpPr>
        <p:spPr>
          <a:xfrm>
            <a:off x="8138160" y="1828800"/>
            <a:ext cx="3429000" cy="3200400"/>
          </a:xfrm>
          <a:prstGeom prst="roundRect">
            <a:avLst>
              <a:gd name="adj" fmla="val 1714"/>
            </a:avLst>
          </a:prstGeom>
          <a:solidFill>
            <a:srgbClr val="EEF1F5"/>
          </a:solidFill>
          <a:ln w="12700">
            <a:solidFill>
              <a:srgbClr val="EEF1F5"/>
            </a:solidFill>
            <a:prstDash val="solid"/>
          </a:ln>
        </p:spPr>
      </p:sp>
      <p:sp>
        <p:nvSpPr>
          <p:cNvPr id="12" name="Text 10"/>
          <p:cNvSpPr txBox="1"/>
          <p:nvPr/>
        </p:nvSpPr>
        <p:spPr>
          <a:xfrm>
            <a:off x="8138160" y="2057400"/>
            <a:ext cx="3429000" cy="914400"/>
          </a:xfrm>
          <a:prstGeom prst="rect">
            <a:avLst/>
          </a:prstGeom>
          <a:noFill/>
          <a:ln/>
        </p:spPr>
        <p:txBody>
          <a:bodyPr wrap="square" lIns="0" tIns="0" rIns="0" bIns="0" rtlCol="0" anchor="ctr"/>
          <a:lstStyle/>
          <a:p>
            <a:pPr marL="0" indent="0" algn="ctr">
              <a:buNone/>
            </a:pPr>
            <a:r>
              <a:rPr lang="en-US" sz="5400" b="1" dirty="0">
                <a:solidFill>
                  <a:srgbClr val="4A9D5F"/>
                </a:solidFill>
                <a:latin typeface="Calibri" pitchFamily="34" charset="0"/>
                <a:ea typeface="Calibri" pitchFamily="34" charset="-122"/>
                <a:cs typeface="Calibri" pitchFamily="34" charset="-120"/>
              </a:rPr>
              <a:t>3</a:t>
            </a:r>
            <a:endParaRPr lang="en-US" sz="5400" dirty="0"/>
          </a:p>
        </p:txBody>
      </p:sp>
      <p:sp>
        <p:nvSpPr>
          <p:cNvPr id="13" name="Text 11"/>
          <p:cNvSpPr txBox="1"/>
          <p:nvPr/>
        </p:nvSpPr>
        <p:spPr>
          <a:xfrm>
            <a:off x="8138160" y="3063240"/>
            <a:ext cx="3429000" cy="457200"/>
          </a:xfrm>
          <a:prstGeom prst="rect">
            <a:avLst/>
          </a:prstGeom>
          <a:noFill/>
          <a:ln/>
        </p:spPr>
        <p:txBody>
          <a:bodyPr wrap="square" lIns="0" tIns="0" rIns="0" bIns="0" rtlCol="0" anchor="ctr"/>
          <a:lstStyle/>
          <a:p>
            <a:pPr marL="0" indent="0" algn="ctr">
              <a:buNone/>
            </a:pPr>
            <a:r>
              <a:rPr lang="en-US" sz="2100" b="1" dirty="0">
                <a:solidFill>
                  <a:srgbClr val="1E2761"/>
                </a:solidFill>
                <a:latin typeface="Calibri" pitchFamily="34" charset="0"/>
                <a:ea typeface="Calibri" pitchFamily="34" charset="-122"/>
                <a:cs typeface="Calibri" pitchFamily="34" charset="-120"/>
              </a:rPr>
              <a:t>Décider</a:t>
            </a:r>
            <a:endParaRPr lang="en-US" sz="2100" dirty="0"/>
          </a:p>
        </p:txBody>
      </p:sp>
      <p:sp>
        <p:nvSpPr>
          <p:cNvPr id="14" name="Text 12"/>
          <p:cNvSpPr txBox="1"/>
          <p:nvPr/>
        </p:nvSpPr>
        <p:spPr>
          <a:xfrm>
            <a:off x="8412480" y="3611880"/>
            <a:ext cx="2880360" cy="1188720"/>
          </a:xfrm>
          <a:prstGeom prst="rect">
            <a:avLst/>
          </a:prstGeom>
          <a:noFill/>
          <a:ln/>
        </p:spPr>
        <p:txBody>
          <a:bodyPr wrap="square" lIns="0" tIns="0" rIns="0" bIns="0" rtlCol="0" anchor="ctr"/>
          <a:lstStyle/>
          <a:p>
            <a:pPr marL="0" indent="0" algn="ctr">
              <a:buNone/>
            </a:pPr>
            <a:r>
              <a:rPr lang="en-US" sz="1300" dirty="0">
                <a:solidFill>
                  <a:srgbClr val="5A6472"/>
                </a:solidFill>
                <a:latin typeface="Calibri" pitchFamily="34" charset="0"/>
                <a:ea typeface="Calibri" pitchFamily="34" charset="-122"/>
                <a:cs typeface="Calibri" pitchFamily="34" charset="-120"/>
              </a:rPr>
              <a:t>Filtrer sur des critères commerciaux et classer les marchés accessibles.</a:t>
            </a:r>
            <a:endParaRPr lang="en-US" sz="1300" dirty="0"/>
          </a:p>
        </p:txBody>
      </p:sp>
      <p:sp>
        <p:nvSpPr>
          <p:cNvPr id="15" name="Text 13"/>
          <p:cNvSpPr txBox="1"/>
          <p:nvPr/>
        </p:nvSpPr>
        <p:spPr>
          <a:xfrm>
            <a:off x="640080" y="5349240"/>
            <a:ext cx="10881360" cy="457200"/>
          </a:xfrm>
          <a:prstGeom prst="rect">
            <a:avLst/>
          </a:prstGeom>
          <a:noFill/>
          <a:ln/>
        </p:spPr>
        <p:txBody>
          <a:bodyPr wrap="square" lIns="0" tIns="0" rIns="0" bIns="0" rtlCol="0" anchor="ctr"/>
          <a:lstStyle/>
          <a:p>
            <a:pPr marL="0" indent="0">
              <a:buNone/>
            </a:pPr>
            <a:r>
              <a:rPr lang="en-US" sz="1400" i="1" dirty="0">
                <a:solidFill>
                  <a:srgbClr val="1E2761"/>
                </a:solidFill>
                <a:latin typeface="Calibri" pitchFamily="34" charset="0"/>
                <a:ea typeface="Calibri" pitchFamily="34" charset="-122"/>
                <a:cs typeface="Calibri" pitchFamily="34" charset="-120"/>
              </a:rPr>
              <a:t>L'essentiel du temps a été consacré au temps 1 — c'est là que se joue la fiabilité du reste.</a:t>
            </a:r>
            <a:endParaRPr lang="en-US" sz="1400" dirty="0"/>
          </a:p>
        </p:txBody>
      </p:sp>
      <p:sp>
        <p:nvSpPr>
          <p:cNvPr id="17" name="Text 14"/>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A8B0B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731520"/>
          </a:xfrm>
          <a:prstGeom prst="rect">
            <a:avLst/>
          </a:prstGeom>
          <a:noFill/>
          <a:ln/>
        </p:spPr>
        <p:txBody>
          <a:bodyPr wrap="square" lIns="0" tIns="0" rIns="0" bIns="0" rtlCol="0" anchor="ctr"/>
          <a:lstStyle/>
          <a:p>
            <a:pPr marL="0" indent="0" algn="l">
              <a:buNone/>
            </a:pPr>
            <a:r>
              <a:rPr lang="en-US" sz="3000" b="1" dirty="0">
                <a:solidFill>
                  <a:srgbClr val="1E2761"/>
                </a:solidFill>
                <a:latin typeface="Calibri" pitchFamily="34" charset="0"/>
                <a:ea typeface="Calibri" pitchFamily="34" charset="-122"/>
                <a:cs typeface="Calibri" pitchFamily="34" charset="-120"/>
              </a:rPr>
              <a:t>Trois sources, un tableau</a:t>
            </a:r>
            <a:endParaRPr lang="en-US" sz="3000" dirty="0"/>
          </a:p>
        </p:txBody>
      </p:sp>
      <p:sp>
        <p:nvSpPr>
          <p:cNvPr id="3" name="Text 1"/>
          <p:cNvSpPr txBox="1"/>
          <p:nvPr/>
        </p:nvSpPr>
        <p:spPr>
          <a:xfrm>
            <a:off x="640080" y="1078992"/>
            <a:ext cx="10881360" cy="41148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Aucune donnée n'était directement exploitable</a:t>
            </a:r>
            <a:endParaRPr lang="en-US" sz="1400" dirty="0"/>
          </a:p>
        </p:txBody>
      </p:sp>
      <p:sp>
        <p:nvSpPr>
          <p:cNvPr id="4" name="Shape 2"/>
          <p:cNvSpPr/>
          <p:nvPr/>
        </p:nvSpPr>
        <p:spPr>
          <a:xfrm>
            <a:off x="640080" y="1783080"/>
            <a:ext cx="6766560" cy="868680"/>
          </a:xfrm>
          <a:prstGeom prst="roundRect">
            <a:avLst>
              <a:gd name="adj" fmla="val 6316"/>
            </a:avLst>
          </a:prstGeom>
          <a:solidFill>
            <a:srgbClr val="EEF1F5"/>
          </a:solidFill>
          <a:ln w="12700">
            <a:solidFill>
              <a:srgbClr val="EEF1F5"/>
            </a:solidFill>
            <a:prstDash val="solid"/>
          </a:ln>
        </p:spPr>
      </p:sp>
      <p:sp>
        <p:nvSpPr>
          <p:cNvPr id="5" name="Text 3"/>
          <p:cNvSpPr txBox="1"/>
          <p:nvPr/>
        </p:nvSpPr>
        <p:spPr>
          <a:xfrm>
            <a:off x="868680" y="1874520"/>
            <a:ext cx="3840480" cy="3200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FAO — Bilans alimentaires 2017</a:t>
            </a:r>
            <a:endParaRPr lang="en-US" sz="1400" dirty="0"/>
          </a:p>
        </p:txBody>
      </p:sp>
      <p:sp>
        <p:nvSpPr>
          <p:cNvPr id="6" name="Text 4"/>
          <p:cNvSpPr txBox="1"/>
          <p:nvPr/>
        </p:nvSpPr>
        <p:spPr>
          <a:xfrm>
            <a:off x="868680" y="2194560"/>
            <a:ext cx="5120640" cy="411480"/>
          </a:xfrm>
          <a:prstGeom prst="rect">
            <a:avLst/>
          </a:prstGeom>
          <a:noFill/>
          <a:ln/>
        </p:spPr>
        <p:txBody>
          <a:bodyPr wrap="square" lIns="0" tIns="0" rIns="0" bIns="0" rtlCol="0" anchor="ctr"/>
          <a:lstStyle/>
          <a:p>
            <a:pPr marL="0" indent="0">
              <a:buNone/>
            </a:pPr>
            <a:r>
              <a:rPr lang="en-US" sz="1100" dirty="0">
                <a:solidFill>
                  <a:srgbClr val="5A6472"/>
                </a:solidFill>
                <a:latin typeface="Calibri" pitchFamily="34" charset="0"/>
                <a:ea typeface="Calibri" pitchFamily="34" charset="-122"/>
                <a:cs typeface="Calibri" pitchFamily="34" charset="-120"/>
              </a:rPr>
              <a:t>Production, importations, exportations et consommation, par pays et par produit</a:t>
            </a:r>
            <a:endParaRPr lang="en-US" sz="1100" dirty="0"/>
          </a:p>
        </p:txBody>
      </p:sp>
      <p:sp>
        <p:nvSpPr>
          <p:cNvPr id="7" name="Text 5"/>
          <p:cNvSpPr txBox="1"/>
          <p:nvPr/>
        </p:nvSpPr>
        <p:spPr>
          <a:xfrm>
            <a:off x="6035040" y="2039112"/>
            <a:ext cx="1188720" cy="365760"/>
          </a:xfrm>
          <a:prstGeom prst="rect">
            <a:avLst/>
          </a:prstGeom>
          <a:noFill/>
          <a:ln/>
        </p:spPr>
        <p:txBody>
          <a:bodyPr wrap="square" lIns="0" tIns="0" rIns="0" bIns="0" rtlCol="0" anchor="ctr"/>
          <a:lstStyle/>
          <a:p>
            <a:pPr marL="0" indent="0" algn="r">
              <a:buNone/>
            </a:pPr>
            <a:r>
              <a:rPr lang="en-US" sz="1400" b="1" dirty="0">
                <a:solidFill>
                  <a:srgbClr val="E07A3F"/>
                </a:solidFill>
                <a:latin typeface="Calibri" pitchFamily="34" charset="0"/>
                <a:ea typeface="Calibri" pitchFamily="34" charset="-122"/>
                <a:cs typeface="Calibri" pitchFamily="34" charset="-120"/>
              </a:rPr>
              <a:t>176 600 lignes</a:t>
            </a:r>
            <a:endParaRPr lang="en-US" sz="1400" dirty="0"/>
          </a:p>
        </p:txBody>
      </p:sp>
      <p:sp>
        <p:nvSpPr>
          <p:cNvPr id="8" name="Shape 6"/>
          <p:cNvSpPr/>
          <p:nvPr/>
        </p:nvSpPr>
        <p:spPr>
          <a:xfrm>
            <a:off x="640080" y="2834640"/>
            <a:ext cx="6766560" cy="868680"/>
          </a:xfrm>
          <a:prstGeom prst="roundRect">
            <a:avLst>
              <a:gd name="adj" fmla="val 6316"/>
            </a:avLst>
          </a:prstGeom>
          <a:solidFill>
            <a:srgbClr val="EEF1F5"/>
          </a:solidFill>
          <a:ln w="12700">
            <a:solidFill>
              <a:srgbClr val="EEF1F5"/>
            </a:solidFill>
            <a:prstDash val="solid"/>
          </a:ln>
        </p:spPr>
      </p:sp>
      <p:sp>
        <p:nvSpPr>
          <p:cNvPr id="9" name="Text 7"/>
          <p:cNvSpPr txBox="1"/>
          <p:nvPr/>
        </p:nvSpPr>
        <p:spPr>
          <a:xfrm>
            <a:off x="868680" y="2926080"/>
            <a:ext cx="3840480" cy="3200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FAO — Population 2000-2018</a:t>
            </a:r>
            <a:endParaRPr lang="en-US" sz="1400" dirty="0"/>
          </a:p>
        </p:txBody>
      </p:sp>
      <p:sp>
        <p:nvSpPr>
          <p:cNvPr id="10" name="Text 8"/>
          <p:cNvSpPr txBox="1"/>
          <p:nvPr/>
        </p:nvSpPr>
        <p:spPr>
          <a:xfrm>
            <a:off x="868680" y="3246120"/>
            <a:ext cx="5120640" cy="411480"/>
          </a:xfrm>
          <a:prstGeom prst="rect">
            <a:avLst/>
          </a:prstGeom>
          <a:noFill/>
          <a:ln/>
        </p:spPr>
        <p:txBody>
          <a:bodyPr wrap="square" lIns="0" tIns="0" rIns="0" bIns="0" rtlCol="0" anchor="ctr"/>
          <a:lstStyle/>
          <a:p>
            <a:pPr marL="0" indent="0">
              <a:buNone/>
            </a:pPr>
            <a:r>
              <a:rPr lang="en-US" sz="1100" dirty="0">
                <a:solidFill>
                  <a:srgbClr val="5A6472"/>
                </a:solidFill>
                <a:latin typeface="Calibri" pitchFamily="34" charset="0"/>
                <a:ea typeface="Calibri" pitchFamily="34" charset="-122"/>
                <a:cs typeface="Calibri" pitchFamily="34" charset="-120"/>
              </a:rPr>
              <a:t>Population annuelle de 238 zones</a:t>
            </a:r>
            <a:endParaRPr lang="en-US" sz="1100" dirty="0"/>
          </a:p>
        </p:txBody>
      </p:sp>
      <p:sp>
        <p:nvSpPr>
          <p:cNvPr id="11" name="Text 9"/>
          <p:cNvSpPr txBox="1"/>
          <p:nvPr/>
        </p:nvSpPr>
        <p:spPr>
          <a:xfrm>
            <a:off x="6035040" y="3090672"/>
            <a:ext cx="1188720" cy="365760"/>
          </a:xfrm>
          <a:prstGeom prst="rect">
            <a:avLst/>
          </a:prstGeom>
          <a:noFill/>
          <a:ln/>
        </p:spPr>
        <p:txBody>
          <a:bodyPr wrap="square" lIns="0" tIns="0" rIns="0" bIns="0" rtlCol="0" anchor="ctr"/>
          <a:lstStyle/>
          <a:p>
            <a:pPr marL="0" indent="0" algn="r">
              <a:buNone/>
            </a:pPr>
            <a:r>
              <a:rPr lang="en-US" sz="1400" b="1" dirty="0">
                <a:solidFill>
                  <a:srgbClr val="E07A3F"/>
                </a:solidFill>
                <a:latin typeface="Calibri" pitchFamily="34" charset="0"/>
                <a:ea typeface="Calibri" pitchFamily="34" charset="-122"/>
                <a:cs typeface="Calibri" pitchFamily="34" charset="-120"/>
              </a:rPr>
              <a:t>4 411 lignes</a:t>
            </a:r>
            <a:endParaRPr lang="en-US" sz="1400" dirty="0"/>
          </a:p>
        </p:txBody>
      </p:sp>
      <p:sp>
        <p:nvSpPr>
          <p:cNvPr id="12" name="Shape 10"/>
          <p:cNvSpPr/>
          <p:nvPr/>
        </p:nvSpPr>
        <p:spPr>
          <a:xfrm>
            <a:off x="640080" y="3886200"/>
            <a:ext cx="6766560" cy="868680"/>
          </a:xfrm>
          <a:prstGeom prst="roundRect">
            <a:avLst>
              <a:gd name="adj" fmla="val 6316"/>
            </a:avLst>
          </a:prstGeom>
          <a:solidFill>
            <a:srgbClr val="EEF1F5"/>
          </a:solidFill>
          <a:ln w="12700">
            <a:solidFill>
              <a:srgbClr val="EEF1F5"/>
            </a:solidFill>
            <a:prstDash val="solid"/>
          </a:ln>
        </p:spPr>
      </p:sp>
      <p:sp>
        <p:nvSpPr>
          <p:cNvPr id="13" name="Text 11"/>
          <p:cNvSpPr txBox="1"/>
          <p:nvPr/>
        </p:nvSpPr>
        <p:spPr>
          <a:xfrm>
            <a:off x="868680" y="3977640"/>
            <a:ext cx="3840480" cy="3200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Banque mondiale — WDI</a:t>
            </a:r>
            <a:endParaRPr lang="en-US" sz="1400" dirty="0"/>
          </a:p>
        </p:txBody>
      </p:sp>
      <p:sp>
        <p:nvSpPr>
          <p:cNvPr id="14" name="Text 12"/>
          <p:cNvSpPr txBox="1"/>
          <p:nvPr/>
        </p:nvSpPr>
        <p:spPr>
          <a:xfrm>
            <a:off x="868680" y="4297680"/>
            <a:ext cx="5120640" cy="411480"/>
          </a:xfrm>
          <a:prstGeom prst="rect">
            <a:avLst/>
          </a:prstGeom>
          <a:noFill/>
          <a:ln/>
        </p:spPr>
        <p:txBody>
          <a:bodyPr wrap="square" lIns="0" tIns="0" rIns="0" bIns="0" rtlCol="0" anchor="ctr"/>
          <a:lstStyle/>
          <a:p>
            <a:pPr marL="0" indent="0">
              <a:buNone/>
            </a:pPr>
            <a:r>
              <a:rPr lang="en-US" sz="1100" dirty="0">
                <a:solidFill>
                  <a:srgbClr val="5A6472"/>
                </a:solidFill>
                <a:latin typeface="Calibri" pitchFamily="34" charset="0"/>
                <a:ea typeface="Calibri" pitchFamily="34" charset="-122"/>
                <a:cs typeface="Calibri" pitchFamily="34" charset="-120"/>
              </a:rPr>
              <a:t>PIB par habitant, croissance, urbanisation, inflation</a:t>
            </a:r>
            <a:endParaRPr lang="en-US" sz="1100" dirty="0"/>
          </a:p>
        </p:txBody>
      </p:sp>
      <p:sp>
        <p:nvSpPr>
          <p:cNvPr id="15" name="Text 13"/>
          <p:cNvSpPr txBox="1"/>
          <p:nvPr/>
        </p:nvSpPr>
        <p:spPr>
          <a:xfrm>
            <a:off x="6035040" y="4142232"/>
            <a:ext cx="1188720" cy="365760"/>
          </a:xfrm>
          <a:prstGeom prst="rect">
            <a:avLst/>
          </a:prstGeom>
          <a:noFill/>
          <a:ln/>
        </p:spPr>
        <p:txBody>
          <a:bodyPr wrap="square" lIns="0" tIns="0" rIns="0" bIns="0" rtlCol="0" anchor="ctr"/>
          <a:lstStyle/>
          <a:p>
            <a:pPr marL="0" indent="0" algn="r">
              <a:buNone/>
            </a:pPr>
            <a:r>
              <a:rPr lang="en-US" sz="1400" b="1" dirty="0">
                <a:solidFill>
                  <a:srgbClr val="E07A3F"/>
                </a:solidFill>
                <a:latin typeface="Calibri" pitchFamily="34" charset="0"/>
                <a:ea typeface="Calibri" pitchFamily="34" charset="-122"/>
                <a:cs typeface="Calibri" pitchFamily="34" charset="-120"/>
              </a:rPr>
              <a:t>1 060 lignes</a:t>
            </a:r>
            <a:endParaRPr lang="en-US" sz="1400" dirty="0"/>
          </a:p>
        </p:txBody>
      </p:sp>
      <p:sp>
        <p:nvSpPr>
          <p:cNvPr id="16" name="Shape 14"/>
          <p:cNvSpPr/>
          <p:nvPr/>
        </p:nvSpPr>
        <p:spPr>
          <a:xfrm>
            <a:off x="7772400" y="1783080"/>
            <a:ext cx="3749040" cy="3200400"/>
          </a:xfrm>
          <a:prstGeom prst="roundRect">
            <a:avLst>
              <a:gd name="adj" fmla="val 1714"/>
            </a:avLst>
          </a:prstGeom>
          <a:solidFill>
            <a:srgbClr val="1E2761"/>
          </a:solidFill>
          <a:ln w="12700">
            <a:solidFill>
              <a:srgbClr val="1E2761"/>
            </a:solidFill>
            <a:prstDash val="solid"/>
          </a:ln>
        </p:spPr>
      </p:sp>
      <p:sp>
        <p:nvSpPr>
          <p:cNvPr id="17" name="Text 15"/>
          <p:cNvSpPr txBox="1"/>
          <p:nvPr/>
        </p:nvSpPr>
        <p:spPr>
          <a:xfrm>
            <a:off x="8001000" y="1965960"/>
            <a:ext cx="3291840" cy="365760"/>
          </a:xfrm>
          <a:prstGeom prst="rect">
            <a:avLst/>
          </a:prstGeom>
          <a:noFill/>
          <a:ln/>
        </p:spPr>
        <p:txBody>
          <a:bodyPr wrap="square" lIns="0" tIns="0" rIns="0" bIns="0" rtlCol="0" anchor="ctr"/>
          <a:lstStyle/>
          <a:p>
            <a:pPr marL="0" indent="0">
              <a:buNone/>
            </a:pPr>
            <a:r>
              <a:rPr lang="en-US" sz="1500" b="1" dirty="0">
                <a:solidFill>
                  <a:srgbClr val="CADCFC"/>
                </a:solidFill>
                <a:latin typeface="Calibri" pitchFamily="34" charset="0"/>
                <a:ea typeface="Calibri" pitchFamily="34" charset="-122"/>
                <a:cs typeface="Calibri" pitchFamily="34" charset="-120"/>
              </a:rPr>
              <a:t>Le problème de format</a:t>
            </a:r>
            <a:endParaRPr lang="en-US" sz="1500" dirty="0"/>
          </a:p>
        </p:txBody>
      </p:sp>
      <p:sp>
        <p:nvSpPr>
          <p:cNvPr id="18" name="Text 16"/>
          <p:cNvSpPr txBox="1"/>
          <p:nvPr/>
        </p:nvSpPr>
        <p:spPr>
          <a:xfrm>
            <a:off x="8001000" y="2423160"/>
            <a:ext cx="329184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39 %</a:t>
            </a:r>
            <a:endParaRPr lang="en-US" sz="4400" dirty="0"/>
          </a:p>
        </p:txBody>
      </p:sp>
      <p:sp>
        <p:nvSpPr>
          <p:cNvPr id="19" name="Text 17"/>
          <p:cNvSpPr txBox="1"/>
          <p:nvPr/>
        </p:nvSpPr>
        <p:spPr>
          <a:xfrm>
            <a:off x="8001000" y="3200400"/>
            <a:ext cx="3291840" cy="1645920"/>
          </a:xfrm>
          <a:prstGeom prst="rect">
            <a:avLst/>
          </a:prstGeom>
          <a:noFill/>
          <a:ln/>
        </p:spPr>
        <p:txBody>
          <a:bodyPr wrap="square" lIns="0" tIns="0" rIns="0" bIns="0" rtlCol="0" anchor="ctr"/>
          <a:lstStyle/>
          <a:p>
            <a:pPr marL="0" indent="0">
              <a:buNone/>
            </a:pPr>
            <a:r>
              <a:rPr lang="en-US" sz="1200" dirty="0">
                <a:solidFill>
                  <a:srgbClr val="C9D6F0"/>
                </a:solidFill>
                <a:latin typeface="Calibri" pitchFamily="34" charset="0"/>
                <a:ea typeface="Calibri" pitchFamily="34" charset="-122"/>
                <a:cs typeface="Calibri" pitchFamily="34" charset="-120"/>
              </a:rPr>
              <a:t>des combinaisons pays-produit-mesure sont absentes du fichier FAO : elles n'existent pas sous forme de ligne vide, elles n'existent pas du tout.</a:t>
            </a:r>
            <a:endParaRPr lang="en-US" sz="1200" dirty="0"/>
          </a:p>
        </p:txBody>
      </p:sp>
      <p:sp>
        <p:nvSpPr>
          <p:cNvPr id="20" name="Text 18"/>
          <p:cNvSpPr txBox="1"/>
          <p:nvPr/>
        </p:nvSpPr>
        <p:spPr>
          <a:xfrm>
            <a:off x="640080" y="5120640"/>
            <a:ext cx="6766560" cy="731520"/>
          </a:xfrm>
          <a:prstGeom prst="rect">
            <a:avLst/>
          </a:prstGeom>
          <a:noFill/>
          <a:ln/>
        </p:spPr>
        <p:txBody>
          <a:bodyPr wrap="square" lIns="0" tIns="0" rIns="0" bIns="0" rtlCol="0" anchor="ctr"/>
          <a:lstStyle/>
          <a:p>
            <a:pPr marL="0" indent="0">
              <a:buNone/>
            </a:pPr>
            <a:r>
              <a:rPr lang="en-US" sz="1300" i="1" dirty="0">
                <a:solidFill>
                  <a:srgbClr val="1E2761"/>
                </a:solidFill>
                <a:latin typeface="Calibri" pitchFamily="34" charset="0"/>
                <a:ea typeface="Calibri" pitchFamily="34" charset="-122"/>
                <a:cs typeface="Calibri" pitchFamily="34" charset="-120"/>
              </a:rPr>
              <a:t>L'Afghanistan occupait à lui seul plus de mille lignes. Il a fallu transformer ce format « empilé » en un tableau où chaque ligne est un pays.</a:t>
            </a:r>
            <a:endParaRPr lang="en-US" sz="1300" dirty="0"/>
          </a:p>
        </p:txBody>
      </p:sp>
      <p:sp>
        <p:nvSpPr>
          <p:cNvPr id="22" name="Text 19"/>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A8B0B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731520"/>
          </a:xfrm>
          <a:prstGeom prst="rect">
            <a:avLst/>
          </a:prstGeom>
          <a:noFill/>
          <a:ln/>
        </p:spPr>
        <p:txBody>
          <a:bodyPr wrap="square" lIns="0" tIns="0" rIns="0" bIns="0" rtlCol="0" anchor="ctr"/>
          <a:lstStyle/>
          <a:p>
            <a:pPr marL="0" indent="0" algn="l">
              <a:buNone/>
            </a:pPr>
            <a:r>
              <a:rPr lang="en-US" sz="3000" b="1" dirty="0">
                <a:solidFill>
                  <a:srgbClr val="1E2761"/>
                </a:solidFill>
                <a:latin typeface="Calibri" pitchFamily="34" charset="0"/>
                <a:ea typeface="Calibri" pitchFamily="34" charset="-122"/>
                <a:cs typeface="Calibri" pitchFamily="34" charset="-120"/>
              </a:rPr>
              <a:t>Quelles variables retenir ?</a:t>
            </a:r>
            <a:endParaRPr lang="en-US" sz="3000" dirty="0"/>
          </a:p>
        </p:txBody>
      </p:sp>
      <p:sp>
        <p:nvSpPr>
          <p:cNvPr id="3" name="Text 1"/>
          <p:cNvSpPr txBox="1"/>
          <p:nvPr/>
        </p:nvSpPr>
        <p:spPr>
          <a:xfrm>
            <a:off x="640080" y="1078992"/>
            <a:ext cx="10881360" cy="41148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La grille PESTEL force à regarder le marché sous six angles au lieu d'un seul</a:t>
            </a:r>
            <a:endParaRPr lang="en-US" sz="1400" dirty="0"/>
          </a:p>
        </p:txBody>
      </p:sp>
      <p:sp>
        <p:nvSpPr>
          <p:cNvPr id="4" name="Shape 2"/>
          <p:cNvSpPr/>
          <p:nvPr/>
        </p:nvSpPr>
        <p:spPr>
          <a:xfrm>
            <a:off x="640080" y="1828800"/>
            <a:ext cx="3429000" cy="1463040"/>
          </a:xfrm>
          <a:prstGeom prst="roundRect">
            <a:avLst>
              <a:gd name="adj" fmla="val 3750"/>
            </a:avLst>
          </a:prstGeom>
          <a:solidFill>
            <a:srgbClr val="EEF1F5"/>
          </a:solidFill>
          <a:ln w="12700">
            <a:solidFill>
              <a:srgbClr val="EEF1F5"/>
            </a:solidFill>
            <a:prstDash val="solid"/>
          </a:ln>
        </p:spPr>
      </p:sp>
      <p:sp>
        <p:nvSpPr>
          <p:cNvPr id="5" name="Shape 3"/>
          <p:cNvSpPr/>
          <p:nvPr/>
        </p:nvSpPr>
        <p:spPr>
          <a:xfrm>
            <a:off x="896112" y="2212848"/>
            <a:ext cx="658368" cy="658368"/>
          </a:xfrm>
          <a:prstGeom prst="ellipse">
            <a:avLst/>
          </a:prstGeom>
          <a:solidFill>
            <a:srgbClr val="1E2761"/>
          </a:solidFill>
          <a:ln w="12700">
            <a:solidFill>
              <a:srgbClr val="1E2761"/>
            </a:solidFill>
            <a:prstDash val="solid"/>
          </a:ln>
        </p:spPr>
      </p:sp>
      <p:sp>
        <p:nvSpPr>
          <p:cNvPr id="6" name="Text 4"/>
          <p:cNvSpPr txBox="1"/>
          <p:nvPr/>
        </p:nvSpPr>
        <p:spPr>
          <a:xfrm>
            <a:off x="896112" y="2322576"/>
            <a:ext cx="658368" cy="4114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P</a:t>
            </a:r>
            <a:endParaRPr lang="en-US" sz="2200" dirty="0"/>
          </a:p>
        </p:txBody>
      </p:sp>
      <p:sp>
        <p:nvSpPr>
          <p:cNvPr id="7" name="Text 5"/>
          <p:cNvSpPr txBox="1"/>
          <p:nvPr/>
        </p:nvSpPr>
        <p:spPr>
          <a:xfrm>
            <a:off x="1691640" y="2148840"/>
            <a:ext cx="2194560" cy="32004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Politique</a:t>
            </a:r>
            <a:endParaRPr lang="en-US" sz="1500" dirty="0"/>
          </a:p>
        </p:txBody>
      </p:sp>
      <p:sp>
        <p:nvSpPr>
          <p:cNvPr id="8" name="Text 6"/>
          <p:cNvSpPr txBox="1"/>
          <p:nvPr/>
        </p:nvSpPr>
        <p:spPr>
          <a:xfrm>
            <a:off x="1691640" y="2487168"/>
            <a:ext cx="2240280" cy="640080"/>
          </a:xfrm>
          <a:prstGeom prst="rect">
            <a:avLst/>
          </a:prstGeom>
          <a:noFill/>
          <a:ln/>
        </p:spPr>
        <p:txBody>
          <a:bodyPr wrap="square" lIns="0" tIns="0" rIns="0" bIns="0" rtlCol="0" anchor="ctr"/>
          <a:lstStyle/>
          <a:p>
            <a:pPr marL="0" indent="0">
              <a:buNone/>
            </a:pPr>
            <a:r>
              <a:rPr lang="en-US" sz="1150" dirty="0">
                <a:solidFill>
                  <a:srgbClr val="5A6472"/>
                </a:solidFill>
                <a:latin typeface="Calibri" pitchFamily="34" charset="0"/>
                <a:ea typeface="Calibri" pitchFamily="34" charset="-122"/>
                <a:cs typeface="Calibri" pitchFamily="34" charset="-120"/>
              </a:rPr>
              <a:t>Inflation, stabilité macro-économique</a:t>
            </a:r>
            <a:endParaRPr lang="en-US" sz="1150" dirty="0"/>
          </a:p>
        </p:txBody>
      </p:sp>
      <p:sp>
        <p:nvSpPr>
          <p:cNvPr id="9" name="Shape 7"/>
          <p:cNvSpPr/>
          <p:nvPr/>
        </p:nvSpPr>
        <p:spPr>
          <a:xfrm>
            <a:off x="4389120" y="1828800"/>
            <a:ext cx="3429000" cy="1463040"/>
          </a:xfrm>
          <a:prstGeom prst="roundRect">
            <a:avLst>
              <a:gd name="adj" fmla="val 3750"/>
            </a:avLst>
          </a:prstGeom>
          <a:solidFill>
            <a:srgbClr val="EEF1F5"/>
          </a:solidFill>
          <a:ln w="12700">
            <a:solidFill>
              <a:srgbClr val="EEF1F5"/>
            </a:solidFill>
            <a:prstDash val="solid"/>
          </a:ln>
        </p:spPr>
      </p:sp>
      <p:sp>
        <p:nvSpPr>
          <p:cNvPr id="10" name="Shape 8"/>
          <p:cNvSpPr/>
          <p:nvPr/>
        </p:nvSpPr>
        <p:spPr>
          <a:xfrm>
            <a:off x="4645152" y="2212848"/>
            <a:ext cx="658368" cy="658368"/>
          </a:xfrm>
          <a:prstGeom prst="ellipse">
            <a:avLst/>
          </a:prstGeom>
          <a:solidFill>
            <a:srgbClr val="E07A3F"/>
          </a:solidFill>
          <a:ln w="12700">
            <a:solidFill>
              <a:srgbClr val="E07A3F"/>
            </a:solidFill>
            <a:prstDash val="solid"/>
          </a:ln>
        </p:spPr>
      </p:sp>
      <p:sp>
        <p:nvSpPr>
          <p:cNvPr id="11" name="Text 9"/>
          <p:cNvSpPr txBox="1"/>
          <p:nvPr/>
        </p:nvSpPr>
        <p:spPr>
          <a:xfrm>
            <a:off x="4645152" y="2322576"/>
            <a:ext cx="658368" cy="4114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E</a:t>
            </a:r>
            <a:endParaRPr lang="en-US" sz="2200" dirty="0"/>
          </a:p>
        </p:txBody>
      </p:sp>
      <p:sp>
        <p:nvSpPr>
          <p:cNvPr id="12" name="Text 10"/>
          <p:cNvSpPr txBox="1"/>
          <p:nvPr/>
        </p:nvSpPr>
        <p:spPr>
          <a:xfrm>
            <a:off x="5440680" y="2148840"/>
            <a:ext cx="2194560" cy="32004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Économique</a:t>
            </a:r>
            <a:endParaRPr lang="en-US" sz="1500" dirty="0"/>
          </a:p>
        </p:txBody>
      </p:sp>
      <p:sp>
        <p:nvSpPr>
          <p:cNvPr id="13" name="Text 11"/>
          <p:cNvSpPr txBox="1"/>
          <p:nvPr/>
        </p:nvSpPr>
        <p:spPr>
          <a:xfrm>
            <a:off x="5440680" y="2487168"/>
            <a:ext cx="2240280" cy="640080"/>
          </a:xfrm>
          <a:prstGeom prst="rect">
            <a:avLst/>
          </a:prstGeom>
          <a:noFill/>
          <a:ln/>
        </p:spPr>
        <p:txBody>
          <a:bodyPr wrap="square" lIns="0" tIns="0" rIns="0" bIns="0" rtlCol="0" anchor="ctr"/>
          <a:lstStyle/>
          <a:p>
            <a:pPr marL="0" indent="0">
              <a:buNone/>
            </a:pPr>
            <a:r>
              <a:rPr lang="en-US" sz="1150" dirty="0">
                <a:solidFill>
                  <a:srgbClr val="5A6472"/>
                </a:solidFill>
                <a:latin typeface="Calibri" pitchFamily="34" charset="0"/>
                <a:ea typeface="Calibri" pitchFamily="34" charset="-122"/>
                <a:cs typeface="Calibri" pitchFamily="34" charset="-120"/>
              </a:rPr>
              <a:t>PIB par habitant, croissance</a:t>
            </a:r>
            <a:endParaRPr lang="en-US" sz="1150" dirty="0"/>
          </a:p>
        </p:txBody>
      </p:sp>
      <p:sp>
        <p:nvSpPr>
          <p:cNvPr id="14" name="Shape 12"/>
          <p:cNvSpPr/>
          <p:nvPr/>
        </p:nvSpPr>
        <p:spPr>
          <a:xfrm>
            <a:off x="8138160" y="1828800"/>
            <a:ext cx="3429000" cy="1463040"/>
          </a:xfrm>
          <a:prstGeom prst="roundRect">
            <a:avLst>
              <a:gd name="adj" fmla="val 3750"/>
            </a:avLst>
          </a:prstGeom>
          <a:solidFill>
            <a:srgbClr val="EEF1F5"/>
          </a:solidFill>
          <a:ln w="12700">
            <a:solidFill>
              <a:srgbClr val="EEF1F5"/>
            </a:solidFill>
            <a:prstDash val="solid"/>
          </a:ln>
        </p:spPr>
      </p:sp>
      <p:sp>
        <p:nvSpPr>
          <p:cNvPr id="15" name="Shape 13"/>
          <p:cNvSpPr/>
          <p:nvPr/>
        </p:nvSpPr>
        <p:spPr>
          <a:xfrm>
            <a:off x="8394192" y="2212848"/>
            <a:ext cx="658368" cy="658368"/>
          </a:xfrm>
          <a:prstGeom prst="ellipse">
            <a:avLst/>
          </a:prstGeom>
          <a:solidFill>
            <a:srgbClr val="4A9D5F"/>
          </a:solidFill>
          <a:ln w="12700">
            <a:solidFill>
              <a:srgbClr val="4A9D5F"/>
            </a:solidFill>
            <a:prstDash val="solid"/>
          </a:ln>
        </p:spPr>
      </p:sp>
      <p:sp>
        <p:nvSpPr>
          <p:cNvPr id="16" name="Text 14"/>
          <p:cNvSpPr txBox="1"/>
          <p:nvPr/>
        </p:nvSpPr>
        <p:spPr>
          <a:xfrm>
            <a:off x="8394192" y="2322576"/>
            <a:ext cx="658368" cy="4114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a:t>
            </a:r>
            <a:endParaRPr lang="en-US" sz="2200" dirty="0"/>
          </a:p>
        </p:txBody>
      </p:sp>
      <p:sp>
        <p:nvSpPr>
          <p:cNvPr id="17" name="Text 15"/>
          <p:cNvSpPr txBox="1"/>
          <p:nvPr/>
        </p:nvSpPr>
        <p:spPr>
          <a:xfrm>
            <a:off x="9189720" y="2148840"/>
            <a:ext cx="2194560" cy="32004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Social</a:t>
            </a:r>
            <a:endParaRPr lang="en-US" sz="1500" dirty="0"/>
          </a:p>
        </p:txBody>
      </p:sp>
      <p:sp>
        <p:nvSpPr>
          <p:cNvPr id="18" name="Text 16"/>
          <p:cNvSpPr txBox="1"/>
          <p:nvPr/>
        </p:nvSpPr>
        <p:spPr>
          <a:xfrm>
            <a:off x="9189720" y="2487168"/>
            <a:ext cx="2240280" cy="640080"/>
          </a:xfrm>
          <a:prstGeom prst="rect">
            <a:avLst/>
          </a:prstGeom>
          <a:noFill/>
          <a:ln/>
        </p:spPr>
        <p:txBody>
          <a:bodyPr wrap="square" lIns="0" tIns="0" rIns="0" bIns="0" rtlCol="0" anchor="ctr"/>
          <a:lstStyle/>
          <a:p>
            <a:pPr marL="0" indent="0">
              <a:buNone/>
            </a:pPr>
            <a:r>
              <a:rPr lang="en-US" sz="1150" dirty="0">
                <a:solidFill>
                  <a:srgbClr val="5A6472"/>
                </a:solidFill>
                <a:latin typeface="Calibri" pitchFamily="34" charset="0"/>
                <a:ea typeface="Calibri" pitchFamily="34" charset="-122"/>
                <a:cs typeface="Calibri" pitchFamily="34" charset="-120"/>
              </a:rPr>
              <a:t>Population, urbanisation, culture alimentaire</a:t>
            </a:r>
            <a:endParaRPr lang="en-US" sz="1150" dirty="0"/>
          </a:p>
        </p:txBody>
      </p:sp>
      <p:sp>
        <p:nvSpPr>
          <p:cNvPr id="19" name="Shape 17"/>
          <p:cNvSpPr/>
          <p:nvPr/>
        </p:nvSpPr>
        <p:spPr>
          <a:xfrm>
            <a:off x="640080" y="3520440"/>
            <a:ext cx="3429000" cy="1463040"/>
          </a:xfrm>
          <a:prstGeom prst="roundRect">
            <a:avLst>
              <a:gd name="adj" fmla="val 3750"/>
            </a:avLst>
          </a:prstGeom>
          <a:solidFill>
            <a:srgbClr val="EEF1F5"/>
          </a:solidFill>
          <a:ln w="12700">
            <a:solidFill>
              <a:srgbClr val="EEF1F5"/>
            </a:solidFill>
            <a:prstDash val="solid"/>
          </a:ln>
        </p:spPr>
      </p:sp>
      <p:sp>
        <p:nvSpPr>
          <p:cNvPr id="20" name="Shape 18"/>
          <p:cNvSpPr/>
          <p:nvPr/>
        </p:nvSpPr>
        <p:spPr>
          <a:xfrm>
            <a:off x="896112" y="3904488"/>
            <a:ext cx="658368" cy="658368"/>
          </a:xfrm>
          <a:prstGeom prst="ellipse">
            <a:avLst/>
          </a:prstGeom>
          <a:solidFill>
            <a:srgbClr val="B5485D"/>
          </a:solidFill>
          <a:ln w="12700">
            <a:solidFill>
              <a:srgbClr val="B5485D"/>
            </a:solidFill>
            <a:prstDash val="solid"/>
          </a:ln>
        </p:spPr>
      </p:sp>
      <p:sp>
        <p:nvSpPr>
          <p:cNvPr id="21" name="Text 19"/>
          <p:cNvSpPr txBox="1"/>
          <p:nvPr/>
        </p:nvSpPr>
        <p:spPr>
          <a:xfrm>
            <a:off x="896112" y="4014216"/>
            <a:ext cx="658368" cy="4114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T</a:t>
            </a:r>
            <a:endParaRPr lang="en-US" sz="2200" dirty="0"/>
          </a:p>
        </p:txBody>
      </p:sp>
      <p:sp>
        <p:nvSpPr>
          <p:cNvPr id="22" name="Text 20"/>
          <p:cNvSpPr txBox="1"/>
          <p:nvPr/>
        </p:nvSpPr>
        <p:spPr>
          <a:xfrm>
            <a:off x="1691640" y="3840480"/>
            <a:ext cx="2194560" cy="32004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Technologique</a:t>
            </a:r>
            <a:endParaRPr lang="en-US" sz="1500" dirty="0"/>
          </a:p>
        </p:txBody>
      </p:sp>
      <p:sp>
        <p:nvSpPr>
          <p:cNvPr id="23" name="Text 21"/>
          <p:cNvSpPr txBox="1"/>
          <p:nvPr/>
        </p:nvSpPr>
        <p:spPr>
          <a:xfrm>
            <a:off x="1691640" y="4178808"/>
            <a:ext cx="2240280" cy="640080"/>
          </a:xfrm>
          <a:prstGeom prst="rect">
            <a:avLst/>
          </a:prstGeom>
          <a:noFill/>
          <a:ln/>
        </p:spPr>
        <p:txBody>
          <a:bodyPr wrap="square" lIns="0" tIns="0" rIns="0" bIns="0" rtlCol="0" anchor="ctr"/>
          <a:lstStyle/>
          <a:p>
            <a:pPr marL="0" indent="0">
              <a:buNone/>
            </a:pPr>
            <a:r>
              <a:rPr lang="en-US" sz="1150" dirty="0">
                <a:solidFill>
                  <a:srgbClr val="5A6472"/>
                </a:solidFill>
                <a:latin typeface="Calibri" pitchFamily="34" charset="0"/>
                <a:ea typeface="Calibri" pitchFamily="34" charset="-122"/>
                <a:cs typeface="Calibri" pitchFamily="34" charset="-120"/>
              </a:rPr>
              <a:t>Capacité de production locale</a:t>
            </a:r>
            <a:endParaRPr lang="en-US" sz="1150" dirty="0"/>
          </a:p>
        </p:txBody>
      </p:sp>
      <p:sp>
        <p:nvSpPr>
          <p:cNvPr id="24" name="Shape 22"/>
          <p:cNvSpPr/>
          <p:nvPr/>
        </p:nvSpPr>
        <p:spPr>
          <a:xfrm>
            <a:off x="4389120" y="3520440"/>
            <a:ext cx="3429000" cy="1463040"/>
          </a:xfrm>
          <a:prstGeom prst="roundRect">
            <a:avLst>
              <a:gd name="adj" fmla="val 3750"/>
            </a:avLst>
          </a:prstGeom>
          <a:solidFill>
            <a:srgbClr val="EEF1F5"/>
          </a:solidFill>
          <a:ln w="12700">
            <a:solidFill>
              <a:srgbClr val="EEF1F5"/>
            </a:solidFill>
            <a:prstDash val="solid"/>
          </a:ln>
        </p:spPr>
      </p:sp>
      <p:sp>
        <p:nvSpPr>
          <p:cNvPr id="25" name="Shape 23"/>
          <p:cNvSpPr/>
          <p:nvPr/>
        </p:nvSpPr>
        <p:spPr>
          <a:xfrm>
            <a:off x="4645152" y="3904488"/>
            <a:ext cx="658368" cy="658368"/>
          </a:xfrm>
          <a:prstGeom prst="ellipse">
            <a:avLst/>
          </a:prstGeom>
          <a:solidFill>
            <a:srgbClr val="9AA7B5"/>
          </a:solidFill>
          <a:ln w="12700">
            <a:solidFill>
              <a:srgbClr val="9AA7B5"/>
            </a:solidFill>
            <a:prstDash val="solid"/>
          </a:ln>
        </p:spPr>
      </p:sp>
      <p:sp>
        <p:nvSpPr>
          <p:cNvPr id="26" name="Text 24"/>
          <p:cNvSpPr txBox="1"/>
          <p:nvPr/>
        </p:nvSpPr>
        <p:spPr>
          <a:xfrm>
            <a:off x="4645152" y="4014216"/>
            <a:ext cx="658368" cy="4114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E</a:t>
            </a:r>
            <a:endParaRPr lang="en-US" sz="2200" dirty="0"/>
          </a:p>
        </p:txBody>
      </p:sp>
      <p:sp>
        <p:nvSpPr>
          <p:cNvPr id="27" name="Text 25"/>
          <p:cNvSpPr txBox="1"/>
          <p:nvPr/>
        </p:nvSpPr>
        <p:spPr>
          <a:xfrm>
            <a:off x="5440680" y="3840480"/>
            <a:ext cx="2194560" cy="32004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Environnemental</a:t>
            </a:r>
            <a:endParaRPr lang="en-US" sz="1500" dirty="0"/>
          </a:p>
        </p:txBody>
      </p:sp>
      <p:sp>
        <p:nvSpPr>
          <p:cNvPr id="28" name="Text 26"/>
          <p:cNvSpPr txBox="1"/>
          <p:nvPr/>
        </p:nvSpPr>
        <p:spPr>
          <a:xfrm>
            <a:off x="5440680" y="4178808"/>
            <a:ext cx="2240280" cy="640080"/>
          </a:xfrm>
          <a:prstGeom prst="rect">
            <a:avLst/>
          </a:prstGeom>
          <a:noFill/>
          <a:ln/>
        </p:spPr>
        <p:txBody>
          <a:bodyPr wrap="square" lIns="0" tIns="0" rIns="0" bIns="0" rtlCol="0" anchor="ctr"/>
          <a:lstStyle/>
          <a:p>
            <a:pPr marL="0" indent="0">
              <a:buNone/>
            </a:pPr>
            <a:r>
              <a:rPr lang="en-US" sz="1150" dirty="0">
                <a:solidFill>
                  <a:srgbClr val="5A6472"/>
                </a:solidFill>
                <a:latin typeface="Calibri" pitchFamily="34" charset="0"/>
                <a:ea typeface="Calibri" pitchFamily="34" charset="-122"/>
                <a:cs typeface="Calibri" pitchFamily="34" charset="-120"/>
              </a:rPr>
              <a:t>Non exploitable avec ces données</a:t>
            </a:r>
            <a:endParaRPr lang="en-US" sz="1150" dirty="0"/>
          </a:p>
        </p:txBody>
      </p:sp>
      <p:sp>
        <p:nvSpPr>
          <p:cNvPr id="29" name="Shape 27"/>
          <p:cNvSpPr/>
          <p:nvPr/>
        </p:nvSpPr>
        <p:spPr>
          <a:xfrm>
            <a:off x="8138160" y="3520440"/>
            <a:ext cx="3429000" cy="1463040"/>
          </a:xfrm>
          <a:prstGeom prst="roundRect">
            <a:avLst>
              <a:gd name="adj" fmla="val 3750"/>
            </a:avLst>
          </a:prstGeom>
          <a:solidFill>
            <a:srgbClr val="EEF1F5"/>
          </a:solidFill>
          <a:ln w="12700">
            <a:solidFill>
              <a:srgbClr val="EEF1F5"/>
            </a:solidFill>
            <a:prstDash val="solid"/>
          </a:ln>
        </p:spPr>
      </p:sp>
      <p:sp>
        <p:nvSpPr>
          <p:cNvPr id="30" name="Shape 28"/>
          <p:cNvSpPr/>
          <p:nvPr/>
        </p:nvSpPr>
        <p:spPr>
          <a:xfrm>
            <a:off x="8394192" y="3904488"/>
            <a:ext cx="658368" cy="658368"/>
          </a:xfrm>
          <a:prstGeom prst="ellipse">
            <a:avLst/>
          </a:prstGeom>
          <a:solidFill>
            <a:srgbClr val="8562A8"/>
          </a:solidFill>
          <a:ln w="12700">
            <a:solidFill>
              <a:srgbClr val="8562A8"/>
            </a:solidFill>
            <a:prstDash val="solid"/>
          </a:ln>
        </p:spPr>
      </p:sp>
      <p:sp>
        <p:nvSpPr>
          <p:cNvPr id="31" name="Text 29"/>
          <p:cNvSpPr txBox="1"/>
          <p:nvPr/>
        </p:nvSpPr>
        <p:spPr>
          <a:xfrm>
            <a:off x="8394192" y="4014216"/>
            <a:ext cx="658368" cy="4114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L</a:t>
            </a:r>
            <a:endParaRPr lang="en-US" sz="2200" dirty="0"/>
          </a:p>
        </p:txBody>
      </p:sp>
      <p:sp>
        <p:nvSpPr>
          <p:cNvPr id="32" name="Text 30"/>
          <p:cNvSpPr txBox="1"/>
          <p:nvPr/>
        </p:nvSpPr>
        <p:spPr>
          <a:xfrm>
            <a:off x="9189720" y="3840480"/>
            <a:ext cx="2194560" cy="32004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Légal</a:t>
            </a:r>
            <a:endParaRPr lang="en-US" sz="1500" dirty="0"/>
          </a:p>
        </p:txBody>
      </p:sp>
      <p:sp>
        <p:nvSpPr>
          <p:cNvPr id="33" name="Text 31"/>
          <p:cNvSpPr txBox="1"/>
          <p:nvPr/>
        </p:nvSpPr>
        <p:spPr>
          <a:xfrm>
            <a:off x="9189720" y="4178808"/>
            <a:ext cx="2240280" cy="640080"/>
          </a:xfrm>
          <a:prstGeom prst="rect">
            <a:avLst/>
          </a:prstGeom>
          <a:noFill/>
          <a:ln/>
        </p:spPr>
        <p:txBody>
          <a:bodyPr wrap="square" lIns="0" tIns="0" rIns="0" bIns="0" rtlCol="0" anchor="ctr"/>
          <a:lstStyle/>
          <a:p>
            <a:pPr marL="0" indent="0">
              <a:buNone/>
            </a:pPr>
            <a:r>
              <a:rPr lang="en-US" sz="1150" dirty="0">
                <a:solidFill>
                  <a:srgbClr val="5A6472"/>
                </a:solidFill>
                <a:latin typeface="Calibri" pitchFamily="34" charset="0"/>
                <a:ea typeface="Calibri" pitchFamily="34" charset="-122"/>
                <a:cs typeface="Calibri" pitchFamily="34" charset="-120"/>
              </a:rPr>
              <a:t>Ouverture aux importations</a:t>
            </a:r>
            <a:endParaRPr lang="en-US" sz="1150" dirty="0"/>
          </a:p>
        </p:txBody>
      </p:sp>
      <p:sp>
        <p:nvSpPr>
          <p:cNvPr id="34" name="Text 32"/>
          <p:cNvSpPr txBox="1"/>
          <p:nvPr/>
        </p:nvSpPr>
        <p:spPr>
          <a:xfrm>
            <a:off x="640080" y="5394960"/>
            <a:ext cx="10881360" cy="548640"/>
          </a:xfrm>
          <a:prstGeom prst="rect">
            <a:avLst/>
          </a:prstGeom>
          <a:noFill/>
          <a:ln/>
        </p:spPr>
        <p:txBody>
          <a:bodyPr wrap="square" lIns="0" tIns="0" rIns="0" bIns="0" rtlCol="0" anchor="ctr"/>
          <a:lstStyle/>
          <a:p>
            <a:pPr marL="0" indent="0">
              <a:buNone/>
            </a:pPr>
            <a:r>
              <a:rPr lang="en-US" sz="1400" i="1" dirty="0">
                <a:solidFill>
                  <a:srgbClr val="1E2761"/>
                </a:solidFill>
                <a:latin typeface="Calibri" pitchFamily="34" charset="0"/>
                <a:ea typeface="Calibri" pitchFamily="34" charset="-122"/>
                <a:cs typeface="Calibri" pitchFamily="34" charset="-120"/>
              </a:rPr>
              <a:t>Sans cette grille, on aurait retenu huit variables alimentaires et l'analyse aurait dit une évidence : quels pays mangent du poulet.</a:t>
            </a:r>
            <a:endParaRPr lang="en-US" sz="1400" dirty="0"/>
          </a:p>
        </p:txBody>
      </p:sp>
      <p:sp>
        <p:nvSpPr>
          <p:cNvPr id="36" name="Text 33"/>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A8B0B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731520"/>
          </a:xfrm>
          <a:prstGeom prst="rect">
            <a:avLst/>
          </a:prstGeom>
          <a:noFill/>
          <a:ln/>
        </p:spPr>
        <p:txBody>
          <a:bodyPr wrap="square" lIns="0" tIns="0" rIns="0" bIns="0" rtlCol="0" anchor="ctr"/>
          <a:lstStyle/>
          <a:p>
            <a:pPr marL="0" indent="0" algn="l">
              <a:buNone/>
            </a:pPr>
            <a:r>
              <a:rPr lang="en-US" sz="3000" b="1" dirty="0">
                <a:solidFill>
                  <a:srgbClr val="1E2761"/>
                </a:solidFill>
                <a:latin typeface="Calibri" pitchFamily="34" charset="0"/>
                <a:ea typeface="Calibri" pitchFamily="34" charset="-122"/>
                <a:cs typeface="Calibri" pitchFamily="34" charset="-120"/>
              </a:rPr>
              <a:t>Quatre variables que les données ne contenaient pas</a:t>
            </a:r>
            <a:endParaRPr lang="en-US" sz="3000" dirty="0"/>
          </a:p>
        </p:txBody>
      </p:sp>
      <p:sp>
        <p:nvSpPr>
          <p:cNvPr id="3" name="Text 1"/>
          <p:cNvSpPr txBox="1"/>
          <p:nvPr/>
        </p:nvSpPr>
        <p:spPr>
          <a:xfrm>
            <a:off x="640080" y="1078992"/>
            <a:ext cx="10881360" cy="41148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Une valeur brute ne dit rien sans son contexte</a:t>
            </a:r>
            <a:endParaRPr lang="en-US" sz="1400" dirty="0"/>
          </a:p>
        </p:txBody>
      </p:sp>
      <p:sp>
        <p:nvSpPr>
          <p:cNvPr id="4" name="Shape 2"/>
          <p:cNvSpPr/>
          <p:nvPr/>
        </p:nvSpPr>
        <p:spPr>
          <a:xfrm>
            <a:off x="640080" y="1783080"/>
            <a:ext cx="5120640" cy="1371600"/>
          </a:xfrm>
          <a:prstGeom prst="roundRect">
            <a:avLst>
              <a:gd name="adj" fmla="val 4000"/>
            </a:avLst>
          </a:prstGeom>
          <a:solidFill>
            <a:srgbClr val="EEF1F5"/>
          </a:solidFill>
          <a:ln w="12700">
            <a:solidFill>
              <a:srgbClr val="EEF1F5"/>
            </a:solidFill>
            <a:prstDash val="solid"/>
          </a:ln>
        </p:spPr>
      </p:sp>
      <p:sp>
        <p:nvSpPr>
          <p:cNvPr id="5" name="Text 3"/>
          <p:cNvSpPr txBox="1"/>
          <p:nvPr/>
        </p:nvSpPr>
        <p:spPr>
          <a:xfrm>
            <a:off x="914400" y="2011680"/>
            <a:ext cx="4572000" cy="457200"/>
          </a:xfrm>
          <a:prstGeom prst="rect">
            <a:avLst/>
          </a:prstGeom>
          <a:noFill/>
          <a:ln/>
        </p:spPr>
        <p:txBody>
          <a:bodyPr wrap="square" lIns="0" tIns="0" rIns="0" bIns="0" rtlCol="0" anchor="ctr"/>
          <a:lstStyle/>
          <a:p>
            <a:pPr marL="0" indent="0">
              <a:buNone/>
            </a:pPr>
            <a:r>
              <a:rPr lang="en-US" sz="1500" i="1" dirty="0">
                <a:solidFill>
                  <a:srgbClr val="5A6472"/>
                </a:solidFill>
                <a:latin typeface="Calibri" pitchFamily="34" charset="0"/>
                <a:ea typeface="Calibri" pitchFamily="34" charset="-122"/>
                <a:cs typeface="Calibri" pitchFamily="34" charset="-120"/>
              </a:rPr>
              <a:t>« Ce pays importe 500 000 tonnes de volaille »</a:t>
            </a:r>
            <a:endParaRPr lang="en-US" sz="1500" dirty="0"/>
          </a:p>
        </p:txBody>
      </p:sp>
      <p:sp>
        <p:nvSpPr>
          <p:cNvPr id="6" name="Text 4"/>
          <p:cNvSpPr txBox="1"/>
          <p:nvPr/>
        </p:nvSpPr>
        <p:spPr>
          <a:xfrm>
            <a:off x="914400" y="2514600"/>
            <a:ext cx="4572000" cy="365760"/>
          </a:xfrm>
          <a:prstGeom prst="rect">
            <a:avLst/>
          </a:prstGeom>
          <a:noFill/>
          <a:ln/>
        </p:spPr>
        <p:txBody>
          <a:bodyPr wrap="square" lIns="0" tIns="0" rIns="0" bIns="0" rtlCol="0" anchor="ctr"/>
          <a:lstStyle/>
          <a:p>
            <a:pPr marL="0" indent="0">
              <a:buNone/>
            </a:pPr>
            <a:r>
              <a:rPr lang="en-US" sz="1300" b="1" dirty="0">
                <a:solidFill>
                  <a:srgbClr val="B5485D"/>
                </a:solidFill>
                <a:latin typeface="Calibri" pitchFamily="34" charset="0"/>
                <a:ea typeface="Calibri" pitchFamily="34" charset="-122"/>
                <a:cs typeface="Calibri" pitchFamily="34" charset="-120"/>
              </a:rPr>
              <a:t>Beaucoup ou peu ? Impossible à trancher.</a:t>
            </a:r>
            <a:endParaRPr lang="en-US" sz="1300" dirty="0"/>
          </a:p>
        </p:txBody>
      </p:sp>
      <p:sp>
        <p:nvSpPr>
          <p:cNvPr id="7" name="Shape 5"/>
          <p:cNvSpPr/>
          <p:nvPr/>
        </p:nvSpPr>
        <p:spPr>
          <a:xfrm>
            <a:off x="6400800" y="1783080"/>
            <a:ext cx="5120640" cy="1371600"/>
          </a:xfrm>
          <a:prstGeom prst="roundRect">
            <a:avLst>
              <a:gd name="adj" fmla="val 4000"/>
            </a:avLst>
          </a:prstGeom>
          <a:solidFill>
            <a:srgbClr val="1E2761"/>
          </a:solidFill>
          <a:ln w="12700">
            <a:solidFill>
              <a:srgbClr val="1E2761"/>
            </a:solidFill>
            <a:prstDash val="solid"/>
          </a:ln>
        </p:spPr>
      </p:sp>
      <p:sp>
        <p:nvSpPr>
          <p:cNvPr id="8" name="Text 6"/>
          <p:cNvSpPr txBox="1"/>
          <p:nvPr/>
        </p:nvSpPr>
        <p:spPr>
          <a:xfrm>
            <a:off x="6675120" y="2011680"/>
            <a:ext cx="4572000" cy="457200"/>
          </a:xfrm>
          <a:prstGeom prst="rect">
            <a:avLst/>
          </a:prstGeom>
          <a:noFill/>
          <a:ln/>
        </p:spPr>
        <p:txBody>
          <a:bodyPr wrap="square" lIns="0" tIns="0" rIns="0" bIns="0"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 Ce pays importe 45 % de sa volaille »</a:t>
            </a:r>
            <a:endParaRPr lang="en-US" sz="1500" dirty="0"/>
          </a:p>
        </p:txBody>
      </p:sp>
      <p:sp>
        <p:nvSpPr>
          <p:cNvPr id="9" name="Text 7"/>
          <p:cNvSpPr txBox="1"/>
          <p:nvPr/>
        </p:nvSpPr>
        <p:spPr>
          <a:xfrm>
            <a:off x="6675120" y="2514600"/>
            <a:ext cx="45720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Là, l'information est exploitable.</a:t>
            </a:r>
            <a:endParaRPr lang="en-US" sz="1300" dirty="0"/>
          </a:p>
        </p:txBody>
      </p:sp>
      <p:sp>
        <p:nvSpPr>
          <p:cNvPr id="10" name="Shape 8"/>
          <p:cNvSpPr/>
          <p:nvPr/>
        </p:nvSpPr>
        <p:spPr>
          <a:xfrm>
            <a:off x="640080" y="3557016"/>
            <a:ext cx="274320" cy="274320"/>
          </a:xfrm>
          <a:prstGeom prst="ellipse">
            <a:avLst/>
          </a:prstGeom>
          <a:solidFill>
            <a:srgbClr val="E07A3F"/>
          </a:solidFill>
          <a:ln w="12700">
            <a:solidFill>
              <a:srgbClr val="E07A3F"/>
            </a:solidFill>
            <a:prstDash val="solid"/>
          </a:ln>
        </p:spPr>
      </p:sp>
      <p:sp>
        <p:nvSpPr>
          <p:cNvPr id="11" name="Text 9"/>
          <p:cNvSpPr txBox="1"/>
          <p:nvPr/>
        </p:nvSpPr>
        <p:spPr>
          <a:xfrm>
            <a:off x="1097280" y="3429000"/>
            <a:ext cx="3200400"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Dépendance aux importations</a:t>
            </a:r>
            <a:endParaRPr lang="en-US" sz="1400" dirty="0"/>
          </a:p>
        </p:txBody>
      </p:sp>
      <p:sp>
        <p:nvSpPr>
          <p:cNvPr id="12" name="Text 10"/>
          <p:cNvSpPr txBox="1"/>
          <p:nvPr/>
        </p:nvSpPr>
        <p:spPr>
          <a:xfrm>
            <a:off x="4389120" y="3429000"/>
            <a:ext cx="3657600" cy="365760"/>
          </a:xfrm>
          <a:prstGeom prst="rect">
            <a:avLst/>
          </a:prstGeom>
          <a:noFill/>
          <a:ln/>
        </p:spPr>
        <p:txBody>
          <a:bodyPr wrap="square" lIns="0" tIns="0" rIns="0" bIns="0" rtlCol="0" anchor="ctr"/>
          <a:lstStyle/>
          <a:p>
            <a:pPr marL="0" indent="0">
              <a:buNone/>
            </a:pPr>
            <a:r>
              <a:rPr lang="en-US" sz="1200" i="1" dirty="0">
                <a:solidFill>
                  <a:srgbClr val="5A6472"/>
                </a:solidFill>
                <a:latin typeface="Calibri" pitchFamily="34" charset="0"/>
                <a:ea typeface="Calibri" pitchFamily="34" charset="-122"/>
                <a:cs typeface="Calibri" pitchFamily="34" charset="-120"/>
              </a:rPr>
              <a:t>importations / consommation intérieure</a:t>
            </a:r>
            <a:endParaRPr lang="en-US" sz="1200" dirty="0"/>
          </a:p>
        </p:txBody>
      </p:sp>
      <p:sp>
        <p:nvSpPr>
          <p:cNvPr id="13" name="Text 11"/>
          <p:cNvSpPr txBox="1"/>
          <p:nvPr/>
        </p:nvSpPr>
        <p:spPr>
          <a:xfrm>
            <a:off x="8138160" y="3429000"/>
            <a:ext cx="3474720" cy="365760"/>
          </a:xfrm>
          <a:prstGeom prst="rect">
            <a:avLst/>
          </a:prstGeom>
          <a:noFill/>
          <a:ln/>
        </p:spPr>
        <p:txBody>
          <a:bodyPr wrap="square" lIns="0" tIns="0" rIns="0" bIns="0" rtlCol="0" anchor="ctr"/>
          <a:lstStyle/>
          <a:p>
            <a:pPr marL="0" indent="0">
              <a:buNone/>
            </a:pPr>
            <a:r>
              <a:rPr lang="en-US" sz="1200" b="1" dirty="0">
                <a:solidFill>
                  <a:srgbClr val="E07A3F"/>
                </a:solidFill>
                <a:latin typeface="Calibri" pitchFamily="34" charset="0"/>
                <a:ea typeface="Calibri" pitchFamily="34" charset="-122"/>
                <a:cs typeface="Calibri" pitchFamily="34" charset="-120"/>
              </a:rPr>
              <a:t>La variable la plus décisive de l'étude</a:t>
            </a:r>
            <a:endParaRPr lang="en-US" sz="1200" dirty="0"/>
          </a:p>
        </p:txBody>
      </p:sp>
      <p:sp>
        <p:nvSpPr>
          <p:cNvPr id="14" name="Shape 12"/>
          <p:cNvSpPr/>
          <p:nvPr/>
        </p:nvSpPr>
        <p:spPr>
          <a:xfrm>
            <a:off x="640080" y="4270248"/>
            <a:ext cx="274320" cy="274320"/>
          </a:xfrm>
          <a:prstGeom prst="ellipse">
            <a:avLst/>
          </a:prstGeom>
          <a:solidFill>
            <a:srgbClr val="CADCFC"/>
          </a:solidFill>
          <a:ln w="12700">
            <a:solidFill>
              <a:srgbClr val="CADCFC"/>
            </a:solidFill>
            <a:prstDash val="solid"/>
          </a:ln>
        </p:spPr>
      </p:sp>
      <p:sp>
        <p:nvSpPr>
          <p:cNvPr id="15" name="Text 13"/>
          <p:cNvSpPr txBox="1"/>
          <p:nvPr/>
        </p:nvSpPr>
        <p:spPr>
          <a:xfrm>
            <a:off x="1097280" y="4142232"/>
            <a:ext cx="3200400"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Taux d'autosuffisance</a:t>
            </a:r>
            <a:endParaRPr lang="en-US" sz="1400" dirty="0"/>
          </a:p>
        </p:txBody>
      </p:sp>
      <p:sp>
        <p:nvSpPr>
          <p:cNvPr id="16" name="Text 14"/>
          <p:cNvSpPr txBox="1"/>
          <p:nvPr/>
        </p:nvSpPr>
        <p:spPr>
          <a:xfrm>
            <a:off x="4389120" y="4142232"/>
            <a:ext cx="3657600" cy="365760"/>
          </a:xfrm>
          <a:prstGeom prst="rect">
            <a:avLst/>
          </a:prstGeom>
          <a:noFill/>
          <a:ln/>
        </p:spPr>
        <p:txBody>
          <a:bodyPr wrap="square" lIns="0" tIns="0" rIns="0" bIns="0" rtlCol="0" anchor="ctr"/>
          <a:lstStyle/>
          <a:p>
            <a:pPr marL="0" indent="0">
              <a:buNone/>
            </a:pPr>
            <a:r>
              <a:rPr lang="en-US" sz="1200" i="1" dirty="0">
                <a:solidFill>
                  <a:srgbClr val="5A6472"/>
                </a:solidFill>
                <a:latin typeface="Calibri" pitchFamily="34" charset="0"/>
                <a:ea typeface="Calibri" pitchFamily="34" charset="-122"/>
                <a:cs typeface="Calibri" pitchFamily="34" charset="-120"/>
              </a:rPr>
              <a:t>production locale / consommation intérieure</a:t>
            </a:r>
            <a:endParaRPr lang="en-US" sz="1200" dirty="0"/>
          </a:p>
        </p:txBody>
      </p:sp>
      <p:sp>
        <p:nvSpPr>
          <p:cNvPr id="17" name="Text 15"/>
          <p:cNvSpPr txBox="1"/>
          <p:nvPr/>
        </p:nvSpPr>
        <p:spPr>
          <a:xfrm>
            <a:off x="8138160" y="4142232"/>
            <a:ext cx="3474720" cy="365760"/>
          </a:xfrm>
          <a:prstGeom prst="rect">
            <a:avLst/>
          </a:prstGeom>
          <a:noFill/>
          <a:ln/>
        </p:spPr>
        <p:txBody>
          <a:bodyPr wrap="square" lIns="0" tIns="0" rIns="0" bIns="0" rtlCol="0" anchor="ctr"/>
          <a:lstStyle/>
          <a:p>
            <a:pPr marL="0" indent="0">
              <a:buNone/>
            </a:pPr>
            <a:r>
              <a:rPr lang="en-US" sz="1200" dirty="0">
                <a:solidFill>
                  <a:srgbClr val="5A6472"/>
                </a:solidFill>
                <a:latin typeface="Calibri" pitchFamily="34" charset="0"/>
                <a:ea typeface="Calibri" pitchFamily="34" charset="-122"/>
                <a:cs typeface="Calibri" pitchFamily="34" charset="-120"/>
              </a:rPr>
              <a:t>Mesure la barrière à l'entrée</a:t>
            </a:r>
            <a:endParaRPr lang="en-US" sz="1200" dirty="0"/>
          </a:p>
        </p:txBody>
      </p:sp>
      <p:sp>
        <p:nvSpPr>
          <p:cNvPr id="18" name="Shape 16"/>
          <p:cNvSpPr/>
          <p:nvPr/>
        </p:nvSpPr>
        <p:spPr>
          <a:xfrm>
            <a:off x="640080" y="4983480"/>
            <a:ext cx="274320" cy="274320"/>
          </a:xfrm>
          <a:prstGeom prst="ellipse">
            <a:avLst/>
          </a:prstGeom>
          <a:solidFill>
            <a:srgbClr val="CADCFC"/>
          </a:solidFill>
          <a:ln w="12700">
            <a:solidFill>
              <a:srgbClr val="CADCFC"/>
            </a:solidFill>
            <a:prstDash val="solid"/>
          </a:ln>
        </p:spPr>
      </p:sp>
      <p:sp>
        <p:nvSpPr>
          <p:cNvPr id="19" name="Text 17"/>
          <p:cNvSpPr txBox="1"/>
          <p:nvPr/>
        </p:nvSpPr>
        <p:spPr>
          <a:xfrm>
            <a:off x="1097280" y="4855464"/>
            <a:ext cx="3200400"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Croissance démographique</a:t>
            </a:r>
            <a:endParaRPr lang="en-US" sz="1400" dirty="0"/>
          </a:p>
        </p:txBody>
      </p:sp>
      <p:sp>
        <p:nvSpPr>
          <p:cNvPr id="20" name="Text 18"/>
          <p:cNvSpPr txBox="1"/>
          <p:nvPr/>
        </p:nvSpPr>
        <p:spPr>
          <a:xfrm>
            <a:off x="4389120" y="4855464"/>
            <a:ext cx="3657600" cy="365760"/>
          </a:xfrm>
          <a:prstGeom prst="rect">
            <a:avLst/>
          </a:prstGeom>
          <a:noFill/>
          <a:ln/>
        </p:spPr>
        <p:txBody>
          <a:bodyPr wrap="square" lIns="0" tIns="0" rIns="0" bIns="0" rtlCol="0" anchor="ctr"/>
          <a:lstStyle/>
          <a:p>
            <a:pPr marL="0" indent="0">
              <a:buNone/>
            </a:pPr>
            <a:r>
              <a:rPr lang="en-US" sz="1200" i="1" dirty="0">
                <a:solidFill>
                  <a:srgbClr val="5A6472"/>
                </a:solidFill>
                <a:latin typeface="Calibri" pitchFamily="34" charset="0"/>
                <a:ea typeface="Calibri" pitchFamily="34" charset="-122"/>
                <a:cs typeface="Calibri" pitchFamily="34" charset="-120"/>
              </a:rPr>
              <a:t>population 2018 / population 2010</a:t>
            </a:r>
            <a:endParaRPr lang="en-US" sz="1200" dirty="0"/>
          </a:p>
        </p:txBody>
      </p:sp>
      <p:sp>
        <p:nvSpPr>
          <p:cNvPr id="21" name="Text 19"/>
          <p:cNvSpPr txBox="1"/>
          <p:nvPr/>
        </p:nvSpPr>
        <p:spPr>
          <a:xfrm>
            <a:off x="8138160" y="4855464"/>
            <a:ext cx="3474720" cy="365760"/>
          </a:xfrm>
          <a:prstGeom prst="rect">
            <a:avLst/>
          </a:prstGeom>
          <a:noFill/>
          <a:ln/>
        </p:spPr>
        <p:txBody>
          <a:bodyPr wrap="square" lIns="0" tIns="0" rIns="0" bIns="0" rtlCol="0" anchor="ctr"/>
          <a:lstStyle/>
          <a:p>
            <a:pPr marL="0" indent="0">
              <a:buNone/>
            </a:pPr>
            <a:r>
              <a:rPr lang="en-US" sz="1200" dirty="0">
                <a:solidFill>
                  <a:srgbClr val="5A6472"/>
                </a:solidFill>
                <a:latin typeface="Calibri" pitchFamily="34" charset="0"/>
                <a:ea typeface="Calibri" pitchFamily="34" charset="-122"/>
                <a:cs typeface="Calibri" pitchFamily="34" charset="-120"/>
              </a:rPr>
              <a:t>Le marché de demain, pas celui d'aujourd'hui</a:t>
            </a:r>
            <a:endParaRPr lang="en-US" sz="1200" dirty="0"/>
          </a:p>
        </p:txBody>
      </p:sp>
      <p:sp>
        <p:nvSpPr>
          <p:cNvPr id="22" name="Shape 20"/>
          <p:cNvSpPr/>
          <p:nvPr/>
        </p:nvSpPr>
        <p:spPr>
          <a:xfrm>
            <a:off x="640080" y="5696712"/>
            <a:ext cx="274320" cy="274320"/>
          </a:xfrm>
          <a:prstGeom prst="ellipse">
            <a:avLst/>
          </a:prstGeom>
          <a:solidFill>
            <a:srgbClr val="CADCFC"/>
          </a:solidFill>
          <a:ln w="12700">
            <a:solidFill>
              <a:srgbClr val="CADCFC"/>
            </a:solidFill>
            <a:prstDash val="solid"/>
          </a:ln>
        </p:spPr>
      </p:sp>
      <p:sp>
        <p:nvSpPr>
          <p:cNvPr id="23" name="Text 21"/>
          <p:cNvSpPr txBox="1"/>
          <p:nvPr/>
        </p:nvSpPr>
        <p:spPr>
          <a:xfrm>
            <a:off x="1097280" y="5568696"/>
            <a:ext cx="3200400"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Part de protéines animales</a:t>
            </a:r>
            <a:endParaRPr lang="en-US" sz="1400" dirty="0"/>
          </a:p>
        </p:txBody>
      </p:sp>
      <p:sp>
        <p:nvSpPr>
          <p:cNvPr id="24" name="Text 22"/>
          <p:cNvSpPr txBox="1"/>
          <p:nvPr/>
        </p:nvSpPr>
        <p:spPr>
          <a:xfrm>
            <a:off x="4389120" y="5568696"/>
            <a:ext cx="3657600" cy="365760"/>
          </a:xfrm>
          <a:prstGeom prst="rect">
            <a:avLst/>
          </a:prstGeom>
          <a:noFill/>
          <a:ln/>
        </p:spPr>
        <p:txBody>
          <a:bodyPr wrap="square" lIns="0" tIns="0" rIns="0" bIns="0" rtlCol="0" anchor="ctr"/>
          <a:lstStyle/>
          <a:p>
            <a:pPr marL="0" indent="0">
              <a:buNone/>
            </a:pPr>
            <a:r>
              <a:rPr lang="en-US" sz="1200" i="1" dirty="0">
                <a:solidFill>
                  <a:srgbClr val="5A6472"/>
                </a:solidFill>
                <a:latin typeface="Calibri" pitchFamily="34" charset="0"/>
                <a:ea typeface="Calibri" pitchFamily="34" charset="-122"/>
                <a:cs typeface="Calibri" pitchFamily="34" charset="-120"/>
              </a:rPr>
              <a:t>protéines animales / protéines totales</a:t>
            </a:r>
            <a:endParaRPr lang="en-US" sz="1200" dirty="0"/>
          </a:p>
        </p:txBody>
      </p:sp>
      <p:sp>
        <p:nvSpPr>
          <p:cNvPr id="25" name="Text 23"/>
          <p:cNvSpPr txBox="1"/>
          <p:nvPr/>
        </p:nvSpPr>
        <p:spPr>
          <a:xfrm>
            <a:off x="8138160" y="5568696"/>
            <a:ext cx="3474720" cy="365760"/>
          </a:xfrm>
          <a:prstGeom prst="rect">
            <a:avLst/>
          </a:prstGeom>
          <a:noFill/>
          <a:ln/>
        </p:spPr>
        <p:txBody>
          <a:bodyPr wrap="square" lIns="0" tIns="0" rIns="0" bIns="0" rtlCol="0" anchor="ctr"/>
          <a:lstStyle/>
          <a:p>
            <a:pPr marL="0" indent="0">
              <a:buNone/>
            </a:pPr>
            <a:r>
              <a:rPr lang="en-US" sz="1200" dirty="0">
                <a:solidFill>
                  <a:srgbClr val="5A6472"/>
                </a:solidFill>
                <a:latin typeface="Calibri" pitchFamily="34" charset="0"/>
                <a:ea typeface="Calibri" pitchFamily="34" charset="-122"/>
                <a:cs typeface="Calibri" pitchFamily="34" charset="-120"/>
              </a:rPr>
              <a:t>L'habitude culturelle de manger de la viande</a:t>
            </a:r>
            <a:endParaRPr lang="en-US" sz="1200" dirty="0"/>
          </a:p>
        </p:txBody>
      </p:sp>
      <p:sp>
        <p:nvSpPr>
          <p:cNvPr id="27" name="Text 24"/>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A8B0BC"/>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Le jeu de données final</a:t>
            </a:r>
            <a:endParaRPr lang="en-US" sz="3000" dirty="0"/>
          </a:p>
        </p:txBody>
      </p:sp>
      <p:sp>
        <p:nvSpPr>
          <p:cNvPr id="3" name="Text 1"/>
          <p:cNvSpPr txBox="1"/>
          <p:nvPr/>
        </p:nvSpPr>
        <p:spPr>
          <a:xfrm>
            <a:off x="640080" y="1078992"/>
            <a:ext cx="10881360" cy="365760"/>
          </a:xfrm>
          <a:prstGeom prst="rect">
            <a:avLst/>
          </a:prstGeom>
          <a:noFill/>
          <a:ln/>
        </p:spPr>
        <p:txBody>
          <a:bodyPr wrap="square" lIns="0" tIns="0" rIns="0" bIns="0" rtlCol="0" anchor="ctr"/>
          <a:lstStyle/>
          <a:p>
            <a:pPr marL="0" indent="0">
              <a:buNone/>
            </a:pPr>
            <a:r>
              <a:rPr lang="en-US" sz="1400" i="1" dirty="0">
                <a:solidFill>
                  <a:srgbClr val="CADCFC"/>
                </a:solidFill>
                <a:latin typeface="Calibri" pitchFamily="34" charset="0"/>
                <a:ea typeface="Calibri" pitchFamily="34" charset="-122"/>
                <a:cs typeface="Calibri" pitchFamily="34" charset="-120"/>
              </a:rPr>
              <a:t>Toutes les exigences du cahier des charges sont respectées</a:t>
            </a:r>
            <a:endParaRPr lang="en-US" sz="1400" dirty="0"/>
          </a:p>
        </p:txBody>
      </p:sp>
      <p:sp>
        <p:nvSpPr>
          <p:cNvPr id="4" name="Shape 2"/>
          <p:cNvSpPr/>
          <p:nvPr/>
        </p:nvSpPr>
        <p:spPr>
          <a:xfrm>
            <a:off x="640080" y="2103120"/>
            <a:ext cx="2514600" cy="2286000"/>
          </a:xfrm>
          <a:prstGeom prst="roundRect">
            <a:avLst>
              <a:gd name="adj" fmla="val 2400"/>
            </a:avLst>
          </a:prstGeom>
          <a:solidFill>
            <a:srgbClr val="2A3670"/>
          </a:solidFill>
          <a:ln w="12700">
            <a:solidFill>
              <a:srgbClr val="2A3670"/>
            </a:solidFill>
            <a:prstDash val="solid"/>
          </a:ln>
        </p:spPr>
      </p:sp>
      <p:sp>
        <p:nvSpPr>
          <p:cNvPr id="5" name="Text 3"/>
          <p:cNvSpPr txBox="1"/>
          <p:nvPr/>
        </p:nvSpPr>
        <p:spPr>
          <a:xfrm>
            <a:off x="640080" y="2377440"/>
            <a:ext cx="2514600" cy="82296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164</a:t>
            </a:r>
            <a:endParaRPr lang="en-US" sz="4000" dirty="0"/>
          </a:p>
        </p:txBody>
      </p:sp>
      <p:sp>
        <p:nvSpPr>
          <p:cNvPr id="6" name="Text 4"/>
          <p:cNvSpPr txBox="1"/>
          <p:nvPr/>
        </p:nvSpPr>
        <p:spPr>
          <a:xfrm>
            <a:off x="777240" y="3200400"/>
            <a:ext cx="2240280" cy="548640"/>
          </a:xfrm>
          <a:prstGeom prst="rect">
            <a:avLst/>
          </a:prstGeom>
          <a:noFill/>
          <a:ln/>
        </p:spPr>
        <p:txBody>
          <a:bodyPr wrap="square" lIns="0" tIns="0" rIns="0" bIns="0" rtlCol="0" anchor="ctr"/>
          <a:lstStyle/>
          <a:p>
            <a:pPr marL="0" indent="0" algn="ctr">
              <a:buNone/>
            </a:pPr>
            <a:r>
              <a:rPr lang="en-US" sz="1300" dirty="0">
                <a:solidFill>
                  <a:srgbClr val="CADCFC"/>
                </a:solidFill>
                <a:latin typeface="Calibri" pitchFamily="34" charset="0"/>
                <a:ea typeface="Calibri" pitchFamily="34" charset="-122"/>
                <a:cs typeface="Calibri" pitchFamily="34" charset="-120"/>
              </a:rPr>
              <a:t>pays analysés</a:t>
            </a:r>
            <a:endParaRPr lang="en-US" sz="1300" dirty="0"/>
          </a:p>
        </p:txBody>
      </p:sp>
      <p:sp>
        <p:nvSpPr>
          <p:cNvPr id="7" name="Text 5"/>
          <p:cNvSpPr txBox="1"/>
          <p:nvPr/>
        </p:nvSpPr>
        <p:spPr>
          <a:xfrm>
            <a:off x="777240" y="3794760"/>
            <a:ext cx="2240280" cy="365760"/>
          </a:xfrm>
          <a:prstGeom prst="rect">
            <a:avLst/>
          </a:prstGeom>
          <a:noFill/>
          <a:ln/>
        </p:spPr>
        <p:txBody>
          <a:bodyPr wrap="square" lIns="0" tIns="0" rIns="0" bIns="0" rtlCol="0" anchor="ctr"/>
          <a:lstStyle/>
          <a:p>
            <a:pPr marL="0" indent="0" algn="ctr">
              <a:buNone/>
            </a:pPr>
            <a:r>
              <a:rPr lang="en-US" sz="1050" dirty="0">
                <a:solidFill>
                  <a:srgbClr val="4A9D5F"/>
                </a:solidFill>
                <a:latin typeface="Calibri" pitchFamily="34" charset="0"/>
                <a:ea typeface="Calibri" pitchFamily="34" charset="-122"/>
                <a:cs typeface="Calibri" pitchFamily="34" charset="-120"/>
              </a:rPr>
              <a:t>minimum requis : 100</a:t>
            </a:r>
            <a:endParaRPr lang="en-US" sz="1050" dirty="0"/>
          </a:p>
        </p:txBody>
      </p:sp>
      <p:sp>
        <p:nvSpPr>
          <p:cNvPr id="8" name="Shape 6"/>
          <p:cNvSpPr/>
          <p:nvPr/>
        </p:nvSpPr>
        <p:spPr>
          <a:xfrm>
            <a:off x="3429000" y="2103120"/>
            <a:ext cx="2514600" cy="2286000"/>
          </a:xfrm>
          <a:prstGeom prst="roundRect">
            <a:avLst>
              <a:gd name="adj" fmla="val 2400"/>
            </a:avLst>
          </a:prstGeom>
          <a:solidFill>
            <a:srgbClr val="2A3670"/>
          </a:solidFill>
          <a:ln w="12700">
            <a:solidFill>
              <a:srgbClr val="2A3670"/>
            </a:solidFill>
            <a:prstDash val="solid"/>
          </a:ln>
        </p:spPr>
      </p:sp>
      <p:sp>
        <p:nvSpPr>
          <p:cNvPr id="9" name="Text 7"/>
          <p:cNvSpPr txBox="1"/>
          <p:nvPr/>
        </p:nvSpPr>
        <p:spPr>
          <a:xfrm>
            <a:off x="3429000" y="2377440"/>
            <a:ext cx="2514600" cy="82296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96,3 %</a:t>
            </a:r>
            <a:endParaRPr lang="en-US" sz="4000" dirty="0"/>
          </a:p>
        </p:txBody>
      </p:sp>
      <p:sp>
        <p:nvSpPr>
          <p:cNvPr id="10" name="Text 8"/>
          <p:cNvSpPr txBox="1"/>
          <p:nvPr/>
        </p:nvSpPr>
        <p:spPr>
          <a:xfrm>
            <a:off x="3566160" y="3200400"/>
            <a:ext cx="2240280" cy="548640"/>
          </a:xfrm>
          <a:prstGeom prst="rect">
            <a:avLst/>
          </a:prstGeom>
          <a:noFill/>
          <a:ln/>
        </p:spPr>
        <p:txBody>
          <a:bodyPr wrap="square" lIns="0" tIns="0" rIns="0" bIns="0" rtlCol="0" anchor="ctr"/>
          <a:lstStyle/>
          <a:p>
            <a:pPr marL="0" indent="0" algn="ctr">
              <a:buNone/>
            </a:pPr>
            <a:r>
              <a:rPr lang="en-US" sz="1300" dirty="0">
                <a:solidFill>
                  <a:srgbClr val="CADCFC"/>
                </a:solidFill>
                <a:latin typeface="Calibri" pitchFamily="34" charset="0"/>
                <a:ea typeface="Calibri" pitchFamily="34" charset="-122"/>
                <a:cs typeface="Calibri" pitchFamily="34" charset="-120"/>
              </a:rPr>
              <a:t>de la population mondiale</a:t>
            </a:r>
            <a:endParaRPr lang="en-US" sz="1300" dirty="0"/>
          </a:p>
        </p:txBody>
      </p:sp>
      <p:sp>
        <p:nvSpPr>
          <p:cNvPr id="11" name="Text 9"/>
          <p:cNvSpPr txBox="1"/>
          <p:nvPr/>
        </p:nvSpPr>
        <p:spPr>
          <a:xfrm>
            <a:off x="3566160" y="3794760"/>
            <a:ext cx="2240280" cy="365760"/>
          </a:xfrm>
          <a:prstGeom prst="rect">
            <a:avLst/>
          </a:prstGeom>
          <a:noFill/>
          <a:ln/>
        </p:spPr>
        <p:txBody>
          <a:bodyPr wrap="square" lIns="0" tIns="0" rIns="0" bIns="0" rtlCol="0" anchor="ctr"/>
          <a:lstStyle/>
          <a:p>
            <a:pPr marL="0" indent="0" algn="ctr">
              <a:buNone/>
            </a:pPr>
            <a:r>
              <a:rPr lang="en-US" sz="1050" dirty="0">
                <a:solidFill>
                  <a:srgbClr val="4A9D5F"/>
                </a:solidFill>
                <a:latin typeface="Calibri" pitchFamily="34" charset="0"/>
                <a:ea typeface="Calibri" pitchFamily="34" charset="-122"/>
                <a:cs typeface="Calibri" pitchFamily="34" charset="-120"/>
              </a:rPr>
              <a:t>minimum requis : 60 %</a:t>
            </a:r>
            <a:endParaRPr lang="en-US" sz="1050" dirty="0"/>
          </a:p>
        </p:txBody>
      </p:sp>
      <p:sp>
        <p:nvSpPr>
          <p:cNvPr id="12" name="Shape 10"/>
          <p:cNvSpPr/>
          <p:nvPr/>
        </p:nvSpPr>
        <p:spPr>
          <a:xfrm>
            <a:off x="6217920" y="2103120"/>
            <a:ext cx="2514600" cy="2286000"/>
          </a:xfrm>
          <a:prstGeom prst="roundRect">
            <a:avLst>
              <a:gd name="adj" fmla="val 2400"/>
            </a:avLst>
          </a:prstGeom>
          <a:solidFill>
            <a:srgbClr val="2A3670"/>
          </a:solidFill>
          <a:ln w="12700">
            <a:solidFill>
              <a:srgbClr val="2A3670"/>
            </a:solidFill>
            <a:prstDash val="solid"/>
          </a:ln>
        </p:spPr>
      </p:sp>
      <p:sp>
        <p:nvSpPr>
          <p:cNvPr id="13" name="Text 11"/>
          <p:cNvSpPr txBox="1"/>
          <p:nvPr/>
        </p:nvSpPr>
        <p:spPr>
          <a:xfrm>
            <a:off x="6217920" y="2377440"/>
            <a:ext cx="2514600" cy="82296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0</a:t>
            </a:r>
            <a:endParaRPr lang="en-US" sz="4000" dirty="0"/>
          </a:p>
        </p:txBody>
      </p:sp>
      <p:sp>
        <p:nvSpPr>
          <p:cNvPr id="14" name="Text 12"/>
          <p:cNvSpPr txBox="1"/>
          <p:nvPr/>
        </p:nvSpPr>
        <p:spPr>
          <a:xfrm>
            <a:off x="6355080" y="3200400"/>
            <a:ext cx="2240280" cy="548640"/>
          </a:xfrm>
          <a:prstGeom prst="rect">
            <a:avLst/>
          </a:prstGeom>
          <a:noFill/>
          <a:ln/>
        </p:spPr>
        <p:txBody>
          <a:bodyPr wrap="square" lIns="0" tIns="0" rIns="0" bIns="0" rtlCol="0" anchor="ctr"/>
          <a:lstStyle/>
          <a:p>
            <a:pPr marL="0" indent="0" algn="ctr">
              <a:buNone/>
            </a:pPr>
            <a:r>
              <a:rPr lang="en-US" sz="1300" dirty="0">
                <a:solidFill>
                  <a:srgbClr val="CADCFC"/>
                </a:solidFill>
                <a:latin typeface="Calibri" pitchFamily="34" charset="0"/>
                <a:ea typeface="Calibri" pitchFamily="34" charset="-122"/>
                <a:cs typeface="Calibri" pitchFamily="34" charset="-120"/>
              </a:rPr>
              <a:t>valeur manquante</a:t>
            </a:r>
            <a:endParaRPr lang="en-US" sz="1300" dirty="0"/>
          </a:p>
        </p:txBody>
      </p:sp>
      <p:sp>
        <p:nvSpPr>
          <p:cNvPr id="15" name="Text 13"/>
          <p:cNvSpPr txBox="1"/>
          <p:nvPr/>
        </p:nvSpPr>
        <p:spPr>
          <a:xfrm>
            <a:off x="6355080" y="3794760"/>
            <a:ext cx="2240280" cy="365760"/>
          </a:xfrm>
          <a:prstGeom prst="rect">
            <a:avLst/>
          </a:prstGeom>
          <a:noFill/>
          <a:ln/>
        </p:spPr>
        <p:txBody>
          <a:bodyPr wrap="square" lIns="0" tIns="0" rIns="0" bIns="0" rtlCol="0" anchor="ctr"/>
          <a:lstStyle/>
          <a:p>
            <a:pPr marL="0" indent="0" algn="ctr">
              <a:buNone/>
            </a:pPr>
            <a:r>
              <a:rPr lang="en-US" sz="1050" dirty="0">
                <a:solidFill>
                  <a:srgbClr val="4A9D5F"/>
                </a:solidFill>
                <a:latin typeface="Calibri" pitchFamily="34" charset="0"/>
                <a:ea typeface="Calibri" pitchFamily="34" charset="-122"/>
                <a:cs typeface="Calibri" pitchFamily="34" charset="-120"/>
              </a:rPr>
              <a:t>exigence : aucune</a:t>
            </a:r>
            <a:endParaRPr lang="en-US" sz="1050" dirty="0"/>
          </a:p>
        </p:txBody>
      </p:sp>
      <p:sp>
        <p:nvSpPr>
          <p:cNvPr id="16" name="Shape 14"/>
          <p:cNvSpPr/>
          <p:nvPr/>
        </p:nvSpPr>
        <p:spPr>
          <a:xfrm>
            <a:off x="9006840" y="2103120"/>
            <a:ext cx="2514600" cy="2286000"/>
          </a:xfrm>
          <a:prstGeom prst="roundRect">
            <a:avLst>
              <a:gd name="adj" fmla="val 2400"/>
            </a:avLst>
          </a:prstGeom>
          <a:solidFill>
            <a:srgbClr val="2A3670"/>
          </a:solidFill>
          <a:ln w="12700">
            <a:solidFill>
              <a:srgbClr val="2A3670"/>
            </a:solidFill>
            <a:prstDash val="solid"/>
          </a:ln>
        </p:spPr>
      </p:sp>
      <p:sp>
        <p:nvSpPr>
          <p:cNvPr id="17" name="Text 15"/>
          <p:cNvSpPr txBox="1"/>
          <p:nvPr/>
        </p:nvSpPr>
        <p:spPr>
          <a:xfrm>
            <a:off x="9006840" y="2377440"/>
            <a:ext cx="2514600" cy="82296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19</a:t>
            </a:r>
            <a:endParaRPr lang="en-US" sz="4000" dirty="0"/>
          </a:p>
        </p:txBody>
      </p:sp>
      <p:sp>
        <p:nvSpPr>
          <p:cNvPr id="18" name="Text 16"/>
          <p:cNvSpPr txBox="1"/>
          <p:nvPr/>
        </p:nvSpPr>
        <p:spPr>
          <a:xfrm>
            <a:off x="9144000" y="3200400"/>
            <a:ext cx="2240280" cy="548640"/>
          </a:xfrm>
          <a:prstGeom prst="rect">
            <a:avLst/>
          </a:prstGeom>
          <a:noFill/>
          <a:ln/>
        </p:spPr>
        <p:txBody>
          <a:bodyPr wrap="square" lIns="0" tIns="0" rIns="0" bIns="0" rtlCol="0" anchor="ctr"/>
          <a:lstStyle/>
          <a:p>
            <a:pPr marL="0" indent="0" algn="ctr">
              <a:buNone/>
            </a:pPr>
            <a:r>
              <a:rPr lang="en-US" sz="1300" dirty="0">
                <a:solidFill>
                  <a:srgbClr val="CADCFC"/>
                </a:solidFill>
                <a:latin typeface="Calibri" pitchFamily="34" charset="0"/>
                <a:ea typeface="Calibri" pitchFamily="34" charset="-122"/>
                <a:cs typeface="Calibri" pitchFamily="34" charset="-120"/>
              </a:rPr>
              <a:t>variables dont 4 créées</a:t>
            </a:r>
            <a:endParaRPr lang="en-US" sz="1300" dirty="0"/>
          </a:p>
        </p:txBody>
      </p:sp>
      <p:sp>
        <p:nvSpPr>
          <p:cNvPr id="19" name="Text 17"/>
          <p:cNvSpPr txBox="1"/>
          <p:nvPr/>
        </p:nvSpPr>
        <p:spPr>
          <a:xfrm>
            <a:off x="9144000" y="3794760"/>
            <a:ext cx="2240280" cy="365760"/>
          </a:xfrm>
          <a:prstGeom prst="rect">
            <a:avLst/>
          </a:prstGeom>
          <a:noFill/>
          <a:ln/>
        </p:spPr>
        <p:txBody>
          <a:bodyPr wrap="square" lIns="0" tIns="0" rIns="0" bIns="0" rtlCol="0" anchor="ctr"/>
          <a:lstStyle/>
          <a:p>
            <a:pPr marL="0" indent="0" algn="ctr">
              <a:buNone/>
            </a:pPr>
            <a:r>
              <a:rPr lang="en-US" sz="1050" dirty="0">
                <a:solidFill>
                  <a:srgbClr val="4A9D5F"/>
                </a:solidFill>
                <a:latin typeface="Calibri" pitchFamily="34" charset="0"/>
                <a:ea typeface="Calibri" pitchFamily="34" charset="-122"/>
                <a:cs typeface="Calibri" pitchFamily="34" charset="-120"/>
              </a:rPr>
              <a:t>minimum requis : 8 dont 3</a:t>
            </a:r>
            <a:endParaRPr lang="en-US" sz="1050" dirty="0"/>
          </a:p>
        </p:txBody>
      </p:sp>
      <p:sp>
        <p:nvSpPr>
          <p:cNvPr id="20" name="Text 18"/>
          <p:cNvSpPr txBox="1"/>
          <p:nvPr/>
        </p:nvSpPr>
        <p:spPr>
          <a:xfrm>
            <a:off x="640080" y="4846320"/>
            <a:ext cx="10881360" cy="731520"/>
          </a:xfrm>
          <a:prstGeom prst="rect">
            <a:avLst/>
          </a:prstGeom>
          <a:noFill/>
          <a:ln/>
        </p:spPr>
        <p:txBody>
          <a:bodyPr wrap="square" lIns="0" tIns="0" rIns="0" bIns="0" rtlCol="0" anchor="ctr"/>
          <a:lstStyle/>
          <a:p>
            <a:pPr marL="0" indent="0">
              <a:buNone/>
            </a:pPr>
            <a:r>
              <a:rPr lang="en-US" sz="1400" dirty="0">
                <a:solidFill>
                  <a:srgbClr val="C9D6F0"/>
                </a:solidFill>
                <a:latin typeface="Calibri" pitchFamily="34" charset="0"/>
                <a:ea typeface="Calibri" pitchFamily="34" charset="-122"/>
                <a:cs typeface="Calibri" pitchFamily="34" charset="-120"/>
              </a:rPr>
              <a:t>Dix pays sur 174 ont été écartés, chacun pour un motif tracé : absence de données pour quatre d'entre eux, statut non souverain ou marché domestique pour les six autres.</a:t>
            </a:r>
            <a:endParaRPr lang="en-US" sz="1400" dirty="0"/>
          </a:p>
        </p:txBody>
      </p:sp>
      <p:sp>
        <p:nvSpPr>
          <p:cNvPr id="22" name="Text 19"/>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A8B0B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731520"/>
          </a:xfrm>
          <a:prstGeom prst="rect">
            <a:avLst/>
          </a:prstGeom>
          <a:noFill/>
          <a:ln/>
        </p:spPr>
        <p:txBody>
          <a:bodyPr wrap="square" lIns="0" tIns="0" rIns="0" bIns="0" rtlCol="0" anchor="ctr"/>
          <a:lstStyle/>
          <a:p>
            <a:pPr marL="0" indent="0" algn="l">
              <a:buNone/>
            </a:pPr>
            <a:r>
              <a:rPr lang="en-US" sz="3000" b="1" dirty="0">
                <a:solidFill>
                  <a:srgbClr val="1E2761"/>
                </a:solidFill>
                <a:latin typeface="Calibri" pitchFamily="34" charset="0"/>
                <a:ea typeface="Calibri" pitchFamily="34" charset="-122"/>
                <a:cs typeface="Calibri" pitchFamily="34" charset="-120"/>
              </a:rPr>
              <a:t>Quatre dimensions : trois critères, une seule réponse</a:t>
            </a:r>
            <a:endParaRPr lang="en-US" sz="3000" dirty="0"/>
          </a:p>
        </p:txBody>
      </p:sp>
      <p:pic>
        <p:nvPicPr>
          <p:cNvPr id="3" name="Image 0" descr="/home/claude/p/fig/eboulis.png"/>
          <p:cNvPicPr>
            <a:picLocks noChangeAspect="1"/>
          </p:cNvPicPr>
          <p:nvPr/>
        </p:nvPicPr>
        <p:blipFill>
          <a:blip r:embed="rId3"/>
          <a:stretch>
            <a:fillRect/>
          </a:stretch>
        </p:blipFill>
        <p:spPr>
          <a:xfrm>
            <a:off x="640080" y="1417320"/>
            <a:ext cx="6858000" cy="3794760"/>
          </a:xfrm>
          <a:prstGeom prst="rect">
            <a:avLst/>
          </a:prstGeom>
        </p:spPr>
      </p:pic>
      <p:sp>
        <p:nvSpPr>
          <p:cNvPr id="4" name="Shape 1"/>
          <p:cNvSpPr/>
          <p:nvPr/>
        </p:nvSpPr>
        <p:spPr>
          <a:xfrm>
            <a:off x="7772400" y="1600200"/>
            <a:ext cx="3749040" cy="1051560"/>
          </a:xfrm>
          <a:prstGeom prst="roundRect">
            <a:avLst>
              <a:gd name="adj" fmla="val 5217"/>
            </a:avLst>
          </a:prstGeom>
          <a:solidFill>
            <a:srgbClr val="EEF1F5"/>
          </a:solidFill>
          <a:ln w="12700">
            <a:solidFill>
              <a:srgbClr val="EEF1F5"/>
            </a:solidFill>
            <a:prstDash val="solid"/>
          </a:ln>
        </p:spPr>
      </p:sp>
      <p:sp>
        <p:nvSpPr>
          <p:cNvPr id="5" name="Text 2"/>
          <p:cNvSpPr txBox="1"/>
          <p:nvPr/>
        </p:nvSpPr>
        <p:spPr>
          <a:xfrm>
            <a:off x="8001000" y="1691640"/>
            <a:ext cx="210312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Critère de Kaiser</a:t>
            </a:r>
            <a:endParaRPr lang="en-US" sz="1300" dirty="0"/>
          </a:p>
        </p:txBody>
      </p:sp>
      <p:sp>
        <p:nvSpPr>
          <p:cNvPr id="6" name="Text 3"/>
          <p:cNvSpPr txBox="1"/>
          <p:nvPr/>
        </p:nvSpPr>
        <p:spPr>
          <a:xfrm>
            <a:off x="10058400" y="1673352"/>
            <a:ext cx="1280160" cy="365760"/>
          </a:xfrm>
          <a:prstGeom prst="rect">
            <a:avLst/>
          </a:prstGeom>
          <a:noFill/>
          <a:ln/>
        </p:spPr>
        <p:txBody>
          <a:bodyPr wrap="square" lIns="0" tIns="0" rIns="0" bIns="0" rtlCol="0" anchor="ctr"/>
          <a:lstStyle/>
          <a:p>
            <a:pPr marL="0" indent="0" algn="r">
              <a:buNone/>
            </a:pPr>
            <a:r>
              <a:rPr lang="en-US" sz="1600" b="1" dirty="0">
                <a:solidFill>
                  <a:srgbClr val="4A9D5F"/>
                </a:solidFill>
                <a:latin typeface="Calibri" pitchFamily="34" charset="0"/>
                <a:ea typeface="Calibri" pitchFamily="34" charset="-122"/>
                <a:cs typeface="Calibri" pitchFamily="34" charset="-120"/>
              </a:rPr>
              <a:t>4 axes</a:t>
            </a:r>
            <a:endParaRPr lang="en-US" sz="1600" dirty="0"/>
          </a:p>
        </p:txBody>
      </p:sp>
      <p:sp>
        <p:nvSpPr>
          <p:cNvPr id="7" name="Text 4"/>
          <p:cNvSpPr txBox="1"/>
          <p:nvPr/>
        </p:nvSpPr>
        <p:spPr>
          <a:xfrm>
            <a:off x="8001000" y="2057400"/>
            <a:ext cx="3291840" cy="502920"/>
          </a:xfrm>
          <a:prstGeom prst="rect">
            <a:avLst/>
          </a:prstGeom>
          <a:noFill/>
          <a:ln/>
        </p:spPr>
        <p:txBody>
          <a:bodyPr wrap="square" lIns="0" tIns="0" rIns="0" bIns="0" rtlCol="0" anchor="ctr"/>
          <a:lstStyle/>
          <a:p>
            <a:pPr marL="0" indent="0">
              <a:buNone/>
            </a:pPr>
            <a:r>
              <a:rPr lang="en-US" sz="1100" dirty="0">
                <a:solidFill>
                  <a:srgbClr val="5A6472"/>
                </a:solidFill>
                <a:latin typeface="Calibri" pitchFamily="34" charset="0"/>
                <a:ea typeface="Calibri" pitchFamily="34" charset="-122"/>
                <a:cs typeface="Calibri" pitchFamily="34" charset="-120"/>
              </a:rPr>
              <a:t>seuls les axes portant plus qu'une variable seule</a:t>
            </a:r>
            <a:endParaRPr lang="en-US" sz="1100" dirty="0"/>
          </a:p>
        </p:txBody>
      </p:sp>
      <p:sp>
        <p:nvSpPr>
          <p:cNvPr id="8" name="Shape 5"/>
          <p:cNvSpPr/>
          <p:nvPr/>
        </p:nvSpPr>
        <p:spPr>
          <a:xfrm>
            <a:off x="7772400" y="2834640"/>
            <a:ext cx="3749040" cy="1051560"/>
          </a:xfrm>
          <a:prstGeom prst="roundRect">
            <a:avLst>
              <a:gd name="adj" fmla="val 5217"/>
            </a:avLst>
          </a:prstGeom>
          <a:solidFill>
            <a:srgbClr val="EEF1F5"/>
          </a:solidFill>
          <a:ln w="12700">
            <a:solidFill>
              <a:srgbClr val="EEF1F5"/>
            </a:solidFill>
            <a:prstDash val="solid"/>
          </a:ln>
        </p:spPr>
      </p:sp>
      <p:sp>
        <p:nvSpPr>
          <p:cNvPr id="9" name="Text 6"/>
          <p:cNvSpPr txBox="1"/>
          <p:nvPr/>
        </p:nvSpPr>
        <p:spPr>
          <a:xfrm>
            <a:off x="8001000" y="2926080"/>
            <a:ext cx="210312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Coude de la courbe</a:t>
            </a:r>
            <a:endParaRPr lang="en-US" sz="1300" dirty="0"/>
          </a:p>
        </p:txBody>
      </p:sp>
      <p:sp>
        <p:nvSpPr>
          <p:cNvPr id="10" name="Text 7"/>
          <p:cNvSpPr txBox="1"/>
          <p:nvPr/>
        </p:nvSpPr>
        <p:spPr>
          <a:xfrm>
            <a:off x="10058400" y="2907792"/>
            <a:ext cx="1280160" cy="365760"/>
          </a:xfrm>
          <a:prstGeom prst="rect">
            <a:avLst/>
          </a:prstGeom>
          <a:noFill/>
          <a:ln/>
        </p:spPr>
        <p:txBody>
          <a:bodyPr wrap="square" lIns="0" tIns="0" rIns="0" bIns="0" rtlCol="0" anchor="ctr"/>
          <a:lstStyle/>
          <a:p>
            <a:pPr marL="0" indent="0" algn="r">
              <a:buNone/>
            </a:pPr>
            <a:r>
              <a:rPr lang="en-US" sz="1600" b="1" dirty="0">
                <a:solidFill>
                  <a:srgbClr val="4A9D5F"/>
                </a:solidFill>
                <a:latin typeface="Calibri" pitchFamily="34" charset="0"/>
                <a:ea typeface="Calibri" pitchFamily="34" charset="-122"/>
                <a:cs typeface="Calibri" pitchFamily="34" charset="-120"/>
              </a:rPr>
              <a:t>4 axes</a:t>
            </a:r>
            <a:endParaRPr lang="en-US" sz="1600" dirty="0"/>
          </a:p>
        </p:txBody>
      </p:sp>
      <p:sp>
        <p:nvSpPr>
          <p:cNvPr id="11" name="Text 8"/>
          <p:cNvSpPr txBox="1"/>
          <p:nvPr/>
        </p:nvSpPr>
        <p:spPr>
          <a:xfrm>
            <a:off x="8001000" y="3291840"/>
            <a:ext cx="3291840" cy="502920"/>
          </a:xfrm>
          <a:prstGeom prst="rect">
            <a:avLst/>
          </a:prstGeom>
          <a:noFill/>
          <a:ln/>
        </p:spPr>
        <p:txBody>
          <a:bodyPr wrap="square" lIns="0" tIns="0" rIns="0" bIns="0" rtlCol="0" anchor="ctr"/>
          <a:lstStyle/>
          <a:p>
            <a:pPr marL="0" indent="0">
              <a:buNone/>
            </a:pPr>
            <a:r>
              <a:rPr lang="en-US" sz="1100" dirty="0">
                <a:solidFill>
                  <a:srgbClr val="5A6472"/>
                </a:solidFill>
                <a:latin typeface="Calibri" pitchFamily="34" charset="0"/>
                <a:ea typeface="Calibri" pitchFamily="34" charset="-122"/>
                <a:cs typeface="Calibri" pitchFamily="34" charset="-120"/>
              </a:rPr>
              <a:t>décrochement net entre F2 et F3</a:t>
            </a:r>
            <a:endParaRPr lang="en-US" sz="1100" dirty="0"/>
          </a:p>
        </p:txBody>
      </p:sp>
      <p:sp>
        <p:nvSpPr>
          <p:cNvPr id="12" name="Shape 9"/>
          <p:cNvSpPr/>
          <p:nvPr/>
        </p:nvSpPr>
        <p:spPr>
          <a:xfrm>
            <a:off x="7772400" y="4069080"/>
            <a:ext cx="3749040" cy="1051560"/>
          </a:xfrm>
          <a:prstGeom prst="roundRect">
            <a:avLst>
              <a:gd name="adj" fmla="val 5217"/>
            </a:avLst>
          </a:prstGeom>
          <a:solidFill>
            <a:srgbClr val="EEF1F5"/>
          </a:solidFill>
          <a:ln w="12700">
            <a:solidFill>
              <a:srgbClr val="EEF1F5"/>
            </a:solidFill>
            <a:prstDash val="solid"/>
          </a:ln>
        </p:spPr>
      </p:sp>
      <p:sp>
        <p:nvSpPr>
          <p:cNvPr id="13" name="Text 10"/>
          <p:cNvSpPr txBox="1"/>
          <p:nvPr/>
        </p:nvSpPr>
        <p:spPr>
          <a:xfrm>
            <a:off x="8001000" y="4160520"/>
            <a:ext cx="210312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Seuil de 70 %</a:t>
            </a:r>
            <a:endParaRPr lang="en-US" sz="1300" dirty="0"/>
          </a:p>
        </p:txBody>
      </p:sp>
      <p:sp>
        <p:nvSpPr>
          <p:cNvPr id="14" name="Text 11"/>
          <p:cNvSpPr txBox="1"/>
          <p:nvPr/>
        </p:nvSpPr>
        <p:spPr>
          <a:xfrm>
            <a:off x="10058400" y="4142232"/>
            <a:ext cx="1280160" cy="365760"/>
          </a:xfrm>
          <a:prstGeom prst="rect">
            <a:avLst/>
          </a:prstGeom>
          <a:noFill/>
          <a:ln/>
        </p:spPr>
        <p:txBody>
          <a:bodyPr wrap="square" lIns="0" tIns="0" rIns="0" bIns="0" rtlCol="0" anchor="ctr"/>
          <a:lstStyle/>
          <a:p>
            <a:pPr marL="0" indent="0" algn="r">
              <a:buNone/>
            </a:pPr>
            <a:r>
              <a:rPr lang="en-US" sz="1600" b="1" dirty="0">
                <a:solidFill>
                  <a:srgbClr val="4A9D5F"/>
                </a:solidFill>
                <a:latin typeface="Calibri" pitchFamily="34" charset="0"/>
                <a:ea typeface="Calibri" pitchFamily="34" charset="-122"/>
                <a:cs typeface="Calibri" pitchFamily="34" charset="-120"/>
              </a:rPr>
              <a:t>4 axes</a:t>
            </a:r>
            <a:endParaRPr lang="en-US" sz="1600" dirty="0"/>
          </a:p>
        </p:txBody>
      </p:sp>
      <p:sp>
        <p:nvSpPr>
          <p:cNvPr id="15" name="Text 12"/>
          <p:cNvSpPr txBox="1"/>
          <p:nvPr/>
        </p:nvSpPr>
        <p:spPr>
          <a:xfrm>
            <a:off x="8001000" y="4526280"/>
            <a:ext cx="3291840" cy="502920"/>
          </a:xfrm>
          <a:prstGeom prst="rect">
            <a:avLst/>
          </a:prstGeom>
          <a:noFill/>
          <a:ln/>
        </p:spPr>
        <p:txBody>
          <a:bodyPr wrap="square" lIns="0" tIns="0" rIns="0" bIns="0" rtlCol="0" anchor="ctr"/>
          <a:lstStyle/>
          <a:p>
            <a:pPr marL="0" indent="0">
              <a:buNone/>
            </a:pPr>
            <a:r>
              <a:rPr lang="en-US" sz="1100" dirty="0">
                <a:solidFill>
                  <a:srgbClr val="5A6472"/>
                </a:solidFill>
                <a:latin typeface="Calibri" pitchFamily="34" charset="0"/>
                <a:ea typeface="Calibri" pitchFamily="34" charset="-122"/>
                <a:cs typeface="Calibri" pitchFamily="34" charset="-120"/>
              </a:rPr>
              <a:t>75,2 % de l'information conservée</a:t>
            </a:r>
            <a:endParaRPr lang="en-US" sz="1100" dirty="0"/>
          </a:p>
        </p:txBody>
      </p:sp>
      <p:sp>
        <p:nvSpPr>
          <p:cNvPr id="16" name="Text 13"/>
          <p:cNvSpPr txBox="1"/>
          <p:nvPr/>
        </p:nvSpPr>
        <p:spPr>
          <a:xfrm>
            <a:off x="7772400" y="5349240"/>
            <a:ext cx="3749040" cy="731520"/>
          </a:xfrm>
          <a:prstGeom prst="rect">
            <a:avLst/>
          </a:prstGeom>
          <a:noFill/>
          <a:ln/>
        </p:spPr>
        <p:txBody>
          <a:bodyPr wrap="square" lIns="0" tIns="0" rIns="0" bIns="0" rtlCol="0" anchor="ctr"/>
          <a:lstStyle/>
          <a:p>
            <a:pPr marL="0" indent="0">
              <a:buNone/>
            </a:pPr>
            <a:r>
              <a:rPr lang="en-US" sz="1250" i="1" dirty="0">
                <a:solidFill>
                  <a:srgbClr val="1E2761"/>
                </a:solidFill>
                <a:latin typeface="Calibri" pitchFamily="34" charset="0"/>
                <a:ea typeface="Calibri" pitchFamily="34" charset="-122"/>
                <a:cs typeface="Calibri" pitchFamily="34" charset="-120"/>
              </a:rPr>
              <a:t>Quand trois critères indépendants convergent, il n'y a pas d'arbitrage à défendre.</a:t>
            </a:r>
            <a:endParaRPr lang="en-US" sz="1250" dirty="0"/>
          </a:p>
        </p:txBody>
      </p:sp>
      <p:sp>
        <p:nvSpPr>
          <p:cNvPr id="18" name="Text 14"/>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A8B0B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731520"/>
          </a:xfrm>
          <a:prstGeom prst="rect">
            <a:avLst/>
          </a:prstGeom>
          <a:noFill/>
          <a:ln/>
        </p:spPr>
        <p:txBody>
          <a:bodyPr wrap="square" lIns="0" tIns="0" rIns="0" bIns="0" rtlCol="0" anchor="ctr"/>
          <a:lstStyle/>
          <a:p>
            <a:pPr marL="0" indent="0" algn="l">
              <a:buNone/>
            </a:pPr>
            <a:r>
              <a:rPr lang="en-US" sz="3000" b="1" dirty="0">
                <a:solidFill>
                  <a:srgbClr val="1E2761"/>
                </a:solidFill>
                <a:latin typeface="Calibri" pitchFamily="34" charset="0"/>
                <a:ea typeface="Calibri" pitchFamily="34" charset="-122"/>
                <a:cs typeface="Calibri" pitchFamily="34" charset="-120"/>
              </a:rPr>
              <a:t>Ce que mesurent ces dimensions</a:t>
            </a:r>
            <a:endParaRPr lang="en-US" sz="3000" dirty="0"/>
          </a:p>
        </p:txBody>
      </p:sp>
      <p:pic>
        <p:nvPicPr>
          <p:cNvPr id="3" name="Image 0" descr="/home/claude/p/fig/cercle.png"/>
          <p:cNvPicPr>
            <a:picLocks noChangeAspect="1"/>
          </p:cNvPicPr>
          <p:nvPr/>
        </p:nvPicPr>
        <p:blipFill>
          <a:blip r:embed="rId3"/>
          <a:stretch>
            <a:fillRect/>
          </a:stretch>
        </p:blipFill>
        <p:spPr>
          <a:xfrm>
            <a:off x="548640" y="1280160"/>
            <a:ext cx="6035040" cy="5029200"/>
          </a:xfrm>
          <a:prstGeom prst="rect">
            <a:avLst/>
          </a:prstGeom>
        </p:spPr>
      </p:pic>
      <p:sp>
        <p:nvSpPr>
          <p:cNvPr id="4" name="Shape 1"/>
          <p:cNvSpPr/>
          <p:nvPr/>
        </p:nvSpPr>
        <p:spPr>
          <a:xfrm>
            <a:off x="6858000" y="1554480"/>
            <a:ext cx="4663440" cy="1920240"/>
          </a:xfrm>
          <a:prstGeom prst="roundRect">
            <a:avLst>
              <a:gd name="adj" fmla="val 2857"/>
            </a:avLst>
          </a:prstGeom>
          <a:solidFill>
            <a:srgbClr val="1E2761"/>
          </a:solidFill>
          <a:ln w="12700">
            <a:solidFill>
              <a:srgbClr val="1E2761"/>
            </a:solidFill>
            <a:prstDash val="solid"/>
          </a:ln>
        </p:spPr>
      </p:sp>
      <p:sp>
        <p:nvSpPr>
          <p:cNvPr id="5" name="Text 2"/>
          <p:cNvSpPr txBox="1"/>
          <p:nvPr/>
        </p:nvSpPr>
        <p:spPr>
          <a:xfrm>
            <a:off x="7132320" y="1737360"/>
            <a:ext cx="4206240" cy="365760"/>
          </a:xfrm>
          <a:prstGeom prst="rect">
            <a:avLst/>
          </a:prstGeom>
          <a:noFill/>
          <a:ln/>
        </p:spPr>
        <p:txBody>
          <a:bodyPr wrap="square" lIns="0" tIns="0" rIns="0" bIns="0" rtlCol="0" anchor="ctr"/>
          <a:lstStyle/>
          <a:p>
            <a:pPr marL="0" indent="0">
              <a:buNone/>
            </a:pPr>
            <a:r>
              <a:rPr lang="en-US" sz="1500" b="1" dirty="0">
                <a:solidFill>
                  <a:srgbClr val="E07A3F"/>
                </a:solidFill>
                <a:latin typeface="Calibri" pitchFamily="34" charset="0"/>
                <a:ea typeface="Calibri" pitchFamily="34" charset="-122"/>
                <a:cs typeface="Calibri" pitchFamily="34" charset="-120"/>
              </a:rPr>
              <a:t>F1 — le développement du marché</a:t>
            </a:r>
            <a:endParaRPr lang="en-US" sz="1500" dirty="0"/>
          </a:p>
        </p:txBody>
      </p:sp>
      <p:sp>
        <p:nvSpPr>
          <p:cNvPr id="6" name="Text 3"/>
          <p:cNvSpPr txBox="1"/>
          <p:nvPr/>
        </p:nvSpPr>
        <p:spPr>
          <a:xfrm>
            <a:off x="7132320" y="2148840"/>
            <a:ext cx="4206240" cy="1234440"/>
          </a:xfrm>
          <a:prstGeom prst="rect">
            <a:avLst/>
          </a:prstGeom>
          <a:noFill/>
          <a:ln/>
        </p:spPr>
        <p:txBody>
          <a:bodyPr wrap="square" lIns="0" tIns="0" rIns="0" bIns="0" rtlCol="0" anchor="ctr"/>
          <a:lstStyle/>
          <a:p>
            <a:pPr marL="0" indent="0">
              <a:buNone/>
            </a:pPr>
            <a:r>
              <a:rPr lang="en-US" sz="1250" dirty="0">
                <a:solidFill>
                  <a:srgbClr val="DCE5F5"/>
                </a:solidFill>
                <a:latin typeface="Calibri" pitchFamily="34" charset="0"/>
                <a:ea typeface="Calibri" pitchFamily="34" charset="-122"/>
                <a:cs typeface="Calibri" pitchFamily="34" charset="-120"/>
              </a:rPr>
              <a:t>Oppose les pays riches, urbanisés, au régime riche en viande, aux pays à forte croissance démographique et régime végétal.</a:t>
            </a:r>
            <a:endParaRPr lang="en-US" sz="1250" dirty="0"/>
          </a:p>
          <a:p>
            <a:pPr marL="0" indent="0">
              <a:buNone/>
            </a:pPr>
            <a:endParaRPr lang="en-US" sz="1250" dirty="0"/>
          </a:p>
          <a:p>
            <a:pPr marL="0" indent="0">
              <a:buNone/>
            </a:pPr>
            <a:r>
              <a:rPr lang="en-US" sz="1250" dirty="0">
                <a:solidFill>
                  <a:srgbClr val="DCE5F5"/>
                </a:solidFill>
                <a:latin typeface="Calibri" pitchFamily="34" charset="0"/>
                <a:ea typeface="Calibri" pitchFamily="34" charset="-122"/>
                <a:cs typeface="Calibri" pitchFamily="34" charset="-120"/>
              </a:rPr>
              <a:t>À droite : les marchés solvables.</a:t>
            </a:r>
            <a:endParaRPr lang="en-US" sz="1250" dirty="0"/>
          </a:p>
        </p:txBody>
      </p:sp>
      <p:sp>
        <p:nvSpPr>
          <p:cNvPr id="7" name="Shape 4"/>
          <p:cNvSpPr/>
          <p:nvPr/>
        </p:nvSpPr>
        <p:spPr>
          <a:xfrm>
            <a:off x="6858000" y="3703320"/>
            <a:ext cx="4663440" cy="1920240"/>
          </a:xfrm>
          <a:prstGeom prst="roundRect">
            <a:avLst>
              <a:gd name="adj" fmla="val 2857"/>
            </a:avLst>
          </a:prstGeom>
          <a:solidFill>
            <a:srgbClr val="EEF1F5"/>
          </a:solidFill>
          <a:ln w="12700">
            <a:solidFill>
              <a:srgbClr val="EEF1F5"/>
            </a:solidFill>
            <a:prstDash val="solid"/>
          </a:ln>
        </p:spPr>
      </p:sp>
      <p:sp>
        <p:nvSpPr>
          <p:cNvPr id="8" name="Text 5"/>
          <p:cNvSpPr txBox="1"/>
          <p:nvPr/>
        </p:nvSpPr>
        <p:spPr>
          <a:xfrm>
            <a:off x="7132320" y="3886200"/>
            <a:ext cx="4206240" cy="365760"/>
          </a:xfrm>
          <a:prstGeom prst="rect">
            <a:avLst/>
          </a:prstGeom>
          <a:noFill/>
          <a:ln/>
        </p:spPr>
        <p:txBody>
          <a:bodyPr wrap="square" lIns="0" tIns="0" rIns="0" bIns="0" rtlCol="0" anchor="ctr"/>
          <a:lstStyle/>
          <a:p>
            <a:pPr marL="0" indent="0">
              <a:buNone/>
            </a:pPr>
            <a:r>
              <a:rPr lang="en-US" sz="1500" b="1" dirty="0">
                <a:solidFill>
                  <a:srgbClr val="4A9D5F"/>
                </a:solidFill>
                <a:latin typeface="Calibri" pitchFamily="34" charset="0"/>
                <a:ea typeface="Calibri" pitchFamily="34" charset="-122"/>
                <a:cs typeface="Calibri" pitchFamily="34" charset="-120"/>
              </a:rPr>
              <a:t>F2 — l'autonomie productive</a:t>
            </a:r>
            <a:endParaRPr lang="en-US" sz="1500" dirty="0"/>
          </a:p>
        </p:txBody>
      </p:sp>
      <p:sp>
        <p:nvSpPr>
          <p:cNvPr id="9" name="Text 6"/>
          <p:cNvSpPr txBox="1"/>
          <p:nvPr/>
        </p:nvSpPr>
        <p:spPr>
          <a:xfrm>
            <a:off x="7132320" y="4297680"/>
            <a:ext cx="4206240" cy="1234440"/>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Oppose les grands producteurs autosuffisants aux pays dépendants des importations.</a:t>
            </a:r>
            <a:endParaRPr lang="en-US" sz="1250" dirty="0"/>
          </a:p>
          <a:p>
            <a:pPr marL="0" indent="0">
              <a:buNone/>
            </a:pPr>
            <a:endParaRPr lang="en-US" sz="1250" dirty="0"/>
          </a:p>
          <a:p>
            <a:pPr marL="0" indent="0">
              <a:buNone/>
            </a:pPr>
            <a:r>
              <a:rPr lang="en-US" sz="1250" dirty="0">
                <a:solidFill>
                  <a:srgbClr val="333333"/>
                </a:solidFill>
                <a:latin typeface="Calibri" pitchFamily="34" charset="0"/>
                <a:ea typeface="Calibri" pitchFamily="34" charset="-122"/>
                <a:cs typeface="Calibri" pitchFamily="34" charset="-120"/>
              </a:rPr>
              <a:t>Vers le bas : nos clients potentiels.</a:t>
            </a:r>
            <a:endParaRPr lang="en-US" sz="1250" dirty="0"/>
          </a:p>
        </p:txBody>
      </p:sp>
      <p:sp>
        <p:nvSpPr>
          <p:cNvPr id="10" name="Text 7"/>
          <p:cNvSpPr txBox="1"/>
          <p:nvPr/>
        </p:nvSpPr>
        <p:spPr>
          <a:xfrm>
            <a:off x="6858000" y="5806440"/>
            <a:ext cx="4663440" cy="640080"/>
          </a:xfrm>
          <a:prstGeom prst="rect">
            <a:avLst/>
          </a:prstGeom>
          <a:noFill/>
          <a:ln/>
        </p:spPr>
        <p:txBody>
          <a:bodyPr wrap="square" lIns="0" tIns="0" rIns="0" bIns="0" rtlCol="0" anchor="ctr"/>
          <a:lstStyle/>
          <a:p>
            <a:pPr marL="0" indent="0">
              <a:buNone/>
            </a:pPr>
            <a:r>
              <a:rPr lang="en-US" sz="1200" i="1" dirty="0">
                <a:solidFill>
                  <a:srgbClr val="1E2761"/>
                </a:solidFill>
                <a:latin typeface="Calibri" pitchFamily="34" charset="0"/>
                <a:ea typeface="Calibri" pitchFamily="34" charset="-122"/>
                <a:cs typeface="Calibri" pitchFamily="34" charset="-120"/>
              </a:rPr>
              <a:t>Les deux faisceaux sont perpendiculaires : richesse et capacité à produire sont indépendantes.</a:t>
            </a:r>
            <a:endParaRPr lang="en-US" sz="1200" dirty="0"/>
          </a:p>
        </p:txBody>
      </p:sp>
      <p:sp>
        <p:nvSpPr>
          <p:cNvPr id="12" name="Text 8"/>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A8B0BC"/>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731520"/>
          </a:xfrm>
          <a:prstGeom prst="rect">
            <a:avLst/>
          </a:prstGeom>
          <a:noFill/>
          <a:ln/>
        </p:spPr>
        <p:txBody>
          <a:bodyPr wrap="square" lIns="0" tIns="0" rIns="0" bIns="0" rtlCol="0" anchor="ctr"/>
          <a:lstStyle/>
          <a:p>
            <a:pPr marL="0" indent="0" algn="l">
              <a:buNone/>
            </a:pPr>
            <a:r>
              <a:rPr lang="en-US" sz="3000" b="1" dirty="0">
                <a:solidFill>
                  <a:srgbClr val="1E2761"/>
                </a:solidFill>
                <a:latin typeface="Calibri" pitchFamily="34" charset="0"/>
                <a:ea typeface="Calibri" pitchFamily="34" charset="-122"/>
                <a:cs typeface="Calibri" pitchFamily="34" charset="-120"/>
              </a:rPr>
              <a:t>Les 164 pays sur cette carte</a:t>
            </a:r>
            <a:endParaRPr lang="en-US" sz="3000" dirty="0"/>
          </a:p>
        </p:txBody>
      </p:sp>
      <p:sp>
        <p:nvSpPr>
          <p:cNvPr id="3" name="Text 1"/>
          <p:cNvSpPr txBox="1"/>
          <p:nvPr/>
        </p:nvSpPr>
        <p:spPr>
          <a:xfrm>
            <a:off x="640080" y="1078992"/>
            <a:ext cx="10881360" cy="41148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Deux pays proches sur cette carte ont des profils similaires sur les 15 variables</a:t>
            </a:r>
            <a:endParaRPr lang="en-US" sz="1400" dirty="0"/>
          </a:p>
        </p:txBody>
      </p:sp>
      <p:pic>
        <p:nvPicPr>
          <p:cNvPr id="4" name="Image 0" descr="/home/claude/p/fig/projection.png"/>
          <p:cNvPicPr>
            <a:picLocks noChangeAspect="1"/>
          </p:cNvPicPr>
          <p:nvPr/>
        </p:nvPicPr>
        <p:blipFill>
          <a:blip r:embed="rId3"/>
          <a:stretch>
            <a:fillRect/>
          </a:stretch>
        </p:blipFill>
        <p:spPr>
          <a:xfrm>
            <a:off x="1325880" y="1554480"/>
            <a:ext cx="9509760" cy="4663440"/>
          </a:xfrm>
          <a:prstGeom prst="rect">
            <a:avLst/>
          </a:prstGeom>
        </p:spPr>
      </p:pic>
      <p:sp>
        <p:nvSpPr>
          <p:cNvPr id="6" name="Text 2"/>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A8B0B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731520"/>
          </a:xfrm>
          <a:prstGeom prst="rect">
            <a:avLst/>
          </a:prstGeom>
          <a:noFill/>
          <a:ln/>
        </p:spPr>
        <p:txBody>
          <a:bodyPr wrap="square" lIns="0" tIns="0" rIns="0" bIns="0" rtlCol="0" anchor="ctr"/>
          <a:lstStyle/>
          <a:p>
            <a:pPr marL="0" indent="0" algn="l">
              <a:buNone/>
            </a:pPr>
            <a:r>
              <a:rPr lang="en-US" sz="3000" b="1" dirty="0">
                <a:solidFill>
                  <a:srgbClr val="1E2761"/>
                </a:solidFill>
                <a:latin typeface="Calibri" pitchFamily="34" charset="0"/>
                <a:ea typeface="Calibri" pitchFamily="34" charset="-122"/>
                <a:cs typeface="Calibri" pitchFamily="34" charset="-120"/>
              </a:rPr>
              <a:t>Regrouper les pays : deux méthodes, pas une</a:t>
            </a:r>
            <a:endParaRPr lang="en-US" sz="3000" dirty="0"/>
          </a:p>
        </p:txBody>
      </p:sp>
      <p:sp>
        <p:nvSpPr>
          <p:cNvPr id="3" name="Text 1"/>
          <p:cNvSpPr txBox="1"/>
          <p:nvPr/>
        </p:nvSpPr>
        <p:spPr>
          <a:xfrm>
            <a:off x="640080" y="1078992"/>
            <a:ext cx="10881360" cy="41148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Les faire converger est une façon de vérifier le résultat</a:t>
            </a:r>
            <a:endParaRPr lang="en-US" sz="1400" dirty="0"/>
          </a:p>
        </p:txBody>
      </p:sp>
      <p:pic>
        <p:nvPicPr>
          <p:cNvPr id="4" name="Image 0" descr="/home/claude/p/fig/dendro.png"/>
          <p:cNvPicPr>
            <a:picLocks noChangeAspect="1"/>
          </p:cNvPicPr>
          <p:nvPr/>
        </p:nvPicPr>
        <p:blipFill>
          <a:blip r:embed="rId3"/>
          <a:stretch>
            <a:fillRect/>
          </a:stretch>
        </p:blipFill>
        <p:spPr>
          <a:xfrm>
            <a:off x="640080" y="1691640"/>
            <a:ext cx="6675120" cy="3108960"/>
          </a:xfrm>
          <a:prstGeom prst="rect">
            <a:avLst/>
          </a:prstGeom>
        </p:spPr>
      </p:pic>
      <p:sp>
        <p:nvSpPr>
          <p:cNvPr id="5" name="Shape 2"/>
          <p:cNvSpPr/>
          <p:nvPr/>
        </p:nvSpPr>
        <p:spPr>
          <a:xfrm>
            <a:off x="7498080" y="1691640"/>
            <a:ext cx="4023360" cy="1463040"/>
          </a:xfrm>
          <a:prstGeom prst="roundRect">
            <a:avLst>
              <a:gd name="adj" fmla="val 3750"/>
            </a:avLst>
          </a:prstGeom>
          <a:solidFill>
            <a:srgbClr val="EEF1F5"/>
          </a:solidFill>
          <a:ln w="12700">
            <a:solidFill>
              <a:srgbClr val="EEF1F5"/>
            </a:solidFill>
            <a:prstDash val="solid"/>
          </a:ln>
        </p:spPr>
      </p:sp>
      <p:sp>
        <p:nvSpPr>
          <p:cNvPr id="6" name="Text 3"/>
          <p:cNvSpPr txBox="1"/>
          <p:nvPr/>
        </p:nvSpPr>
        <p:spPr>
          <a:xfrm>
            <a:off x="7726680" y="1874520"/>
            <a:ext cx="3657600" cy="3200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1 · Classification hiérarchique</a:t>
            </a:r>
            <a:endParaRPr lang="en-US" sz="1400" dirty="0"/>
          </a:p>
        </p:txBody>
      </p:sp>
      <p:sp>
        <p:nvSpPr>
          <p:cNvPr id="7" name="Text 4"/>
          <p:cNvSpPr txBox="1"/>
          <p:nvPr/>
        </p:nvSpPr>
        <p:spPr>
          <a:xfrm>
            <a:off x="7726680" y="2212848"/>
            <a:ext cx="3611880" cy="914400"/>
          </a:xfrm>
          <a:prstGeom prst="rect">
            <a:avLst/>
          </a:prstGeom>
          <a:noFill/>
          <a:ln/>
        </p:spPr>
        <p:txBody>
          <a:bodyPr wrap="square" lIns="0" tIns="0" rIns="0" bIns="0" rtlCol="0" anchor="ctr"/>
          <a:lstStyle/>
          <a:p>
            <a:pPr marL="0" indent="0">
              <a:buNone/>
            </a:pPr>
            <a:r>
              <a:rPr lang="en-US" sz="1200" dirty="0">
                <a:solidFill>
                  <a:srgbClr val="5A6472"/>
                </a:solidFill>
                <a:latin typeface="Calibri" pitchFamily="34" charset="0"/>
                <a:ea typeface="Calibri" pitchFamily="34" charset="-122"/>
                <a:cs typeface="Calibri" pitchFamily="34" charset="-120"/>
              </a:rPr>
              <a:t>Regroupe les pays deux par deux, du plus proche au plus lointain. L'arbre montre où couper sans qu'on ait à décider à l'avance.</a:t>
            </a:r>
            <a:endParaRPr lang="en-US" sz="1200" dirty="0"/>
          </a:p>
        </p:txBody>
      </p:sp>
      <p:sp>
        <p:nvSpPr>
          <p:cNvPr id="8" name="Shape 5"/>
          <p:cNvSpPr/>
          <p:nvPr/>
        </p:nvSpPr>
        <p:spPr>
          <a:xfrm>
            <a:off x="7498080" y="3337560"/>
            <a:ext cx="4023360" cy="1463040"/>
          </a:xfrm>
          <a:prstGeom prst="roundRect">
            <a:avLst>
              <a:gd name="adj" fmla="val 3750"/>
            </a:avLst>
          </a:prstGeom>
          <a:solidFill>
            <a:srgbClr val="1E2761"/>
          </a:solidFill>
          <a:ln w="12700">
            <a:solidFill>
              <a:srgbClr val="1E2761"/>
            </a:solidFill>
            <a:prstDash val="solid"/>
          </a:ln>
        </p:spPr>
      </p:sp>
      <p:sp>
        <p:nvSpPr>
          <p:cNvPr id="9" name="Text 6"/>
          <p:cNvSpPr txBox="1"/>
          <p:nvPr/>
        </p:nvSpPr>
        <p:spPr>
          <a:xfrm>
            <a:off x="7726680" y="3520440"/>
            <a:ext cx="3657600" cy="320040"/>
          </a:xfrm>
          <a:prstGeom prst="rect">
            <a:avLst/>
          </a:prstGeom>
          <a:noFill/>
          <a:ln/>
        </p:spPr>
        <p:txBody>
          <a:bodyPr wrap="square" lIns="0" tIns="0" rIns="0" bIns="0" rtlCol="0" anchor="ctr"/>
          <a:lstStyle/>
          <a:p>
            <a:pPr marL="0" indent="0">
              <a:buNone/>
            </a:pPr>
            <a:r>
              <a:rPr lang="en-US" sz="1400" b="1" dirty="0">
                <a:solidFill>
                  <a:srgbClr val="E07A3F"/>
                </a:solidFill>
                <a:latin typeface="Calibri" pitchFamily="34" charset="0"/>
                <a:ea typeface="Calibri" pitchFamily="34" charset="-122"/>
                <a:cs typeface="Calibri" pitchFamily="34" charset="-120"/>
              </a:rPr>
              <a:t>2 · K-means</a:t>
            </a:r>
            <a:endParaRPr lang="en-US" sz="1400" dirty="0"/>
          </a:p>
        </p:txBody>
      </p:sp>
      <p:sp>
        <p:nvSpPr>
          <p:cNvPr id="10" name="Text 7"/>
          <p:cNvSpPr txBox="1"/>
          <p:nvPr/>
        </p:nvSpPr>
        <p:spPr>
          <a:xfrm>
            <a:off x="7726680" y="3858768"/>
            <a:ext cx="3611880" cy="914400"/>
          </a:xfrm>
          <a:prstGeom prst="rect">
            <a:avLst/>
          </a:prstGeom>
          <a:noFill/>
          <a:ln/>
        </p:spPr>
        <p:txBody>
          <a:bodyPr wrap="square" lIns="0" tIns="0" rIns="0" bIns="0" rtlCol="0" anchor="ctr"/>
          <a:lstStyle/>
          <a:p>
            <a:pPr marL="0" indent="0">
              <a:buNone/>
            </a:pPr>
            <a:r>
              <a:rPr lang="en-US" sz="1200" dirty="0">
                <a:solidFill>
                  <a:srgbClr val="DCE5F5"/>
                </a:solidFill>
                <a:latin typeface="Calibri" pitchFamily="34" charset="0"/>
                <a:ea typeface="Calibri" pitchFamily="34" charset="-122"/>
                <a:cs typeface="Calibri" pitchFamily="34" charset="-120"/>
              </a:rPr>
              <a:t>Place quatre centres et y rattache chaque pays, en corrigeant à chaque itération. Optimise là où la première méthode ne revient jamais en arrière.</a:t>
            </a:r>
            <a:endParaRPr lang="en-US" sz="1200" dirty="0"/>
          </a:p>
        </p:txBody>
      </p:sp>
      <p:sp>
        <p:nvSpPr>
          <p:cNvPr id="11" name="Text 8"/>
          <p:cNvSpPr txBox="1"/>
          <p:nvPr/>
        </p:nvSpPr>
        <p:spPr>
          <a:xfrm>
            <a:off x="640080" y="5074920"/>
            <a:ext cx="10881360" cy="822960"/>
          </a:xfrm>
          <a:prstGeom prst="rect">
            <a:avLst/>
          </a:prstGeom>
          <a:noFill/>
          <a:ln/>
        </p:spPr>
        <p:txBody>
          <a:bodyPr wrap="square" lIns="0" tIns="0" rIns="0" bIns="0" rtlCol="0" anchor="ctr"/>
          <a:lstStyle/>
          <a:p>
            <a:pPr marL="0" indent="0">
              <a:buNone/>
            </a:pPr>
            <a:r>
              <a:rPr lang="en-US" sz="1350" i="1" dirty="0">
                <a:solidFill>
                  <a:srgbClr val="1E2761"/>
                </a:solidFill>
                <a:latin typeface="Calibri" pitchFamily="34" charset="0"/>
                <a:ea typeface="Calibri" pitchFamily="34" charset="-122"/>
                <a:cs typeface="Calibri" pitchFamily="34" charset="-120"/>
              </a:rPr>
              <a:t>Pourquoi quatre groupes ? Les critères statistiques indiquaient une plage de trois à six. J'ai retenu quatre en ajoutant un critère métier : c'est un nombre de segments sur lequel un comité peut arbitrer.</a:t>
            </a:r>
            <a:endParaRPr lang="en-US" sz="1350" dirty="0"/>
          </a:p>
        </p:txBody>
      </p:sp>
      <p:sp>
        <p:nvSpPr>
          <p:cNvPr id="13" name="Text 9"/>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A8B0BC"/>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Les deux méthodes convergent</a:t>
            </a:r>
            <a:endParaRPr lang="en-US" sz="3000" dirty="0"/>
          </a:p>
        </p:txBody>
      </p:sp>
      <p:sp>
        <p:nvSpPr>
          <p:cNvPr id="3" name="Text 1"/>
          <p:cNvSpPr txBox="1"/>
          <p:nvPr/>
        </p:nvSpPr>
        <p:spPr>
          <a:xfrm>
            <a:off x="640080" y="1078992"/>
            <a:ext cx="10881360" cy="365760"/>
          </a:xfrm>
          <a:prstGeom prst="rect">
            <a:avLst/>
          </a:prstGeom>
          <a:noFill/>
          <a:ln/>
        </p:spPr>
        <p:txBody>
          <a:bodyPr wrap="square" lIns="0" tIns="0" rIns="0" bIns="0" rtlCol="0" anchor="ctr"/>
          <a:lstStyle/>
          <a:p>
            <a:pPr marL="0" indent="0">
              <a:buNone/>
            </a:pPr>
            <a:r>
              <a:rPr lang="en-US" sz="1400" i="1" dirty="0">
                <a:solidFill>
                  <a:srgbClr val="CADCFC"/>
                </a:solidFill>
                <a:latin typeface="Calibri" pitchFamily="34" charset="0"/>
                <a:ea typeface="Calibri" pitchFamily="34" charset="-122"/>
                <a:cs typeface="Calibri" pitchFamily="34" charset="-120"/>
              </a:rPr>
              <a:t>C'est ce qui valide la segmentation</a:t>
            </a:r>
            <a:endParaRPr lang="en-US" sz="1400" dirty="0"/>
          </a:p>
        </p:txBody>
      </p:sp>
      <p:sp>
        <p:nvSpPr>
          <p:cNvPr id="4" name="Shape 2"/>
          <p:cNvSpPr/>
          <p:nvPr/>
        </p:nvSpPr>
        <p:spPr>
          <a:xfrm>
            <a:off x="640080" y="1920240"/>
            <a:ext cx="3429000" cy="2286000"/>
          </a:xfrm>
          <a:prstGeom prst="roundRect">
            <a:avLst>
              <a:gd name="adj" fmla="val 2400"/>
            </a:avLst>
          </a:prstGeom>
          <a:solidFill>
            <a:srgbClr val="2A3670"/>
          </a:solidFill>
          <a:ln w="12700">
            <a:solidFill>
              <a:srgbClr val="333333"/>
            </a:solidFill>
            <a:prstDash val="solid"/>
          </a:ln>
        </p:spPr>
      </p:sp>
      <p:sp>
        <p:nvSpPr>
          <p:cNvPr id="5" name="Text 3"/>
          <p:cNvSpPr txBox="1"/>
          <p:nvPr/>
        </p:nvSpPr>
        <p:spPr>
          <a:xfrm>
            <a:off x="640080" y="2194560"/>
            <a:ext cx="3429000" cy="868680"/>
          </a:xfrm>
          <a:prstGeom prst="rect">
            <a:avLst/>
          </a:prstGeom>
          <a:noFill/>
          <a:ln/>
        </p:spPr>
        <p:txBody>
          <a:bodyPr wrap="square" lIns="0" tIns="0" rIns="0" bIns="0" rtlCol="0" anchor="ctr"/>
          <a:lstStyle/>
          <a:p>
            <a:pPr marL="0" indent="0" algn="ctr">
              <a:buNone/>
            </a:pPr>
            <a:r>
              <a:rPr lang="en-US" sz="4200" b="1" dirty="0">
                <a:solidFill>
                  <a:srgbClr val="FFFFFF"/>
                </a:solidFill>
                <a:latin typeface="Calibri" pitchFamily="34" charset="0"/>
                <a:ea typeface="Calibri" pitchFamily="34" charset="-122"/>
                <a:cs typeface="Calibri" pitchFamily="34" charset="-120"/>
              </a:rPr>
              <a:t>82,9 %</a:t>
            </a:r>
            <a:endParaRPr lang="en-US" sz="4200" dirty="0"/>
          </a:p>
        </p:txBody>
      </p:sp>
      <p:sp>
        <p:nvSpPr>
          <p:cNvPr id="6" name="Text 4"/>
          <p:cNvSpPr txBox="1"/>
          <p:nvPr/>
        </p:nvSpPr>
        <p:spPr>
          <a:xfrm>
            <a:off x="914400" y="3154680"/>
            <a:ext cx="2880360" cy="914400"/>
          </a:xfrm>
          <a:prstGeom prst="rect">
            <a:avLst/>
          </a:prstGeom>
          <a:noFill/>
          <a:ln/>
        </p:spPr>
        <p:txBody>
          <a:bodyPr wrap="square" lIns="0" tIns="0" rIns="0" bIns="0" rtlCol="0" anchor="ctr"/>
          <a:lstStyle/>
          <a:p>
            <a:pPr marL="0" indent="0" algn="ctr">
              <a:buNone/>
            </a:pPr>
            <a:r>
              <a:rPr lang="en-US" sz="1250" dirty="0">
                <a:solidFill>
                  <a:srgbClr val="CADCFC"/>
                </a:solidFill>
                <a:latin typeface="Calibri" pitchFamily="34" charset="0"/>
                <a:ea typeface="Calibri" pitchFamily="34" charset="-122"/>
                <a:cs typeface="Calibri" pitchFamily="34" charset="-120"/>
              </a:rPr>
              <a:t>des pays sont classés dans le même groupe par les deux méthodes</a:t>
            </a:r>
            <a:endParaRPr lang="en-US" sz="1250" dirty="0"/>
          </a:p>
        </p:txBody>
      </p:sp>
      <p:sp>
        <p:nvSpPr>
          <p:cNvPr id="7" name="Shape 5"/>
          <p:cNvSpPr/>
          <p:nvPr/>
        </p:nvSpPr>
        <p:spPr>
          <a:xfrm>
            <a:off x="4389120" y="1920240"/>
            <a:ext cx="3429000" cy="2286000"/>
          </a:xfrm>
          <a:prstGeom prst="roundRect">
            <a:avLst>
              <a:gd name="adj" fmla="val 2400"/>
            </a:avLst>
          </a:prstGeom>
          <a:solidFill>
            <a:srgbClr val="2A3670"/>
          </a:solidFill>
          <a:ln w="12700">
            <a:solidFill>
              <a:srgbClr val="333333"/>
            </a:solidFill>
            <a:prstDash val="solid"/>
          </a:ln>
        </p:spPr>
      </p:sp>
      <p:sp>
        <p:nvSpPr>
          <p:cNvPr id="8" name="Text 6"/>
          <p:cNvSpPr txBox="1"/>
          <p:nvPr/>
        </p:nvSpPr>
        <p:spPr>
          <a:xfrm>
            <a:off x="4389120" y="2194560"/>
            <a:ext cx="3429000" cy="868680"/>
          </a:xfrm>
          <a:prstGeom prst="rect">
            <a:avLst/>
          </a:prstGeom>
          <a:noFill/>
          <a:ln/>
        </p:spPr>
        <p:txBody>
          <a:bodyPr wrap="square" lIns="0" tIns="0" rIns="0" bIns="0" rtlCol="0" anchor="ctr"/>
          <a:lstStyle/>
          <a:p>
            <a:pPr marL="0" indent="0" algn="ctr">
              <a:buNone/>
            </a:pPr>
            <a:r>
              <a:rPr lang="en-US" sz="4200" b="1" dirty="0">
                <a:solidFill>
                  <a:srgbClr val="FFFFFF"/>
                </a:solidFill>
                <a:latin typeface="Calibri" pitchFamily="34" charset="0"/>
                <a:ea typeface="Calibri" pitchFamily="34" charset="-122"/>
                <a:cs typeface="Calibri" pitchFamily="34" charset="-120"/>
              </a:rPr>
              <a:t>0,63</a:t>
            </a:r>
            <a:endParaRPr lang="en-US" sz="4200" dirty="0"/>
          </a:p>
        </p:txBody>
      </p:sp>
      <p:sp>
        <p:nvSpPr>
          <p:cNvPr id="9" name="Text 7"/>
          <p:cNvSpPr txBox="1"/>
          <p:nvPr/>
        </p:nvSpPr>
        <p:spPr>
          <a:xfrm>
            <a:off x="4663440" y="3154680"/>
            <a:ext cx="2880360" cy="914400"/>
          </a:xfrm>
          <a:prstGeom prst="rect">
            <a:avLst/>
          </a:prstGeom>
          <a:noFill/>
          <a:ln/>
        </p:spPr>
        <p:txBody>
          <a:bodyPr wrap="square" lIns="0" tIns="0" rIns="0" bIns="0" rtlCol="0" anchor="ctr"/>
          <a:lstStyle/>
          <a:p>
            <a:pPr marL="0" indent="0" algn="ctr">
              <a:buNone/>
            </a:pPr>
            <a:r>
              <a:rPr lang="en-US" sz="1250" dirty="0">
                <a:solidFill>
                  <a:srgbClr val="CADCFC"/>
                </a:solidFill>
                <a:latin typeface="Calibri" pitchFamily="34" charset="0"/>
                <a:ea typeface="Calibri" pitchFamily="34" charset="-122"/>
                <a:cs typeface="Calibri" pitchFamily="34" charset="-120"/>
              </a:rPr>
              <a:t>indice de concordance — un accord qualifié de substantiel</a:t>
            </a:r>
            <a:endParaRPr lang="en-US" sz="1250" dirty="0"/>
          </a:p>
        </p:txBody>
      </p:sp>
      <p:sp>
        <p:nvSpPr>
          <p:cNvPr id="10" name="Shape 8"/>
          <p:cNvSpPr/>
          <p:nvPr/>
        </p:nvSpPr>
        <p:spPr>
          <a:xfrm>
            <a:off x="8138160" y="1920240"/>
            <a:ext cx="3429000" cy="2286000"/>
          </a:xfrm>
          <a:prstGeom prst="roundRect">
            <a:avLst>
              <a:gd name="adj" fmla="val 2400"/>
            </a:avLst>
          </a:prstGeom>
          <a:solidFill>
            <a:srgbClr val="2A3670"/>
          </a:solidFill>
          <a:ln w="12700">
            <a:solidFill>
              <a:srgbClr val="333333"/>
            </a:solidFill>
            <a:prstDash val="solid"/>
          </a:ln>
        </p:spPr>
      </p:sp>
      <p:sp>
        <p:nvSpPr>
          <p:cNvPr id="11" name="Text 9"/>
          <p:cNvSpPr txBox="1"/>
          <p:nvPr/>
        </p:nvSpPr>
        <p:spPr>
          <a:xfrm>
            <a:off x="8138160" y="2194560"/>
            <a:ext cx="3429000" cy="868680"/>
          </a:xfrm>
          <a:prstGeom prst="rect">
            <a:avLst/>
          </a:prstGeom>
          <a:noFill/>
          <a:ln/>
        </p:spPr>
        <p:txBody>
          <a:bodyPr wrap="square" lIns="0" tIns="0" rIns="0" bIns="0" rtlCol="0" anchor="ctr"/>
          <a:lstStyle/>
          <a:p>
            <a:pPr marL="0" indent="0" algn="ctr">
              <a:buNone/>
            </a:pPr>
            <a:r>
              <a:rPr lang="en-US" sz="4200" b="1" dirty="0">
                <a:solidFill>
                  <a:srgbClr val="E07A3F"/>
                </a:solidFill>
                <a:latin typeface="Calibri" pitchFamily="34" charset="0"/>
                <a:ea typeface="Calibri" pitchFamily="34" charset="-122"/>
                <a:cs typeface="Calibri" pitchFamily="34" charset="-120"/>
              </a:rPr>
              <a:t>28</a:t>
            </a:r>
            <a:endParaRPr lang="en-US" sz="4200" dirty="0"/>
          </a:p>
        </p:txBody>
      </p:sp>
      <p:sp>
        <p:nvSpPr>
          <p:cNvPr id="12" name="Text 10"/>
          <p:cNvSpPr txBox="1"/>
          <p:nvPr/>
        </p:nvSpPr>
        <p:spPr>
          <a:xfrm>
            <a:off x="8412480" y="3154680"/>
            <a:ext cx="2880360" cy="914400"/>
          </a:xfrm>
          <a:prstGeom prst="rect">
            <a:avLst/>
          </a:prstGeom>
          <a:noFill/>
          <a:ln/>
        </p:spPr>
        <p:txBody>
          <a:bodyPr wrap="square" lIns="0" tIns="0" rIns="0" bIns="0" rtlCol="0" anchor="ctr"/>
          <a:lstStyle/>
          <a:p>
            <a:pPr marL="0" indent="0" algn="ctr">
              <a:buNone/>
            </a:pPr>
            <a:r>
              <a:rPr lang="en-US" sz="1250" dirty="0">
                <a:solidFill>
                  <a:srgbClr val="CADCFC"/>
                </a:solidFill>
                <a:latin typeface="Calibri" pitchFamily="34" charset="0"/>
                <a:ea typeface="Calibri" pitchFamily="34" charset="-122"/>
                <a:cs typeface="Calibri" pitchFamily="34" charset="-120"/>
              </a:rPr>
              <a:t>pays classés différemment, tous situés aux frontières entre groupes</a:t>
            </a:r>
            <a:endParaRPr lang="en-US" sz="1250" dirty="0"/>
          </a:p>
        </p:txBody>
      </p:sp>
      <p:sp>
        <p:nvSpPr>
          <p:cNvPr id="13" name="Text 11"/>
          <p:cNvSpPr txBox="1"/>
          <p:nvPr/>
        </p:nvSpPr>
        <p:spPr>
          <a:xfrm>
            <a:off x="640080" y="4572000"/>
            <a:ext cx="10881360" cy="73152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Si deux algorithmes fondés sur des principes différents trouvent les mêmes groupes, c'est que ces groupes existent dans les données et ne sont pas un artefact de méthode.</a:t>
            </a:r>
            <a:endParaRPr lang="en-US" sz="1500" dirty="0"/>
          </a:p>
        </p:txBody>
      </p:sp>
      <p:sp>
        <p:nvSpPr>
          <p:cNvPr id="14" name="Text 12"/>
          <p:cNvSpPr txBox="1"/>
          <p:nvPr/>
        </p:nvSpPr>
        <p:spPr>
          <a:xfrm>
            <a:off x="640080" y="5394960"/>
            <a:ext cx="10881360" cy="640080"/>
          </a:xfrm>
          <a:prstGeom prst="rect">
            <a:avLst/>
          </a:prstGeom>
          <a:noFill/>
          <a:ln/>
        </p:spPr>
        <p:txBody>
          <a:bodyPr wrap="square" lIns="0" tIns="0" rIns="0" bIns="0" rtlCol="0" anchor="ctr"/>
          <a:lstStyle/>
          <a:p>
            <a:pPr marL="0" indent="0">
              <a:buNone/>
            </a:pPr>
            <a:r>
              <a:rPr lang="en-US" sz="1300" i="1" dirty="0">
                <a:solidFill>
                  <a:srgbClr val="9FB0D0"/>
                </a:solidFill>
                <a:latin typeface="Calibri" pitchFamily="34" charset="0"/>
                <a:ea typeface="Calibri" pitchFamily="34" charset="-122"/>
                <a:cs typeface="Calibri" pitchFamily="34" charset="-120"/>
              </a:rPr>
              <a:t>Les 28 pays divergents sont ceux dont l'appartenance est fragile. C'est une information utile : ce sont les cas à réexaminer avant toute décision les concernant.</a:t>
            </a:r>
            <a:endParaRPr lang="en-US" sz="1300" dirty="0"/>
          </a:p>
        </p:txBody>
      </p:sp>
      <p:sp>
        <p:nvSpPr>
          <p:cNvPr id="16" name="Text 13"/>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A8B0B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731520"/>
          </a:xfrm>
          <a:prstGeom prst="rect">
            <a:avLst/>
          </a:prstGeom>
          <a:noFill/>
          <a:ln/>
        </p:spPr>
        <p:txBody>
          <a:bodyPr wrap="square" lIns="0" tIns="0" rIns="0" bIns="0" rtlCol="0" anchor="ctr"/>
          <a:lstStyle/>
          <a:p>
            <a:pPr marL="0" indent="0" algn="l">
              <a:buNone/>
            </a:pPr>
            <a:r>
              <a:rPr lang="en-US" sz="3000" b="1" dirty="0">
                <a:solidFill>
                  <a:srgbClr val="1E2761"/>
                </a:solidFill>
                <a:latin typeface="Calibri" pitchFamily="34" charset="0"/>
                <a:ea typeface="Calibri" pitchFamily="34" charset="-122"/>
                <a:cs typeface="Calibri" pitchFamily="34" charset="-120"/>
              </a:rPr>
              <a:t>Les quatre groupes</a:t>
            </a:r>
            <a:endParaRPr lang="en-US" sz="3000" dirty="0"/>
          </a:p>
        </p:txBody>
      </p:sp>
      <p:sp>
        <p:nvSpPr>
          <p:cNvPr id="3" name="Shape 1"/>
          <p:cNvSpPr/>
          <p:nvPr/>
        </p:nvSpPr>
        <p:spPr>
          <a:xfrm>
            <a:off x="640080" y="1371600"/>
            <a:ext cx="10881360" cy="1097280"/>
          </a:xfrm>
          <a:prstGeom prst="roundRect">
            <a:avLst>
              <a:gd name="adj" fmla="val 5000"/>
            </a:avLst>
          </a:prstGeom>
          <a:solidFill>
            <a:srgbClr val="EEF1F5"/>
          </a:solidFill>
          <a:ln w="12700">
            <a:solidFill>
              <a:srgbClr val="EEF1F5"/>
            </a:solidFill>
            <a:prstDash val="solid"/>
          </a:ln>
        </p:spPr>
      </p:sp>
      <p:sp>
        <p:nvSpPr>
          <p:cNvPr id="4" name="Shape 2"/>
          <p:cNvSpPr/>
          <p:nvPr/>
        </p:nvSpPr>
        <p:spPr>
          <a:xfrm>
            <a:off x="868680" y="1645920"/>
            <a:ext cx="566928" cy="566928"/>
          </a:xfrm>
          <a:prstGeom prst="ellipse">
            <a:avLst/>
          </a:prstGeom>
          <a:solidFill>
            <a:srgbClr val="1E2761"/>
          </a:solidFill>
          <a:ln w="12700">
            <a:solidFill>
              <a:srgbClr val="333333"/>
            </a:solidFill>
            <a:prstDash val="solid"/>
          </a:ln>
        </p:spPr>
      </p:sp>
      <p:sp>
        <p:nvSpPr>
          <p:cNvPr id="5" name="Text 3"/>
          <p:cNvSpPr txBox="1"/>
          <p:nvPr/>
        </p:nvSpPr>
        <p:spPr>
          <a:xfrm>
            <a:off x="868680" y="1728216"/>
            <a:ext cx="56692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1645920" y="1508760"/>
            <a:ext cx="3108960" cy="365760"/>
          </a:xfrm>
          <a:prstGeom prst="rect">
            <a:avLst/>
          </a:prstGeom>
          <a:noFill/>
          <a:ln/>
        </p:spPr>
        <p:txBody>
          <a:bodyPr wrap="square" lIns="0" tIns="0" rIns="0" bIns="0" rtlCol="0" anchor="ctr"/>
          <a:lstStyle/>
          <a:p>
            <a:pPr marL="0" indent="0">
              <a:buNone/>
            </a:pPr>
            <a:r>
              <a:rPr lang="en-US" sz="1550" b="1" dirty="0">
                <a:solidFill>
                  <a:srgbClr val="1E2761"/>
                </a:solidFill>
                <a:latin typeface="Calibri" pitchFamily="34" charset="0"/>
                <a:ea typeface="Calibri" pitchFamily="34" charset="-122"/>
                <a:cs typeface="Calibri" pitchFamily="34" charset="-120"/>
              </a:rPr>
              <a:t>Émergents autosuffisants</a:t>
            </a:r>
            <a:endParaRPr lang="en-US" sz="1550" dirty="0"/>
          </a:p>
        </p:txBody>
      </p:sp>
      <p:sp>
        <p:nvSpPr>
          <p:cNvPr id="7" name="Text 5"/>
          <p:cNvSpPr txBox="1"/>
          <p:nvPr/>
        </p:nvSpPr>
        <p:spPr>
          <a:xfrm>
            <a:off x="1645920" y="1901952"/>
            <a:ext cx="3108960" cy="320040"/>
          </a:xfrm>
          <a:prstGeom prst="rect">
            <a:avLst/>
          </a:prstGeom>
          <a:noFill/>
          <a:ln/>
        </p:spPr>
        <p:txBody>
          <a:bodyPr wrap="square" lIns="0" tIns="0" rIns="0" bIns="0" rtlCol="0" anchor="ctr"/>
          <a:lstStyle/>
          <a:p>
            <a:pPr marL="0" indent="0">
              <a:buNone/>
            </a:pPr>
            <a:r>
              <a:rPr lang="en-US" sz="1200" dirty="0">
                <a:solidFill>
                  <a:srgbClr val="5A6472"/>
                </a:solidFill>
                <a:latin typeface="Calibri" pitchFamily="34" charset="0"/>
                <a:ea typeface="Calibri" pitchFamily="34" charset="-122"/>
                <a:cs typeface="Calibri" pitchFamily="34" charset="-120"/>
              </a:rPr>
              <a:t>52 pays · 3,4 Md hab.</a:t>
            </a:r>
            <a:endParaRPr lang="en-US" sz="1200" dirty="0"/>
          </a:p>
        </p:txBody>
      </p:sp>
      <p:sp>
        <p:nvSpPr>
          <p:cNvPr id="8" name="Text 6"/>
          <p:cNvSpPr txBox="1"/>
          <p:nvPr/>
        </p:nvSpPr>
        <p:spPr>
          <a:xfrm>
            <a:off x="4937760" y="1554480"/>
            <a:ext cx="3657600" cy="731520"/>
          </a:xfrm>
          <a:prstGeom prst="rect">
            <a:avLst/>
          </a:prstGeom>
          <a:noFill/>
          <a:ln/>
        </p:spPr>
        <p:txBody>
          <a:bodyPr wrap="square" lIns="0" tIns="0" rIns="0" bIns="0" rtlCol="0" anchor="ctr"/>
          <a:lstStyle/>
          <a:p>
            <a:pPr marL="0" indent="0">
              <a:buNone/>
            </a:pPr>
            <a:r>
              <a:rPr lang="en-US" sz="1200" dirty="0">
                <a:solidFill>
                  <a:srgbClr val="333333"/>
                </a:solidFill>
                <a:latin typeface="Calibri" pitchFamily="34" charset="0"/>
                <a:ea typeface="Calibri" pitchFamily="34" charset="-122"/>
                <a:cs typeface="Calibri" pitchFamily="34" charset="-120"/>
              </a:rPr>
              <a:t>2 416 $ de PIB/hab · 8,8 kg de volaille · 11 % d'importations</a:t>
            </a:r>
            <a:endParaRPr lang="en-US" sz="1200" dirty="0"/>
          </a:p>
        </p:txBody>
      </p:sp>
      <p:sp>
        <p:nvSpPr>
          <p:cNvPr id="9" name="Text 7"/>
          <p:cNvSpPr txBox="1"/>
          <p:nvPr/>
        </p:nvSpPr>
        <p:spPr>
          <a:xfrm>
            <a:off x="8778240" y="1554480"/>
            <a:ext cx="2606040" cy="731520"/>
          </a:xfrm>
          <a:prstGeom prst="rect">
            <a:avLst/>
          </a:prstGeom>
          <a:noFill/>
          <a:ln/>
        </p:spPr>
        <p:txBody>
          <a:bodyPr wrap="square" lIns="0" tIns="0" rIns="0" bIns="0" rtlCol="0" anchor="ctr"/>
          <a:lstStyle/>
          <a:p>
            <a:pPr marL="0" indent="0">
              <a:buNone/>
            </a:pPr>
            <a:r>
              <a:rPr lang="en-US" sz="1200" dirty="0">
                <a:solidFill>
                  <a:srgbClr val="5A6472"/>
                </a:solidFill>
                <a:latin typeface="Calibri" pitchFamily="34" charset="0"/>
                <a:ea typeface="Calibri" pitchFamily="34" charset="-122"/>
                <a:cs typeface="Calibri" pitchFamily="34" charset="-120"/>
              </a:rPr>
              <a:t>Volume énorme, pouvoir d'achat insuffisant</a:t>
            </a:r>
            <a:endParaRPr lang="en-US" sz="1200" dirty="0"/>
          </a:p>
        </p:txBody>
      </p:sp>
      <p:sp>
        <p:nvSpPr>
          <p:cNvPr id="10" name="Shape 8"/>
          <p:cNvSpPr/>
          <p:nvPr/>
        </p:nvSpPr>
        <p:spPr>
          <a:xfrm>
            <a:off x="640080" y="2651760"/>
            <a:ext cx="10881360" cy="1097280"/>
          </a:xfrm>
          <a:prstGeom prst="roundRect">
            <a:avLst>
              <a:gd name="adj" fmla="val 5000"/>
            </a:avLst>
          </a:prstGeom>
          <a:solidFill>
            <a:srgbClr val="EEF1F5"/>
          </a:solidFill>
          <a:ln w="12700">
            <a:solidFill>
              <a:srgbClr val="EEF1F5"/>
            </a:solidFill>
            <a:prstDash val="solid"/>
          </a:ln>
        </p:spPr>
      </p:sp>
      <p:sp>
        <p:nvSpPr>
          <p:cNvPr id="11" name="Shape 9"/>
          <p:cNvSpPr/>
          <p:nvPr/>
        </p:nvSpPr>
        <p:spPr>
          <a:xfrm>
            <a:off x="868680" y="2926080"/>
            <a:ext cx="566928" cy="566928"/>
          </a:xfrm>
          <a:prstGeom prst="ellipse">
            <a:avLst/>
          </a:prstGeom>
          <a:solidFill>
            <a:srgbClr val="E07A3F"/>
          </a:solidFill>
          <a:ln w="12700">
            <a:solidFill>
              <a:srgbClr val="333333"/>
            </a:solidFill>
            <a:prstDash val="solid"/>
          </a:ln>
        </p:spPr>
      </p:sp>
      <p:sp>
        <p:nvSpPr>
          <p:cNvPr id="12" name="Text 10"/>
          <p:cNvSpPr txBox="1"/>
          <p:nvPr/>
        </p:nvSpPr>
        <p:spPr>
          <a:xfrm>
            <a:off x="868680" y="3008376"/>
            <a:ext cx="56692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1"/>
          <p:cNvSpPr txBox="1"/>
          <p:nvPr/>
        </p:nvSpPr>
        <p:spPr>
          <a:xfrm>
            <a:off x="1645920" y="2788920"/>
            <a:ext cx="3108960" cy="365760"/>
          </a:xfrm>
          <a:prstGeom prst="rect">
            <a:avLst/>
          </a:prstGeom>
          <a:noFill/>
          <a:ln/>
        </p:spPr>
        <p:txBody>
          <a:bodyPr wrap="square" lIns="0" tIns="0" rIns="0" bIns="0" rtlCol="0" anchor="ctr"/>
          <a:lstStyle/>
          <a:p>
            <a:pPr marL="0" indent="0">
              <a:buNone/>
            </a:pPr>
            <a:r>
              <a:rPr lang="en-US" sz="1550" b="1" dirty="0">
                <a:solidFill>
                  <a:srgbClr val="1E2761"/>
                </a:solidFill>
                <a:latin typeface="Calibri" pitchFamily="34" charset="0"/>
                <a:ea typeface="Calibri" pitchFamily="34" charset="-122"/>
                <a:cs typeface="Calibri" pitchFamily="34" charset="-120"/>
              </a:rPr>
              <a:t>Puissances productives</a:t>
            </a:r>
            <a:endParaRPr lang="en-US" sz="1550" dirty="0"/>
          </a:p>
        </p:txBody>
      </p:sp>
      <p:sp>
        <p:nvSpPr>
          <p:cNvPr id="14" name="Text 12"/>
          <p:cNvSpPr txBox="1"/>
          <p:nvPr/>
        </p:nvSpPr>
        <p:spPr>
          <a:xfrm>
            <a:off x="1645920" y="3182112"/>
            <a:ext cx="3108960" cy="320040"/>
          </a:xfrm>
          <a:prstGeom prst="rect">
            <a:avLst/>
          </a:prstGeom>
          <a:noFill/>
          <a:ln/>
        </p:spPr>
        <p:txBody>
          <a:bodyPr wrap="square" lIns="0" tIns="0" rIns="0" bIns="0" rtlCol="0" anchor="ctr"/>
          <a:lstStyle/>
          <a:p>
            <a:pPr marL="0" indent="0">
              <a:buNone/>
            </a:pPr>
            <a:r>
              <a:rPr lang="en-US" sz="1200" dirty="0">
                <a:solidFill>
                  <a:srgbClr val="5A6472"/>
                </a:solidFill>
                <a:latin typeface="Calibri" pitchFamily="34" charset="0"/>
                <a:ea typeface="Calibri" pitchFamily="34" charset="-122"/>
                <a:cs typeface="Calibri" pitchFamily="34" charset="-120"/>
              </a:rPr>
              <a:t>51 pays · 3,6 Md hab.</a:t>
            </a:r>
            <a:endParaRPr lang="en-US" sz="1200" dirty="0"/>
          </a:p>
        </p:txBody>
      </p:sp>
      <p:sp>
        <p:nvSpPr>
          <p:cNvPr id="15" name="Text 13"/>
          <p:cNvSpPr txBox="1"/>
          <p:nvPr/>
        </p:nvSpPr>
        <p:spPr>
          <a:xfrm>
            <a:off x="4937760" y="2834640"/>
            <a:ext cx="3657600" cy="731520"/>
          </a:xfrm>
          <a:prstGeom prst="rect">
            <a:avLst/>
          </a:prstGeom>
          <a:noFill/>
          <a:ln/>
        </p:spPr>
        <p:txBody>
          <a:bodyPr wrap="square" lIns="0" tIns="0" rIns="0" bIns="0" rtlCol="0" anchor="ctr"/>
          <a:lstStyle/>
          <a:p>
            <a:pPr marL="0" indent="0">
              <a:buNone/>
            </a:pPr>
            <a:r>
              <a:rPr lang="en-US" sz="1200" dirty="0">
                <a:solidFill>
                  <a:srgbClr val="333333"/>
                </a:solidFill>
                <a:latin typeface="Calibri" pitchFamily="34" charset="0"/>
                <a:ea typeface="Calibri" pitchFamily="34" charset="-122"/>
                <a:cs typeface="Calibri" pitchFamily="34" charset="-120"/>
              </a:rPr>
              <a:t>26 725 $ de PIB/hab · 27,5 kg · 114 % d'autosuffisance</a:t>
            </a:r>
            <a:endParaRPr lang="en-US" sz="1200" dirty="0"/>
          </a:p>
        </p:txBody>
      </p:sp>
      <p:sp>
        <p:nvSpPr>
          <p:cNvPr id="16" name="Text 14"/>
          <p:cNvSpPr txBox="1"/>
          <p:nvPr/>
        </p:nvSpPr>
        <p:spPr>
          <a:xfrm>
            <a:off x="8778240" y="2834640"/>
            <a:ext cx="2606040" cy="731520"/>
          </a:xfrm>
          <a:prstGeom prst="rect">
            <a:avLst/>
          </a:prstGeom>
          <a:noFill/>
          <a:ln/>
        </p:spPr>
        <p:txBody>
          <a:bodyPr wrap="square" lIns="0" tIns="0" rIns="0" bIns="0" rtlCol="0" anchor="ctr"/>
          <a:lstStyle/>
          <a:p>
            <a:pPr marL="0" indent="0">
              <a:buNone/>
            </a:pPr>
            <a:r>
              <a:rPr lang="en-US" sz="1200" dirty="0">
                <a:solidFill>
                  <a:srgbClr val="5A6472"/>
                </a:solidFill>
                <a:latin typeface="Calibri" pitchFamily="34" charset="0"/>
                <a:ea typeface="Calibri" pitchFamily="34" charset="-122"/>
                <a:cs typeface="Calibri" pitchFamily="34" charset="-120"/>
              </a:rPr>
              <a:t>Riches mais concurrents : ils produisent plus qu'ils ne consomment</a:t>
            </a:r>
            <a:endParaRPr lang="en-US" sz="1200" dirty="0"/>
          </a:p>
        </p:txBody>
      </p:sp>
      <p:sp>
        <p:nvSpPr>
          <p:cNvPr id="17" name="Shape 15"/>
          <p:cNvSpPr/>
          <p:nvPr/>
        </p:nvSpPr>
        <p:spPr>
          <a:xfrm>
            <a:off x="640080" y="3931920"/>
            <a:ext cx="10881360" cy="1097280"/>
          </a:xfrm>
          <a:prstGeom prst="roundRect">
            <a:avLst>
              <a:gd name="adj" fmla="val 5000"/>
            </a:avLst>
          </a:prstGeom>
          <a:solidFill>
            <a:srgbClr val="EAF3EE"/>
          </a:solidFill>
          <a:ln w="12700">
            <a:solidFill>
              <a:srgbClr val="EAF3EE"/>
            </a:solidFill>
            <a:prstDash val="solid"/>
          </a:ln>
        </p:spPr>
      </p:sp>
      <p:sp>
        <p:nvSpPr>
          <p:cNvPr id="18" name="Shape 16"/>
          <p:cNvSpPr/>
          <p:nvPr/>
        </p:nvSpPr>
        <p:spPr>
          <a:xfrm>
            <a:off x="868680" y="4206240"/>
            <a:ext cx="566928" cy="566928"/>
          </a:xfrm>
          <a:prstGeom prst="ellipse">
            <a:avLst/>
          </a:prstGeom>
          <a:solidFill>
            <a:srgbClr val="4A9D5F"/>
          </a:solidFill>
          <a:ln w="12700">
            <a:solidFill>
              <a:srgbClr val="333333"/>
            </a:solidFill>
            <a:prstDash val="solid"/>
          </a:ln>
        </p:spPr>
      </p:sp>
      <p:sp>
        <p:nvSpPr>
          <p:cNvPr id="19" name="Text 17"/>
          <p:cNvSpPr txBox="1"/>
          <p:nvPr/>
        </p:nvSpPr>
        <p:spPr>
          <a:xfrm>
            <a:off x="868680" y="4288536"/>
            <a:ext cx="56692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0" name="Text 18"/>
          <p:cNvSpPr txBox="1"/>
          <p:nvPr/>
        </p:nvSpPr>
        <p:spPr>
          <a:xfrm>
            <a:off x="1645920" y="4069080"/>
            <a:ext cx="3108960" cy="365760"/>
          </a:xfrm>
          <a:prstGeom prst="rect">
            <a:avLst/>
          </a:prstGeom>
          <a:noFill/>
          <a:ln/>
        </p:spPr>
        <p:txBody>
          <a:bodyPr wrap="square" lIns="0" tIns="0" rIns="0" bIns="0" rtlCol="0" anchor="ctr"/>
          <a:lstStyle/>
          <a:p>
            <a:pPr marL="0" indent="0">
              <a:buNone/>
            </a:pPr>
            <a:r>
              <a:rPr lang="en-US" sz="1550" b="1" dirty="0">
                <a:solidFill>
                  <a:srgbClr val="1E2761"/>
                </a:solidFill>
                <a:latin typeface="Calibri" pitchFamily="34" charset="0"/>
                <a:ea typeface="Calibri" pitchFamily="34" charset="-122"/>
                <a:cs typeface="Calibri" pitchFamily="34" charset="-120"/>
              </a:rPr>
              <a:t>Petits marchés importateurs</a:t>
            </a:r>
            <a:endParaRPr lang="en-US" sz="1550" dirty="0"/>
          </a:p>
        </p:txBody>
      </p:sp>
      <p:sp>
        <p:nvSpPr>
          <p:cNvPr id="21" name="Text 19"/>
          <p:cNvSpPr txBox="1"/>
          <p:nvPr/>
        </p:nvSpPr>
        <p:spPr>
          <a:xfrm>
            <a:off x="1645920" y="4462272"/>
            <a:ext cx="3108960" cy="320040"/>
          </a:xfrm>
          <a:prstGeom prst="rect">
            <a:avLst/>
          </a:prstGeom>
          <a:noFill/>
          <a:ln/>
        </p:spPr>
        <p:txBody>
          <a:bodyPr wrap="square" lIns="0" tIns="0" rIns="0" bIns="0" rtlCol="0" anchor="ctr"/>
          <a:lstStyle/>
          <a:p>
            <a:pPr marL="0" indent="0">
              <a:buNone/>
            </a:pPr>
            <a:r>
              <a:rPr lang="en-US" sz="1200" dirty="0">
                <a:solidFill>
                  <a:srgbClr val="5A6472"/>
                </a:solidFill>
                <a:latin typeface="Calibri" pitchFamily="34" charset="0"/>
                <a:ea typeface="Calibri" pitchFamily="34" charset="-122"/>
                <a:cs typeface="Calibri" pitchFamily="34" charset="-120"/>
              </a:rPr>
              <a:t>34 pays · 64 M hab.</a:t>
            </a:r>
            <a:endParaRPr lang="en-US" sz="1200" dirty="0"/>
          </a:p>
        </p:txBody>
      </p:sp>
      <p:sp>
        <p:nvSpPr>
          <p:cNvPr id="22" name="Text 20"/>
          <p:cNvSpPr txBox="1"/>
          <p:nvPr/>
        </p:nvSpPr>
        <p:spPr>
          <a:xfrm>
            <a:off x="4937760" y="4114800"/>
            <a:ext cx="3657600" cy="731520"/>
          </a:xfrm>
          <a:prstGeom prst="rect">
            <a:avLst/>
          </a:prstGeom>
          <a:noFill/>
          <a:ln/>
        </p:spPr>
        <p:txBody>
          <a:bodyPr wrap="square" lIns="0" tIns="0" rIns="0" bIns="0" rtlCol="0" anchor="ctr"/>
          <a:lstStyle/>
          <a:p>
            <a:pPr marL="0" indent="0">
              <a:buNone/>
            </a:pPr>
            <a:r>
              <a:rPr lang="en-US" sz="1200" dirty="0">
                <a:solidFill>
                  <a:srgbClr val="333333"/>
                </a:solidFill>
                <a:latin typeface="Calibri" pitchFamily="34" charset="0"/>
                <a:ea typeface="Calibri" pitchFamily="34" charset="-122"/>
                <a:cs typeface="Calibri" pitchFamily="34" charset="-120"/>
              </a:rPr>
              <a:t>19 275 $ de PIB/hab · 33,2 kg · 57 % d'importations</a:t>
            </a:r>
            <a:endParaRPr lang="en-US" sz="1200" dirty="0"/>
          </a:p>
        </p:txBody>
      </p:sp>
      <p:sp>
        <p:nvSpPr>
          <p:cNvPr id="23" name="Text 21"/>
          <p:cNvSpPr txBox="1"/>
          <p:nvPr/>
        </p:nvSpPr>
        <p:spPr>
          <a:xfrm>
            <a:off x="8778240" y="4114800"/>
            <a:ext cx="2606040" cy="731520"/>
          </a:xfrm>
          <a:prstGeom prst="rect">
            <a:avLst/>
          </a:prstGeom>
          <a:noFill/>
          <a:ln/>
        </p:spPr>
        <p:txBody>
          <a:bodyPr wrap="square" lIns="0" tIns="0" rIns="0" bIns="0" rtlCol="0" anchor="ctr"/>
          <a:lstStyle/>
          <a:p>
            <a:pPr marL="0" indent="0">
              <a:buNone/>
            </a:pPr>
            <a:r>
              <a:rPr lang="en-US" sz="1200" b="1" dirty="0">
                <a:solidFill>
                  <a:srgbClr val="4A9D5F"/>
                </a:solidFill>
                <a:latin typeface="Calibri" pitchFamily="34" charset="0"/>
                <a:ea typeface="Calibri" pitchFamily="34" charset="-122"/>
                <a:cs typeface="Calibri" pitchFamily="34" charset="-120"/>
              </a:rPr>
              <a:t>Le profil le plus proche du client idéal</a:t>
            </a:r>
            <a:endParaRPr lang="en-US" sz="1200" dirty="0"/>
          </a:p>
        </p:txBody>
      </p:sp>
      <p:sp>
        <p:nvSpPr>
          <p:cNvPr id="24" name="Shape 22"/>
          <p:cNvSpPr/>
          <p:nvPr/>
        </p:nvSpPr>
        <p:spPr>
          <a:xfrm>
            <a:off x="640080" y="5212080"/>
            <a:ext cx="10881360" cy="1097280"/>
          </a:xfrm>
          <a:prstGeom prst="roundRect">
            <a:avLst>
              <a:gd name="adj" fmla="val 5000"/>
            </a:avLst>
          </a:prstGeom>
          <a:solidFill>
            <a:srgbClr val="EEF1F5"/>
          </a:solidFill>
          <a:ln w="12700">
            <a:solidFill>
              <a:srgbClr val="EEF1F5"/>
            </a:solidFill>
            <a:prstDash val="solid"/>
          </a:ln>
        </p:spPr>
      </p:sp>
      <p:sp>
        <p:nvSpPr>
          <p:cNvPr id="25" name="Shape 23"/>
          <p:cNvSpPr/>
          <p:nvPr/>
        </p:nvSpPr>
        <p:spPr>
          <a:xfrm>
            <a:off x="868680" y="5486400"/>
            <a:ext cx="566928" cy="566928"/>
          </a:xfrm>
          <a:prstGeom prst="ellipse">
            <a:avLst/>
          </a:prstGeom>
          <a:solidFill>
            <a:srgbClr val="B5485D"/>
          </a:solidFill>
          <a:ln w="12700">
            <a:solidFill>
              <a:srgbClr val="333333"/>
            </a:solidFill>
            <a:prstDash val="solid"/>
          </a:ln>
        </p:spPr>
      </p:sp>
      <p:sp>
        <p:nvSpPr>
          <p:cNvPr id="26" name="Text 24"/>
          <p:cNvSpPr txBox="1"/>
          <p:nvPr/>
        </p:nvSpPr>
        <p:spPr>
          <a:xfrm>
            <a:off x="868680" y="5568696"/>
            <a:ext cx="566928" cy="38404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Text 25"/>
          <p:cNvSpPr txBox="1"/>
          <p:nvPr/>
        </p:nvSpPr>
        <p:spPr>
          <a:xfrm>
            <a:off x="1645920" y="5349240"/>
            <a:ext cx="3108960" cy="365760"/>
          </a:xfrm>
          <a:prstGeom prst="rect">
            <a:avLst/>
          </a:prstGeom>
          <a:noFill/>
          <a:ln/>
        </p:spPr>
        <p:txBody>
          <a:bodyPr wrap="square" lIns="0" tIns="0" rIns="0" bIns="0" rtlCol="0" anchor="ctr"/>
          <a:lstStyle/>
          <a:p>
            <a:pPr marL="0" indent="0">
              <a:buNone/>
            </a:pPr>
            <a:r>
              <a:rPr lang="en-US" sz="1550" b="1" dirty="0">
                <a:solidFill>
                  <a:srgbClr val="1E2761"/>
                </a:solidFill>
                <a:latin typeface="Calibri" pitchFamily="34" charset="0"/>
                <a:ea typeface="Calibri" pitchFamily="34" charset="-122"/>
                <a:cs typeface="Calibri" pitchFamily="34" charset="-120"/>
              </a:rPr>
              <a:t>Dépendants à faible revenu</a:t>
            </a:r>
            <a:endParaRPr lang="en-US" sz="1550" dirty="0"/>
          </a:p>
        </p:txBody>
      </p:sp>
      <p:sp>
        <p:nvSpPr>
          <p:cNvPr id="28" name="Text 26"/>
          <p:cNvSpPr txBox="1"/>
          <p:nvPr/>
        </p:nvSpPr>
        <p:spPr>
          <a:xfrm>
            <a:off x="1645920" y="5742432"/>
            <a:ext cx="3108960" cy="320040"/>
          </a:xfrm>
          <a:prstGeom prst="rect">
            <a:avLst/>
          </a:prstGeom>
          <a:noFill/>
          <a:ln/>
        </p:spPr>
        <p:txBody>
          <a:bodyPr wrap="square" lIns="0" tIns="0" rIns="0" bIns="0" rtlCol="0" anchor="ctr"/>
          <a:lstStyle/>
          <a:p>
            <a:pPr marL="0" indent="0">
              <a:buNone/>
            </a:pPr>
            <a:r>
              <a:rPr lang="en-US" sz="1200" dirty="0">
                <a:solidFill>
                  <a:srgbClr val="5A6472"/>
                </a:solidFill>
                <a:latin typeface="Calibri" pitchFamily="34" charset="0"/>
                <a:ea typeface="Calibri" pitchFamily="34" charset="-122"/>
                <a:cs typeface="Calibri" pitchFamily="34" charset="-120"/>
              </a:rPr>
              <a:t>27 pays · 189 M hab.</a:t>
            </a:r>
            <a:endParaRPr lang="en-US" sz="1200" dirty="0"/>
          </a:p>
        </p:txBody>
      </p:sp>
      <p:sp>
        <p:nvSpPr>
          <p:cNvPr id="29" name="Text 27"/>
          <p:cNvSpPr txBox="1"/>
          <p:nvPr/>
        </p:nvSpPr>
        <p:spPr>
          <a:xfrm>
            <a:off x="4937760" y="5394960"/>
            <a:ext cx="3657600" cy="731520"/>
          </a:xfrm>
          <a:prstGeom prst="rect">
            <a:avLst/>
          </a:prstGeom>
          <a:noFill/>
          <a:ln/>
        </p:spPr>
        <p:txBody>
          <a:bodyPr wrap="square" lIns="0" tIns="0" rIns="0" bIns="0" rtlCol="0" anchor="ctr"/>
          <a:lstStyle/>
          <a:p>
            <a:pPr marL="0" indent="0">
              <a:buNone/>
            </a:pPr>
            <a:r>
              <a:rPr lang="en-US" sz="1200" dirty="0">
                <a:solidFill>
                  <a:srgbClr val="333333"/>
                </a:solidFill>
                <a:latin typeface="Calibri" pitchFamily="34" charset="0"/>
                <a:ea typeface="Calibri" pitchFamily="34" charset="-122"/>
                <a:cs typeface="Calibri" pitchFamily="34" charset="-120"/>
              </a:rPr>
              <a:t>3 429 $ de PIB/hab · 9,9 kg · 106 % d'importations</a:t>
            </a:r>
            <a:endParaRPr lang="en-US" sz="1200" dirty="0"/>
          </a:p>
        </p:txBody>
      </p:sp>
      <p:sp>
        <p:nvSpPr>
          <p:cNvPr id="30" name="Text 28"/>
          <p:cNvSpPr txBox="1"/>
          <p:nvPr/>
        </p:nvSpPr>
        <p:spPr>
          <a:xfrm>
            <a:off x="8778240" y="5394960"/>
            <a:ext cx="2606040" cy="731520"/>
          </a:xfrm>
          <a:prstGeom prst="rect">
            <a:avLst/>
          </a:prstGeom>
          <a:noFill/>
          <a:ln/>
        </p:spPr>
        <p:txBody>
          <a:bodyPr wrap="square" lIns="0" tIns="0" rIns="0" bIns="0" rtlCol="0" anchor="ctr"/>
          <a:lstStyle/>
          <a:p>
            <a:pPr marL="0" indent="0">
              <a:buNone/>
            </a:pPr>
            <a:r>
              <a:rPr lang="en-US" sz="1200" dirty="0">
                <a:solidFill>
                  <a:srgbClr val="5A6472"/>
                </a:solidFill>
                <a:latin typeface="Calibri" pitchFamily="34" charset="0"/>
                <a:ea typeface="Calibri" pitchFamily="34" charset="-122"/>
                <a:cs typeface="Calibri" pitchFamily="34" charset="-120"/>
              </a:rPr>
              <a:t>Accessibles mais non solvables aujourd'hui</a:t>
            </a:r>
            <a:endParaRPr lang="en-US" sz="1200" dirty="0"/>
          </a:p>
        </p:txBody>
      </p:sp>
      <p:sp>
        <p:nvSpPr>
          <p:cNvPr id="32" name="Text 29"/>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A8B0BC"/>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731520"/>
          </a:xfrm>
          <a:prstGeom prst="rect">
            <a:avLst/>
          </a:prstGeom>
          <a:noFill/>
          <a:ln/>
        </p:spPr>
        <p:txBody>
          <a:bodyPr wrap="square" lIns="0" tIns="0" rIns="0" bIns="0" rtlCol="0" anchor="ctr"/>
          <a:lstStyle/>
          <a:p>
            <a:pPr marL="0" indent="0" algn="l">
              <a:buNone/>
            </a:pPr>
            <a:r>
              <a:rPr lang="en-US" sz="3000" b="1" dirty="0">
                <a:solidFill>
                  <a:srgbClr val="1E2761"/>
                </a:solidFill>
                <a:latin typeface="Calibri" pitchFamily="34" charset="0"/>
                <a:ea typeface="Calibri" pitchFamily="34" charset="-122"/>
                <a:cs typeface="Calibri" pitchFamily="34" charset="-120"/>
              </a:rPr>
              <a:t>Une seule case sur quatre contient des clients</a:t>
            </a:r>
            <a:endParaRPr lang="en-US" sz="3000" dirty="0"/>
          </a:p>
        </p:txBody>
      </p:sp>
      <p:sp>
        <p:nvSpPr>
          <p:cNvPr id="3" name="Text 1"/>
          <p:cNvSpPr txBox="1"/>
          <p:nvPr/>
        </p:nvSpPr>
        <p:spPr>
          <a:xfrm>
            <a:off x="3520440" y="1508760"/>
            <a:ext cx="3657600" cy="365760"/>
          </a:xfrm>
          <a:prstGeom prst="rect">
            <a:avLst/>
          </a:prstGeom>
          <a:noFill/>
          <a:ln/>
        </p:spPr>
        <p:txBody>
          <a:bodyPr wrap="square" lIns="0" tIns="0" rIns="0" bIns="0" rtlCol="0" anchor="ctr"/>
          <a:lstStyle/>
          <a:p>
            <a:pPr marL="0" indent="0" algn="ctr">
              <a:buNone/>
            </a:pPr>
            <a:r>
              <a:rPr lang="en-US" sz="1400" b="1" dirty="0">
                <a:solidFill>
                  <a:srgbClr val="5A6472"/>
                </a:solidFill>
                <a:latin typeface="Calibri" pitchFamily="34" charset="0"/>
                <a:ea typeface="Calibri" pitchFamily="34" charset="-122"/>
                <a:cs typeface="Calibri" pitchFamily="34" charset="-120"/>
              </a:rPr>
              <a:t>Autosuffisants</a:t>
            </a:r>
            <a:endParaRPr lang="en-US" sz="1400" dirty="0"/>
          </a:p>
        </p:txBody>
      </p:sp>
      <p:sp>
        <p:nvSpPr>
          <p:cNvPr id="4" name="Text 2"/>
          <p:cNvSpPr txBox="1"/>
          <p:nvPr/>
        </p:nvSpPr>
        <p:spPr>
          <a:xfrm>
            <a:off x="7406640" y="1508760"/>
            <a:ext cx="3931920" cy="365760"/>
          </a:xfrm>
          <a:prstGeom prst="rect">
            <a:avLst/>
          </a:prstGeom>
          <a:noFill/>
          <a:ln/>
        </p:spPr>
        <p:txBody>
          <a:bodyPr wrap="square" lIns="0" tIns="0" rIns="0" bIns="0" rtlCol="0" anchor="ctr"/>
          <a:lstStyle/>
          <a:p>
            <a:pPr marL="0" indent="0" algn="ctr">
              <a:buNone/>
            </a:pPr>
            <a:r>
              <a:rPr lang="en-US" sz="1400" b="1" dirty="0">
                <a:solidFill>
                  <a:srgbClr val="5A6472"/>
                </a:solidFill>
                <a:latin typeface="Calibri" pitchFamily="34" charset="0"/>
                <a:ea typeface="Calibri" pitchFamily="34" charset="-122"/>
                <a:cs typeface="Calibri" pitchFamily="34" charset="-120"/>
              </a:rPr>
              <a:t>Dépendants des importations</a:t>
            </a:r>
            <a:endParaRPr lang="en-US" sz="1400" dirty="0"/>
          </a:p>
        </p:txBody>
      </p:sp>
      <p:sp>
        <p:nvSpPr>
          <p:cNvPr id="5" name="Text 3"/>
          <p:cNvSpPr txBox="1"/>
          <p:nvPr/>
        </p:nvSpPr>
        <p:spPr>
          <a:xfrm>
            <a:off x="685800" y="2651760"/>
            <a:ext cx="2377440" cy="365760"/>
          </a:xfrm>
          <a:prstGeom prst="rect">
            <a:avLst/>
          </a:prstGeom>
          <a:noFill/>
          <a:ln/>
        </p:spPr>
        <p:txBody>
          <a:bodyPr wrap="square" lIns="0" tIns="0" rIns="0" bIns="0" rtlCol="0" anchor="ctr"/>
          <a:lstStyle/>
          <a:p>
            <a:pPr marL="0" indent="0" algn="r">
              <a:buNone/>
            </a:pPr>
            <a:r>
              <a:rPr lang="en-US" sz="1400" b="1" dirty="0">
                <a:solidFill>
                  <a:srgbClr val="5A6472"/>
                </a:solidFill>
                <a:latin typeface="Calibri" pitchFamily="34" charset="0"/>
                <a:ea typeface="Calibri" pitchFamily="34" charset="-122"/>
                <a:cs typeface="Calibri" pitchFamily="34" charset="-120"/>
              </a:rPr>
              <a:t>Riches</a:t>
            </a:r>
            <a:endParaRPr lang="en-US" sz="1400" dirty="0"/>
          </a:p>
        </p:txBody>
      </p:sp>
      <p:sp>
        <p:nvSpPr>
          <p:cNvPr id="6" name="Text 4"/>
          <p:cNvSpPr txBox="1"/>
          <p:nvPr/>
        </p:nvSpPr>
        <p:spPr>
          <a:xfrm>
            <a:off x="685800" y="4526280"/>
            <a:ext cx="2377440" cy="365760"/>
          </a:xfrm>
          <a:prstGeom prst="rect">
            <a:avLst/>
          </a:prstGeom>
          <a:noFill/>
          <a:ln/>
        </p:spPr>
        <p:txBody>
          <a:bodyPr wrap="square" lIns="0" tIns="0" rIns="0" bIns="0" rtlCol="0" anchor="ctr"/>
          <a:lstStyle/>
          <a:p>
            <a:pPr marL="0" indent="0" algn="r">
              <a:buNone/>
            </a:pPr>
            <a:r>
              <a:rPr lang="en-US" sz="1400" b="1" dirty="0">
                <a:solidFill>
                  <a:srgbClr val="5A6472"/>
                </a:solidFill>
                <a:latin typeface="Calibri" pitchFamily="34" charset="0"/>
                <a:ea typeface="Calibri" pitchFamily="34" charset="-122"/>
                <a:cs typeface="Calibri" pitchFamily="34" charset="-120"/>
              </a:rPr>
              <a:t>Pauvres</a:t>
            </a:r>
            <a:endParaRPr lang="en-US" sz="1400" dirty="0"/>
          </a:p>
        </p:txBody>
      </p:sp>
      <p:sp>
        <p:nvSpPr>
          <p:cNvPr id="7" name="Shape 5"/>
          <p:cNvSpPr/>
          <p:nvPr/>
        </p:nvSpPr>
        <p:spPr>
          <a:xfrm>
            <a:off x="3291840" y="1965960"/>
            <a:ext cx="3749040" cy="1691640"/>
          </a:xfrm>
          <a:prstGeom prst="roundRect">
            <a:avLst>
              <a:gd name="adj" fmla="val 2703"/>
            </a:avLst>
          </a:prstGeom>
          <a:solidFill>
            <a:srgbClr val="FDF0E7"/>
          </a:solidFill>
          <a:ln w="12700">
            <a:solidFill>
              <a:srgbClr val="E07A3F"/>
            </a:solidFill>
            <a:prstDash val="solid"/>
          </a:ln>
        </p:spPr>
      </p:sp>
      <p:sp>
        <p:nvSpPr>
          <p:cNvPr id="8" name="Text 6"/>
          <p:cNvSpPr txBox="1"/>
          <p:nvPr/>
        </p:nvSpPr>
        <p:spPr>
          <a:xfrm>
            <a:off x="3520440" y="2286000"/>
            <a:ext cx="3291840" cy="640080"/>
          </a:xfrm>
          <a:prstGeom prst="rect">
            <a:avLst/>
          </a:prstGeom>
          <a:noFill/>
          <a:ln/>
        </p:spPr>
        <p:txBody>
          <a:bodyPr wrap="square" lIns="0" tIns="0" rIns="0" bIns="0" rtlCol="0" anchor="ctr"/>
          <a:lstStyle/>
          <a:p>
            <a:pPr marL="0" indent="0">
              <a:buNone/>
            </a:pPr>
            <a:r>
              <a:rPr lang="en-US" sz="1400" b="1" dirty="0">
                <a:solidFill>
                  <a:srgbClr val="E07A3F"/>
                </a:solidFill>
                <a:latin typeface="Calibri" pitchFamily="34" charset="0"/>
                <a:ea typeface="Calibri" pitchFamily="34" charset="-122"/>
                <a:cs typeface="Calibri" pitchFamily="34" charset="-120"/>
              </a:rPr>
              <a:t>Groupe 2 — Puissances productives</a:t>
            </a:r>
            <a:endParaRPr lang="en-US" sz="1400" dirty="0"/>
          </a:p>
        </p:txBody>
      </p:sp>
      <p:sp>
        <p:nvSpPr>
          <p:cNvPr id="9" name="Text 7"/>
          <p:cNvSpPr txBox="1"/>
          <p:nvPr/>
        </p:nvSpPr>
        <p:spPr>
          <a:xfrm>
            <a:off x="3520440" y="2926080"/>
            <a:ext cx="3291840" cy="548640"/>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Riches et producteurs : nos concurrents</a:t>
            </a:r>
            <a:endParaRPr lang="en-US" sz="1250" dirty="0"/>
          </a:p>
        </p:txBody>
      </p:sp>
      <p:sp>
        <p:nvSpPr>
          <p:cNvPr id="10" name="Shape 8"/>
          <p:cNvSpPr/>
          <p:nvPr/>
        </p:nvSpPr>
        <p:spPr>
          <a:xfrm>
            <a:off x="7269480" y="1965960"/>
            <a:ext cx="3749040" cy="1691640"/>
          </a:xfrm>
          <a:prstGeom prst="roundRect">
            <a:avLst>
              <a:gd name="adj" fmla="val 2703"/>
            </a:avLst>
          </a:prstGeom>
          <a:solidFill>
            <a:srgbClr val="E4F1E9"/>
          </a:solidFill>
          <a:ln w="31750">
            <a:solidFill>
              <a:srgbClr val="4A9D5F"/>
            </a:solidFill>
            <a:prstDash val="solid"/>
          </a:ln>
        </p:spPr>
      </p:sp>
      <p:sp>
        <p:nvSpPr>
          <p:cNvPr id="11" name="Text 9"/>
          <p:cNvSpPr txBox="1"/>
          <p:nvPr/>
        </p:nvSpPr>
        <p:spPr>
          <a:xfrm>
            <a:off x="7498080" y="2286000"/>
            <a:ext cx="3291840" cy="640080"/>
          </a:xfrm>
          <a:prstGeom prst="rect">
            <a:avLst/>
          </a:prstGeom>
          <a:noFill/>
          <a:ln/>
        </p:spPr>
        <p:txBody>
          <a:bodyPr wrap="square" lIns="0" tIns="0" rIns="0" bIns="0" rtlCol="0" anchor="ctr"/>
          <a:lstStyle/>
          <a:p>
            <a:pPr marL="0" indent="0">
              <a:buNone/>
            </a:pPr>
            <a:r>
              <a:rPr lang="en-US" sz="1400" b="1" dirty="0">
                <a:solidFill>
                  <a:srgbClr val="4A9D5F"/>
                </a:solidFill>
                <a:latin typeface="Calibri" pitchFamily="34" charset="0"/>
                <a:ea typeface="Calibri" pitchFamily="34" charset="-122"/>
                <a:cs typeface="Calibri" pitchFamily="34" charset="-120"/>
              </a:rPr>
              <a:t>Groupe 3 — Petits marchés importateurs</a:t>
            </a:r>
            <a:endParaRPr lang="en-US" sz="1400" dirty="0"/>
          </a:p>
        </p:txBody>
      </p:sp>
      <p:sp>
        <p:nvSpPr>
          <p:cNvPr id="12" name="Text 10"/>
          <p:cNvSpPr txBox="1"/>
          <p:nvPr/>
        </p:nvSpPr>
        <p:spPr>
          <a:xfrm>
            <a:off x="7498080" y="2926080"/>
            <a:ext cx="3291840" cy="548640"/>
          </a:xfrm>
          <a:prstGeom prst="rect">
            <a:avLst/>
          </a:prstGeom>
          <a:noFill/>
          <a:ln/>
        </p:spPr>
        <p:txBody>
          <a:bodyPr wrap="square" lIns="0" tIns="0" rIns="0" bIns="0" rtlCol="0" anchor="ctr"/>
          <a:lstStyle/>
          <a:p>
            <a:pPr marL="0" indent="0">
              <a:buNone/>
            </a:pPr>
            <a:r>
              <a:rPr lang="en-US" sz="1250" b="1" dirty="0">
                <a:solidFill>
                  <a:srgbClr val="333333"/>
                </a:solidFill>
                <a:latin typeface="Calibri" pitchFamily="34" charset="0"/>
                <a:ea typeface="Calibri" pitchFamily="34" charset="-122"/>
                <a:cs typeface="Calibri" pitchFamily="34" charset="-120"/>
              </a:rPr>
              <a:t>Riches et dépendants : NOS CIBLES</a:t>
            </a:r>
            <a:endParaRPr lang="en-US" sz="1250" dirty="0"/>
          </a:p>
        </p:txBody>
      </p:sp>
      <p:sp>
        <p:nvSpPr>
          <p:cNvPr id="13" name="Shape 11"/>
          <p:cNvSpPr/>
          <p:nvPr/>
        </p:nvSpPr>
        <p:spPr>
          <a:xfrm>
            <a:off x="3291840" y="3840480"/>
            <a:ext cx="3749040" cy="1691640"/>
          </a:xfrm>
          <a:prstGeom prst="roundRect">
            <a:avLst>
              <a:gd name="adj" fmla="val 2703"/>
            </a:avLst>
          </a:prstGeom>
          <a:solidFill>
            <a:srgbClr val="E9ECF5"/>
          </a:solidFill>
          <a:ln w="12700">
            <a:solidFill>
              <a:srgbClr val="1E2761"/>
            </a:solidFill>
            <a:prstDash val="solid"/>
          </a:ln>
        </p:spPr>
      </p:sp>
      <p:sp>
        <p:nvSpPr>
          <p:cNvPr id="14" name="Text 12"/>
          <p:cNvSpPr txBox="1"/>
          <p:nvPr/>
        </p:nvSpPr>
        <p:spPr>
          <a:xfrm>
            <a:off x="3520440" y="4160520"/>
            <a:ext cx="3291840" cy="64008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Groupe 1 — Émergents autosuffisants</a:t>
            </a:r>
            <a:endParaRPr lang="en-US" sz="1400" dirty="0"/>
          </a:p>
        </p:txBody>
      </p:sp>
      <p:sp>
        <p:nvSpPr>
          <p:cNvPr id="15" name="Text 13"/>
          <p:cNvSpPr txBox="1"/>
          <p:nvPr/>
        </p:nvSpPr>
        <p:spPr>
          <a:xfrm>
            <a:off x="3520440" y="4800600"/>
            <a:ext cx="3291840" cy="548640"/>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Pauvres et producteurs : marchés futurs</a:t>
            </a:r>
            <a:endParaRPr lang="en-US" sz="1250" dirty="0"/>
          </a:p>
        </p:txBody>
      </p:sp>
      <p:sp>
        <p:nvSpPr>
          <p:cNvPr id="16" name="Shape 14"/>
          <p:cNvSpPr/>
          <p:nvPr/>
        </p:nvSpPr>
        <p:spPr>
          <a:xfrm>
            <a:off x="7269480" y="3840480"/>
            <a:ext cx="3749040" cy="1691640"/>
          </a:xfrm>
          <a:prstGeom prst="roundRect">
            <a:avLst>
              <a:gd name="adj" fmla="val 2703"/>
            </a:avLst>
          </a:prstGeom>
          <a:solidFill>
            <a:srgbClr val="F7E9EC"/>
          </a:solidFill>
          <a:ln w="12700">
            <a:solidFill>
              <a:srgbClr val="B5485D"/>
            </a:solidFill>
            <a:prstDash val="solid"/>
          </a:ln>
        </p:spPr>
      </p:sp>
      <p:sp>
        <p:nvSpPr>
          <p:cNvPr id="17" name="Text 15"/>
          <p:cNvSpPr txBox="1"/>
          <p:nvPr/>
        </p:nvSpPr>
        <p:spPr>
          <a:xfrm>
            <a:off x="7498080" y="4160520"/>
            <a:ext cx="3291840" cy="640080"/>
          </a:xfrm>
          <a:prstGeom prst="rect">
            <a:avLst/>
          </a:prstGeom>
          <a:noFill/>
          <a:ln/>
        </p:spPr>
        <p:txBody>
          <a:bodyPr wrap="square" lIns="0" tIns="0" rIns="0" bIns="0" rtlCol="0" anchor="ctr"/>
          <a:lstStyle/>
          <a:p>
            <a:pPr marL="0" indent="0">
              <a:buNone/>
            </a:pPr>
            <a:r>
              <a:rPr lang="en-US" sz="1400" b="1" dirty="0">
                <a:solidFill>
                  <a:srgbClr val="B5485D"/>
                </a:solidFill>
                <a:latin typeface="Calibri" pitchFamily="34" charset="0"/>
                <a:ea typeface="Calibri" pitchFamily="34" charset="-122"/>
                <a:cs typeface="Calibri" pitchFamily="34" charset="-120"/>
              </a:rPr>
              <a:t>Groupe 4 — Dépendants à faible revenu</a:t>
            </a:r>
            <a:endParaRPr lang="en-US" sz="1400" dirty="0"/>
          </a:p>
        </p:txBody>
      </p:sp>
      <p:sp>
        <p:nvSpPr>
          <p:cNvPr id="18" name="Text 16"/>
          <p:cNvSpPr txBox="1"/>
          <p:nvPr/>
        </p:nvSpPr>
        <p:spPr>
          <a:xfrm>
            <a:off x="7498080" y="4800600"/>
            <a:ext cx="3291840" cy="548640"/>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Pauvres et dépendants : non solvables</a:t>
            </a:r>
            <a:endParaRPr lang="en-US" sz="1250" dirty="0"/>
          </a:p>
        </p:txBody>
      </p:sp>
      <p:sp>
        <p:nvSpPr>
          <p:cNvPr id="19" name="Text 17"/>
          <p:cNvSpPr txBox="1"/>
          <p:nvPr/>
        </p:nvSpPr>
        <p:spPr>
          <a:xfrm>
            <a:off x="640080" y="5806440"/>
            <a:ext cx="10881360" cy="548640"/>
          </a:xfrm>
          <a:prstGeom prst="rect">
            <a:avLst/>
          </a:prstGeom>
          <a:noFill/>
          <a:ln/>
        </p:spPr>
        <p:txBody>
          <a:bodyPr wrap="square" lIns="0" tIns="0" rIns="0" bIns="0" rtlCol="0" anchor="ctr"/>
          <a:lstStyle/>
          <a:p>
            <a:pPr marL="0" indent="0">
              <a:buNone/>
            </a:pPr>
            <a:r>
              <a:rPr lang="en-US" sz="1400" i="1" dirty="0">
                <a:solidFill>
                  <a:srgbClr val="1E2761"/>
                </a:solidFill>
                <a:latin typeface="Calibri" pitchFamily="34" charset="0"/>
                <a:ea typeface="Calibri" pitchFamily="34" charset="-122"/>
                <a:cs typeface="Calibri" pitchFamily="34" charset="-120"/>
              </a:rPr>
              <a:t>Ce croisement est la synthèse de l'étude : il faut être à la fois solvable et dépendant des importations.</a:t>
            </a:r>
            <a:endParaRPr lang="en-US" sz="1400" dirty="0"/>
          </a:p>
        </p:txBody>
      </p:sp>
      <p:sp>
        <p:nvSpPr>
          <p:cNvPr id="21" name="Text 18"/>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A8B0BC"/>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731520"/>
          </a:xfrm>
          <a:prstGeom prst="rect">
            <a:avLst/>
          </a:prstGeom>
          <a:noFill/>
          <a:ln/>
        </p:spPr>
        <p:txBody>
          <a:bodyPr wrap="square" lIns="0" tIns="0" rIns="0" bIns="0" rtlCol="0" anchor="ctr"/>
          <a:lstStyle/>
          <a:p>
            <a:pPr marL="0" indent="0" algn="l">
              <a:buNone/>
            </a:pPr>
            <a:r>
              <a:rPr lang="en-US" sz="3000" b="1" dirty="0">
                <a:solidFill>
                  <a:srgbClr val="1E2761"/>
                </a:solidFill>
                <a:latin typeface="Calibri" pitchFamily="34" charset="0"/>
                <a:ea typeface="Calibri" pitchFamily="34" charset="-122"/>
                <a:cs typeface="Calibri" pitchFamily="34" charset="-120"/>
              </a:rPr>
              <a:t>Du statistique au commercial</a:t>
            </a:r>
            <a:endParaRPr lang="en-US" sz="3000" dirty="0"/>
          </a:p>
        </p:txBody>
      </p:sp>
      <p:sp>
        <p:nvSpPr>
          <p:cNvPr id="3" name="Text 1"/>
          <p:cNvSpPr txBox="1"/>
          <p:nvPr/>
        </p:nvSpPr>
        <p:spPr>
          <a:xfrm>
            <a:off x="640080" y="1078992"/>
            <a:ext cx="10881360" cy="41148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Quatre filtres pour passer de 164 pays analysés à 24 marchés accessibles</a:t>
            </a:r>
            <a:endParaRPr lang="en-US" sz="1400" dirty="0"/>
          </a:p>
        </p:txBody>
      </p:sp>
      <p:sp>
        <p:nvSpPr>
          <p:cNvPr id="4" name="Shape 2"/>
          <p:cNvSpPr/>
          <p:nvPr/>
        </p:nvSpPr>
        <p:spPr>
          <a:xfrm>
            <a:off x="640080" y="1783080"/>
            <a:ext cx="5257800" cy="1371600"/>
          </a:xfrm>
          <a:prstGeom prst="roundRect">
            <a:avLst>
              <a:gd name="adj" fmla="val 4000"/>
            </a:avLst>
          </a:prstGeom>
          <a:solidFill>
            <a:srgbClr val="EEF1F5"/>
          </a:solidFill>
          <a:ln w="12700">
            <a:solidFill>
              <a:srgbClr val="EEF1F5"/>
            </a:solidFill>
            <a:prstDash val="solid"/>
          </a:ln>
        </p:spPr>
      </p:sp>
      <p:sp>
        <p:nvSpPr>
          <p:cNvPr id="5" name="Text 3"/>
          <p:cNvSpPr txBox="1"/>
          <p:nvPr/>
        </p:nvSpPr>
        <p:spPr>
          <a:xfrm>
            <a:off x="822960" y="2011680"/>
            <a:ext cx="1097280" cy="640080"/>
          </a:xfrm>
          <a:prstGeom prst="rect">
            <a:avLst/>
          </a:prstGeom>
          <a:noFill/>
          <a:ln/>
        </p:spPr>
        <p:txBody>
          <a:bodyPr wrap="square" lIns="0" tIns="0" rIns="0" bIns="0" rtlCol="0" anchor="ctr"/>
          <a:lstStyle/>
          <a:p>
            <a:pPr marL="0" indent="0" algn="ctr">
              <a:buNone/>
            </a:pPr>
            <a:r>
              <a:rPr lang="en-US" sz="3200" b="1" dirty="0">
                <a:solidFill>
                  <a:srgbClr val="B5485D"/>
                </a:solidFill>
                <a:latin typeface="Calibri" pitchFamily="34" charset="0"/>
                <a:ea typeface="Calibri" pitchFamily="34" charset="-122"/>
                <a:cs typeface="Calibri" pitchFamily="34" charset="-120"/>
              </a:rPr>
              <a:t>74</a:t>
            </a:r>
            <a:endParaRPr lang="en-US" sz="3200" dirty="0"/>
          </a:p>
        </p:txBody>
      </p:sp>
      <p:sp>
        <p:nvSpPr>
          <p:cNvPr id="6" name="Text 4"/>
          <p:cNvSpPr txBox="1"/>
          <p:nvPr/>
        </p:nvSpPr>
        <p:spPr>
          <a:xfrm>
            <a:off x="822960" y="2651760"/>
            <a:ext cx="1097280" cy="274320"/>
          </a:xfrm>
          <a:prstGeom prst="rect">
            <a:avLst/>
          </a:prstGeom>
          <a:noFill/>
          <a:ln/>
        </p:spPr>
        <p:txBody>
          <a:bodyPr wrap="square" lIns="0" tIns="0" rIns="0" bIns="0" rtlCol="0" anchor="ctr"/>
          <a:lstStyle/>
          <a:p>
            <a:pPr marL="0" indent="0" algn="ctr">
              <a:buNone/>
            </a:pPr>
            <a:r>
              <a:rPr lang="en-US" sz="950" dirty="0">
                <a:solidFill>
                  <a:srgbClr val="5A6472"/>
                </a:solidFill>
                <a:latin typeface="Calibri" pitchFamily="34" charset="0"/>
                <a:ea typeface="Calibri" pitchFamily="34" charset="-122"/>
                <a:cs typeface="Calibri" pitchFamily="34" charset="-120"/>
              </a:rPr>
              <a:t>pays écartés</a:t>
            </a:r>
            <a:endParaRPr lang="en-US" sz="950" dirty="0"/>
          </a:p>
        </p:txBody>
      </p:sp>
      <p:sp>
        <p:nvSpPr>
          <p:cNvPr id="7" name="Text 5"/>
          <p:cNvSpPr txBox="1"/>
          <p:nvPr/>
        </p:nvSpPr>
        <p:spPr>
          <a:xfrm>
            <a:off x="2103120" y="1984248"/>
            <a:ext cx="3566160" cy="3200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Pouvoir d'achat insuffisant</a:t>
            </a:r>
            <a:endParaRPr lang="en-US" sz="1400" dirty="0"/>
          </a:p>
        </p:txBody>
      </p:sp>
      <p:sp>
        <p:nvSpPr>
          <p:cNvPr id="8" name="Text 6"/>
          <p:cNvSpPr txBox="1"/>
          <p:nvPr/>
        </p:nvSpPr>
        <p:spPr>
          <a:xfrm>
            <a:off x="2103120" y="2331720"/>
            <a:ext cx="3611880" cy="731520"/>
          </a:xfrm>
          <a:prstGeom prst="rect">
            <a:avLst/>
          </a:prstGeom>
          <a:noFill/>
          <a:ln/>
        </p:spPr>
        <p:txBody>
          <a:bodyPr wrap="square" lIns="0" tIns="0" rIns="0" bIns="0" rtlCol="0" anchor="ctr"/>
          <a:lstStyle/>
          <a:p>
            <a:pPr marL="0" indent="0">
              <a:buNone/>
            </a:pPr>
            <a:r>
              <a:rPr lang="en-US" sz="1150" dirty="0">
                <a:solidFill>
                  <a:srgbClr val="5A6472"/>
                </a:solidFill>
                <a:latin typeface="Calibri" pitchFamily="34" charset="0"/>
                <a:ea typeface="Calibri" pitchFamily="34" charset="-122"/>
                <a:cs typeface="Calibri" pitchFamily="34" charset="-120"/>
              </a:rPr>
              <a:t>Moins de 5 000 $ par habitant. Le bio est un produit premium.</a:t>
            </a:r>
            <a:endParaRPr lang="en-US" sz="1150" dirty="0"/>
          </a:p>
        </p:txBody>
      </p:sp>
      <p:sp>
        <p:nvSpPr>
          <p:cNvPr id="9" name="Shape 7"/>
          <p:cNvSpPr/>
          <p:nvPr/>
        </p:nvSpPr>
        <p:spPr>
          <a:xfrm>
            <a:off x="6263640" y="1783080"/>
            <a:ext cx="5257800" cy="1371600"/>
          </a:xfrm>
          <a:prstGeom prst="roundRect">
            <a:avLst>
              <a:gd name="adj" fmla="val 4000"/>
            </a:avLst>
          </a:prstGeom>
          <a:solidFill>
            <a:srgbClr val="EEF1F5"/>
          </a:solidFill>
          <a:ln w="12700">
            <a:solidFill>
              <a:srgbClr val="EEF1F5"/>
            </a:solidFill>
            <a:prstDash val="solid"/>
          </a:ln>
        </p:spPr>
      </p:sp>
      <p:sp>
        <p:nvSpPr>
          <p:cNvPr id="10" name="Text 8"/>
          <p:cNvSpPr txBox="1"/>
          <p:nvPr/>
        </p:nvSpPr>
        <p:spPr>
          <a:xfrm>
            <a:off x="6446520" y="2011680"/>
            <a:ext cx="1097280" cy="640080"/>
          </a:xfrm>
          <a:prstGeom prst="rect">
            <a:avLst/>
          </a:prstGeom>
          <a:noFill/>
          <a:ln/>
        </p:spPr>
        <p:txBody>
          <a:bodyPr wrap="square" lIns="0" tIns="0" rIns="0" bIns="0" rtlCol="0" anchor="ctr"/>
          <a:lstStyle/>
          <a:p>
            <a:pPr marL="0" indent="0" algn="ctr">
              <a:buNone/>
            </a:pPr>
            <a:r>
              <a:rPr lang="en-US" sz="3200" b="1" dirty="0">
                <a:solidFill>
                  <a:srgbClr val="B5485D"/>
                </a:solidFill>
                <a:latin typeface="Calibri" pitchFamily="34" charset="0"/>
                <a:ea typeface="Calibri" pitchFamily="34" charset="-122"/>
                <a:cs typeface="Calibri" pitchFamily="34" charset="-120"/>
              </a:rPr>
              <a:t>53</a:t>
            </a:r>
            <a:endParaRPr lang="en-US" sz="3200" dirty="0"/>
          </a:p>
        </p:txBody>
      </p:sp>
      <p:sp>
        <p:nvSpPr>
          <p:cNvPr id="11" name="Text 9"/>
          <p:cNvSpPr txBox="1"/>
          <p:nvPr/>
        </p:nvSpPr>
        <p:spPr>
          <a:xfrm>
            <a:off x="6446520" y="2651760"/>
            <a:ext cx="1097280" cy="274320"/>
          </a:xfrm>
          <a:prstGeom prst="rect">
            <a:avLst/>
          </a:prstGeom>
          <a:noFill/>
          <a:ln/>
        </p:spPr>
        <p:txBody>
          <a:bodyPr wrap="square" lIns="0" tIns="0" rIns="0" bIns="0" rtlCol="0" anchor="ctr"/>
          <a:lstStyle/>
          <a:p>
            <a:pPr marL="0" indent="0" algn="ctr">
              <a:buNone/>
            </a:pPr>
            <a:r>
              <a:rPr lang="en-US" sz="950" dirty="0">
                <a:solidFill>
                  <a:srgbClr val="5A6472"/>
                </a:solidFill>
                <a:latin typeface="Calibri" pitchFamily="34" charset="0"/>
                <a:ea typeface="Calibri" pitchFamily="34" charset="-122"/>
                <a:cs typeface="Calibri" pitchFamily="34" charset="-120"/>
              </a:rPr>
              <a:t>pays écartés</a:t>
            </a:r>
            <a:endParaRPr lang="en-US" sz="950" dirty="0"/>
          </a:p>
        </p:txBody>
      </p:sp>
      <p:sp>
        <p:nvSpPr>
          <p:cNvPr id="12" name="Text 10"/>
          <p:cNvSpPr txBox="1"/>
          <p:nvPr/>
        </p:nvSpPr>
        <p:spPr>
          <a:xfrm>
            <a:off x="7726680" y="1984248"/>
            <a:ext cx="3566160" cy="3200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Quasi autosuffisants</a:t>
            </a:r>
            <a:endParaRPr lang="en-US" sz="1400" dirty="0"/>
          </a:p>
        </p:txBody>
      </p:sp>
      <p:sp>
        <p:nvSpPr>
          <p:cNvPr id="13" name="Text 11"/>
          <p:cNvSpPr txBox="1"/>
          <p:nvPr/>
        </p:nvSpPr>
        <p:spPr>
          <a:xfrm>
            <a:off x="7726680" y="2331720"/>
            <a:ext cx="3611880" cy="731520"/>
          </a:xfrm>
          <a:prstGeom prst="rect">
            <a:avLst/>
          </a:prstGeom>
          <a:noFill/>
          <a:ln/>
        </p:spPr>
        <p:txBody>
          <a:bodyPr wrap="square" lIns="0" tIns="0" rIns="0" bIns="0" rtlCol="0" anchor="ctr"/>
          <a:lstStyle/>
          <a:p>
            <a:pPr marL="0" indent="0">
              <a:buNone/>
            </a:pPr>
            <a:r>
              <a:rPr lang="en-US" sz="1150" dirty="0">
                <a:solidFill>
                  <a:srgbClr val="5A6472"/>
                </a:solidFill>
                <a:latin typeface="Calibri" pitchFamily="34" charset="0"/>
                <a:ea typeface="Calibri" pitchFamily="34" charset="-122"/>
                <a:cs typeface="Calibri" pitchFamily="34" charset="-120"/>
              </a:rPr>
              <a:t>Moins de 10 % d'importations : ils produisent tout eux-mêmes.</a:t>
            </a:r>
            <a:endParaRPr lang="en-US" sz="1150" dirty="0"/>
          </a:p>
        </p:txBody>
      </p:sp>
      <p:sp>
        <p:nvSpPr>
          <p:cNvPr id="14" name="Shape 12"/>
          <p:cNvSpPr/>
          <p:nvPr/>
        </p:nvSpPr>
        <p:spPr>
          <a:xfrm>
            <a:off x="640080" y="3383280"/>
            <a:ext cx="5257800" cy="1371600"/>
          </a:xfrm>
          <a:prstGeom prst="roundRect">
            <a:avLst>
              <a:gd name="adj" fmla="val 4000"/>
            </a:avLst>
          </a:prstGeom>
          <a:solidFill>
            <a:srgbClr val="EEF1F5"/>
          </a:solidFill>
          <a:ln w="12700">
            <a:solidFill>
              <a:srgbClr val="EEF1F5"/>
            </a:solidFill>
            <a:prstDash val="solid"/>
          </a:ln>
        </p:spPr>
      </p:sp>
      <p:sp>
        <p:nvSpPr>
          <p:cNvPr id="15" name="Text 13"/>
          <p:cNvSpPr txBox="1"/>
          <p:nvPr/>
        </p:nvSpPr>
        <p:spPr>
          <a:xfrm>
            <a:off x="822960" y="3611880"/>
            <a:ext cx="1097280" cy="640080"/>
          </a:xfrm>
          <a:prstGeom prst="rect">
            <a:avLst/>
          </a:prstGeom>
          <a:noFill/>
          <a:ln/>
        </p:spPr>
        <p:txBody>
          <a:bodyPr wrap="square" lIns="0" tIns="0" rIns="0" bIns="0" rtlCol="0" anchor="ctr"/>
          <a:lstStyle/>
          <a:p>
            <a:pPr marL="0" indent="0" algn="ctr">
              <a:buNone/>
            </a:pPr>
            <a:r>
              <a:rPr lang="en-US" sz="3200" b="1" dirty="0">
                <a:solidFill>
                  <a:srgbClr val="B5485D"/>
                </a:solidFill>
                <a:latin typeface="Calibri" pitchFamily="34" charset="0"/>
                <a:ea typeface="Calibri" pitchFamily="34" charset="-122"/>
                <a:cs typeface="Calibri" pitchFamily="34" charset="-120"/>
              </a:rPr>
              <a:t>24</a:t>
            </a:r>
            <a:endParaRPr lang="en-US" sz="3200" dirty="0"/>
          </a:p>
        </p:txBody>
      </p:sp>
      <p:sp>
        <p:nvSpPr>
          <p:cNvPr id="16" name="Text 14"/>
          <p:cNvSpPr txBox="1"/>
          <p:nvPr/>
        </p:nvSpPr>
        <p:spPr>
          <a:xfrm>
            <a:off x="822960" y="4251960"/>
            <a:ext cx="1097280" cy="274320"/>
          </a:xfrm>
          <a:prstGeom prst="rect">
            <a:avLst/>
          </a:prstGeom>
          <a:noFill/>
          <a:ln/>
        </p:spPr>
        <p:txBody>
          <a:bodyPr wrap="square" lIns="0" tIns="0" rIns="0" bIns="0" rtlCol="0" anchor="ctr"/>
          <a:lstStyle/>
          <a:p>
            <a:pPr marL="0" indent="0" algn="ctr">
              <a:buNone/>
            </a:pPr>
            <a:r>
              <a:rPr lang="en-US" sz="950" dirty="0">
                <a:solidFill>
                  <a:srgbClr val="5A6472"/>
                </a:solidFill>
                <a:latin typeface="Calibri" pitchFamily="34" charset="0"/>
                <a:ea typeface="Calibri" pitchFamily="34" charset="-122"/>
                <a:cs typeface="Calibri" pitchFamily="34" charset="-120"/>
              </a:rPr>
              <a:t>pays écartés</a:t>
            </a:r>
            <a:endParaRPr lang="en-US" sz="950" dirty="0"/>
          </a:p>
        </p:txBody>
      </p:sp>
      <p:sp>
        <p:nvSpPr>
          <p:cNvPr id="17" name="Text 15"/>
          <p:cNvSpPr txBox="1"/>
          <p:nvPr/>
        </p:nvSpPr>
        <p:spPr>
          <a:xfrm>
            <a:off x="2103120" y="3584448"/>
            <a:ext cx="3566160" cy="3200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Marché trop petit</a:t>
            </a:r>
            <a:endParaRPr lang="en-US" sz="1400" dirty="0"/>
          </a:p>
        </p:txBody>
      </p:sp>
      <p:sp>
        <p:nvSpPr>
          <p:cNvPr id="18" name="Text 16"/>
          <p:cNvSpPr txBox="1"/>
          <p:nvPr/>
        </p:nvSpPr>
        <p:spPr>
          <a:xfrm>
            <a:off x="2103120" y="3931920"/>
            <a:ext cx="3611880" cy="731520"/>
          </a:xfrm>
          <a:prstGeom prst="rect">
            <a:avLst/>
          </a:prstGeom>
          <a:noFill/>
          <a:ln/>
        </p:spPr>
        <p:txBody>
          <a:bodyPr wrap="square" lIns="0" tIns="0" rIns="0" bIns="0" rtlCol="0" anchor="ctr"/>
          <a:lstStyle/>
          <a:p>
            <a:pPr marL="0" indent="0">
              <a:buNone/>
            </a:pPr>
            <a:r>
              <a:rPr lang="en-US" sz="1150" dirty="0">
                <a:solidFill>
                  <a:srgbClr val="5A6472"/>
                </a:solidFill>
                <a:latin typeface="Calibri" pitchFamily="34" charset="0"/>
                <a:ea typeface="Calibri" pitchFamily="34" charset="-122"/>
                <a:cs typeface="Calibri" pitchFamily="34" charset="-120"/>
              </a:rPr>
              <a:t>Moins d'un million d'habitants. Volume négligeable.</a:t>
            </a:r>
            <a:endParaRPr lang="en-US" sz="1150" dirty="0"/>
          </a:p>
        </p:txBody>
      </p:sp>
      <p:sp>
        <p:nvSpPr>
          <p:cNvPr id="19" name="Shape 17"/>
          <p:cNvSpPr/>
          <p:nvPr/>
        </p:nvSpPr>
        <p:spPr>
          <a:xfrm>
            <a:off x="6263640" y="3383280"/>
            <a:ext cx="5257800" cy="1371600"/>
          </a:xfrm>
          <a:prstGeom prst="roundRect">
            <a:avLst>
              <a:gd name="adj" fmla="val 4000"/>
            </a:avLst>
          </a:prstGeom>
          <a:solidFill>
            <a:srgbClr val="EEF1F5"/>
          </a:solidFill>
          <a:ln w="12700">
            <a:solidFill>
              <a:srgbClr val="EEF1F5"/>
            </a:solidFill>
            <a:prstDash val="solid"/>
          </a:ln>
        </p:spPr>
      </p:sp>
      <p:sp>
        <p:nvSpPr>
          <p:cNvPr id="20" name="Text 18"/>
          <p:cNvSpPr txBox="1"/>
          <p:nvPr/>
        </p:nvSpPr>
        <p:spPr>
          <a:xfrm>
            <a:off x="6446520" y="3611880"/>
            <a:ext cx="1097280" cy="640080"/>
          </a:xfrm>
          <a:prstGeom prst="rect">
            <a:avLst/>
          </a:prstGeom>
          <a:noFill/>
          <a:ln/>
        </p:spPr>
        <p:txBody>
          <a:bodyPr wrap="square" lIns="0" tIns="0" rIns="0" bIns="0" rtlCol="0" anchor="ctr"/>
          <a:lstStyle/>
          <a:p>
            <a:pPr marL="0" indent="0" algn="ctr">
              <a:buNone/>
            </a:pPr>
            <a:r>
              <a:rPr lang="en-US" sz="3200" b="1" dirty="0">
                <a:solidFill>
                  <a:srgbClr val="B5485D"/>
                </a:solidFill>
                <a:latin typeface="Calibri" pitchFamily="34" charset="0"/>
                <a:ea typeface="Calibri" pitchFamily="34" charset="-122"/>
                <a:cs typeface="Calibri" pitchFamily="34" charset="-120"/>
              </a:rPr>
              <a:t>15</a:t>
            </a:r>
            <a:endParaRPr lang="en-US" sz="3200" dirty="0"/>
          </a:p>
        </p:txBody>
      </p:sp>
      <p:sp>
        <p:nvSpPr>
          <p:cNvPr id="21" name="Text 19"/>
          <p:cNvSpPr txBox="1"/>
          <p:nvPr/>
        </p:nvSpPr>
        <p:spPr>
          <a:xfrm>
            <a:off x="6446520" y="4251960"/>
            <a:ext cx="1097280" cy="274320"/>
          </a:xfrm>
          <a:prstGeom prst="rect">
            <a:avLst/>
          </a:prstGeom>
          <a:noFill/>
          <a:ln/>
        </p:spPr>
        <p:txBody>
          <a:bodyPr wrap="square" lIns="0" tIns="0" rIns="0" bIns="0" rtlCol="0" anchor="ctr"/>
          <a:lstStyle/>
          <a:p>
            <a:pPr marL="0" indent="0" algn="ctr">
              <a:buNone/>
            </a:pPr>
            <a:r>
              <a:rPr lang="en-US" sz="950" dirty="0">
                <a:solidFill>
                  <a:srgbClr val="5A6472"/>
                </a:solidFill>
                <a:latin typeface="Calibri" pitchFamily="34" charset="0"/>
                <a:ea typeface="Calibri" pitchFamily="34" charset="-122"/>
                <a:cs typeface="Calibri" pitchFamily="34" charset="-120"/>
              </a:rPr>
              <a:t>pays écartés</a:t>
            </a:r>
            <a:endParaRPr lang="en-US" sz="950" dirty="0"/>
          </a:p>
        </p:txBody>
      </p:sp>
      <p:sp>
        <p:nvSpPr>
          <p:cNvPr id="22" name="Text 20"/>
          <p:cNvSpPr txBox="1"/>
          <p:nvPr/>
        </p:nvSpPr>
        <p:spPr>
          <a:xfrm>
            <a:off x="7726680" y="3584448"/>
            <a:ext cx="3566160" cy="3200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Plateformes de réexport</a:t>
            </a:r>
            <a:endParaRPr lang="en-US" sz="1400" dirty="0"/>
          </a:p>
        </p:txBody>
      </p:sp>
      <p:sp>
        <p:nvSpPr>
          <p:cNvPr id="23" name="Text 21"/>
          <p:cNvSpPr txBox="1"/>
          <p:nvPr/>
        </p:nvSpPr>
        <p:spPr>
          <a:xfrm>
            <a:off x="7726680" y="3931920"/>
            <a:ext cx="3611880" cy="731520"/>
          </a:xfrm>
          <a:prstGeom prst="rect">
            <a:avLst/>
          </a:prstGeom>
          <a:noFill/>
          <a:ln/>
        </p:spPr>
        <p:txBody>
          <a:bodyPr wrap="square" lIns="0" tIns="0" rIns="0" bIns="0" rtlCol="0" anchor="ctr"/>
          <a:lstStyle/>
          <a:p>
            <a:pPr marL="0" indent="0">
              <a:buNone/>
            </a:pPr>
            <a:r>
              <a:rPr lang="en-US" sz="1150" dirty="0">
                <a:solidFill>
                  <a:srgbClr val="5A6472"/>
                </a:solidFill>
                <a:latin typeface="Calibri" pitchFamily="34" charset="0"/>
                <a:ea typeface="Calibri" pitchFamily="34" charset="-122"/>
                <a:cs typeface="Calibri" pitchFamily="34" charset="-120"/>
              </a:rPr>
              <a:t>Importent plus qu'ils ne consomment : Anvers et Rotterdam redistribuent, ils ne consomment pas.</a:t>
            </a:r>
            <a:endParaRPr lang="en-US" sz="1150" dirty="0"/>
          </a:p>
        </p:txBody>
      </p:sp>
      <p:sp>
        <p:nvSpPr>
          <p:cNvPr id="24" name="Text 22"/>
          <p:cNvSpPr txBox="1"/>
          <p:nvPr/>
        </p:nvSpPr>
        <p:spPr>
          <a:xfrm>
            <a:off x="640080" y="5120640"/>
            <a:ext cx="10881360" cy="822960"/>
          </a:xfrm>
          <a:prstGeom prst="rect">
            <a:avLst/>
          </a:prstGeom>
          <a:noFill/>
          <a:ln/>
        </p:spPr>
        <p:txBody>
          <a:bodyPr wrap="square" lIns="0" tIns="0" rIns="0" bIns="0" rtlCol="0" anchor="ctr"/>
          <a:lstStyle/>
          <a:p>
            <a:pPr marL="0" indent="0">
              <a:buNone/>
            </a:pPr>
            <a:r>
              <a:rPr lang="en-US" sz="1350" i="1" dirty="0">
                <a:solidFill>
                  <a:srgbClr val="1E2761"/>
                </a:solidFill>
                <a:latin typeface="Calibri" pitchFamily="34" charset="0"/>
                <a:ea typeface="Calibri" pitchFamily="34" charset="-122"/>
                <a:cs typeface="Calibri" pitchFamily="34" charset="-120"/>
              </a:rPr>
              <a:t>Les totaux se recoupent : un pays peut échouer à plusieurs filtres. Ces 140 pays ne sont pas supprimés de l'analyse — ils restent dans les groupes, et peuvent redevenir des cibles.</a:t>
            </a:r>
            <a:endParaRPr lang="en-US" sz="1350" dirty="0"/>
          </a:p>
        </p:txBody>
      </p:sp>
      <p:sp>
        <p:nvSpPr>
          <p:cNvPr id="26" name="Text 23"/>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A8B0BC"/>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731520"/>
          </a:xfrm>
          <a:prstGeom prst="rect">
            <a:avLst/>
          </a:prstGeom>
          <a:noFill/>
          <a:ln/>
        </p:spPr>
        <p:txBody>
          <a:bodyPr wrap="square" lIns="0" tIns="0" rIns="0" bIns="0" rtlCol="0" anchor="ctr"/>
          <a:lstStyle/>
          <a:p>
            <a:pPr marL="0" indent="0" algn="l">
              <a:buNone/>
            </a:pPr>
            <a:r>
              <a:rPr lang="en-US" sz="3000" b="1" dirty="0">
                <a:solidFill>
                  <a:srgbClr val="1E2761"/>
                </a:solidFill>
                <a:latin typeface="Calibri" pitchFamily="34" charset="0"/>
                <a:ea typeface="Calibri" pitchFamily="34" charset="-122"/>
                <a:cs typeface="Calibri" pitchFamily="34" charset="-120"/>
              </a:rPr>
              <a:t>Les 12 marchés retenus</a:t>
            </a:r>
            <a:endParaRPr lang="en-US" sz="3000" dirty="0"/>
          </a:p>
        </p:txBody>
      </p:sp>
      <p:pic>
        <p:nvPicPr>
          <p:cNvPr id="3" name="Image 0" descr="/home/claude/p/fig/top12.png"/>
          <p:cNvPicPr>
            <a:picLocks noChangeAspect="1"/>
          </p:cNvPicPr>
          <p:nvPr/>
        </p:nvPicPr>
        <p:blipFill>
          <a:blip r:embed="rId3"/>
          <a:stretch>
            <a:fillRect/>
          </a:stretch>
        </p:blipFill>
        <p:spPr>
          <a:xfrm>
            <a:off x="640080" y="1371600"/>
            <a:ext cx="6583680" cy="4572000"/>
          </a:xfrm>
          <a:prstGeom prst="rect">
            <a:avLst/>
          </a:prstGeom>
        </p:spPr>
      </p:pic>
      <p:sp>
        <p:nvSpPr>
          <p:cNvPr id="4" name="Shape 1"/>
          <p:cNvSpPr/>
          <p:nvPr/>
        </p:nvSpPr>
        <p:spPr>
          <a:xfrm>
            <a:off x="7498080" y="1463040"/>
            <a:ext cx="4023360" cy="4206240"/>
          </a:xfrm>
          <a:prstGeom prst="roundRect">
            <a:avLst>
              <a:gd name="adj" fmla="val 1364"/>
            </a:avLst>
          </a:prstGeom>
          <a:solidFill>
            <a:srgbClr val="EEF1F5"/>
          </a:solidFill>
          <a:ln w="12700">
            <a:solidFill>
              <a:srgbClr val="EEF1F5"/>
            </a:solidFill>
            <a:prstDash val="solid"/>
          </a:ln>
        </p:spPr>
      </p:sp>
      <p:sp>
        <p:nvSpPr>
          <p:cNvPr id="5" name="Text 2"/>
          <p:cNvSpPr txBox="1"/>
          <p:nvPr/>
        </p:nvSpPr>
        <p:spPr>
          <a:xfrm>
            <a:off x="7772400" y="1645920"/>
            <a:ext cx="3566160" cy="36576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Comment le score est calculé</a:t>
            </a:r>
            <a:endParaRPr lang="en-US" sz="1500" dirty="0"/>
          </a:p>
        </p:txBody>
      </p:sp>
      <p:sp>
        <p:nvSpPr>
          <p:cNvPr id="6" name="Text 3"/>
          <p:cNvSpPr txBox="1"/>
          <p:nvPr/>
        </p:nvSpPr>
        <p:spPr>
          <a:xfrm>
            <a:off x="7772400" y="2148840"/>
            <a:ext cx="731520" cy="320040"/>
          </a:xfrm>
          <a:prstGeom prst="rect">
            <a:avLst/>
          </a:prstGeom>
          <a:noFill/>
          <a:ln/>
        </p:spPr>
        <p:txBody>
          <a:bodyPr wrap="square" lIns="0" tIns="0" rIns="0" bIns="0" rtlCol="0" anchor="ctr"/>
          <a:lstStyle/>
          <a:p>
            <a:pPr marL="0" indent="0" algn="r">
              <a:buNone/>
            </a:pPr>
            <a:r>
              <a:rPr lang="en-US" sz="1400" b="1" dirty="0">
                <a:solidFill>
                  <a:srgbClr val="E07A3F"/>
                </a:solidFill>
                <a:latin typeface="Calibri" pitchFamily="34" charset="0"/>
                <a:ea typeface="Calibri" pitchFamily="34" charset="-122"/>
                <a:cs typeface="Calibri" pitchFamily="34" charset="-120"/>
              </a:rPr>
              <a:t>30 %</a:t>
            </a:r>
            <a:endParaRPr lang="en-US" sz="1400" dirty="0"/>
          </a:p>
        </p:txBody>
      </p:sp>
      <p:sp>
        <p:nvSpPr>
          <p:cNvPr id="7" name="Text 4"/>
          <p:cNvSpPr txBox="1"/>
          <p:nvPr/>
        </p:nvSpPr>
        <p:spPr>
          <a:xfrm>
            <a:off x="8641080" y="2148840"/>
            <a:ext cx="2743200" cy="320040"/>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Dépendance aux importations</a:t>
            </a:r>
            <a:endParaRPr lang="en-US" sz="1250" dirty="0"/>
          </a:p>
        </p:txBody>
      </p:sp>
      <p:sp>
        <p:nvSpPr>
          <p:cNvPr id="8" name="Text 5"/>
          <p:cNvSpPr txBox="1"/>
          <p:nvPr/>
        </p:nvSpPr>
        <p:spPr>
          <a:xfrm>
            <a:off x="7772400" y="2624328"/>
            <a:ext cx="731520" cy="320040"/>
          </a:xfrm>
          <a:prstGeom prst="rect">
            <a:avLst/>
          </a:prstGeom>
          <a:noFill/>
          <a:ln/>
        </p:spPr>
        <p:txBody>
          <a:bodyPr wrap="square" lIns="0" tIns="0" rIns="0" bIns="0" rtlCol="0" anchor="ctr"/>
          <a:lstStyle/>
          <a:p>
            <a:pPr marL="0" indent="0" algn="r">
              <a:buNone/>
            </a:pPr>
            <a:r>
              <a:rPr lang="en-US" sz="1400" b="1" dirty="0">
                <a:solidFill>
                  <a:srgbClr val="1E2761"/>
                </a:solidFill>
                <a:latin typeface="Calibri" pitchFamily="34" charset="0"/>
                <a:ea typeface="Calibri" pitchFamily="34" charset="-122"/>
                <a:cs typeface="Calibri" pitchFamily="34" charset="-120"/>
              </a:rPr>
              <a:t>20 %</a:t>
            </a:r>
            <a:endParaRPr lang="en-US" sz="1400" dirty="0"/>
          </a:p>
        </p:txBody>
      </p:sp>
      <p:sp>
        <p:nvSpPr>
          <p:cNvPr id="9" name="Text 6"/>
          <p:cNvSpPr txBox="1"/>
          <p:nvPr/>
        </p:nvSpPr>
        <p:spPr>
          <a:xfrm>
            <a:off x="8641080" y="2624328"/>
            <a:ext cx="2743200" cy="320040"/>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Consommation de volaille</a:t>
            </a:r>
            <a:endParaRPr lang="en-US" sz="1250" dirty="0"/>
          </a:p>
        </p:txBody>
      </p:sp>
      <p:sp>
        <p:nvSpPr>
          <p:cNvPr id="10" name="Text 7"/>
          <p:cNvSpPr txBox="1"/>
          <p:nvPr/>
        </p:nvSpPr>
        <p:spPr>
          <a:xfrm>
            <a:off x="7772400" y="3099816"/>
            <a:ext cx="731520" cy="320040"/>
          </a:xfrm>
          <a:prstGeom prst="rect">
            <a:avLst/>
          </a:prstGeom>
          <a:noFill/>
          <a:ln/>
        </p:spPr>
        <p:txBody>
          <a:bodyPr wrap="square" lIns="0" tIns="0" rIns="0" bIns="0" rtlCol="0" anchor="ctr"/>
          <a:lstStyle/>
          <a:p>
            <a:pPr marL="0" indent="0" algn="r">
              <a:buNone/>
            </a:pPr>
            <a:r>
              <a:rPr lang="en-US" sz="1400" b="1" dirty="0">
                <a:solidFill>
                  <a:srgbClr val="1E2761"/>
                </a:solidFill>
                <a:latin typeface="Calibri" pitchFamily="34" charset="0"/>
                <a:ea typeface="Calibri" pitchFamily="34" charset="-122"/>
                <a:cs typeface="Calibri" pitchFamily="34" charset="-120"/>
              </a:rPr>
              <a:t>20 %</a:t>
            </a:r>
            <a:endParaRPr lang="en-US" sz="1400" dirty="0"/>
          </a:p>
        </p:txBody>
      </p:sp>
      <p:sp>
        <p:nvSpPr>
          <p:cNvPr id="11" name="Text 8"/>
          <p:cNvSpPr txBox="1"/>
          <p:nvPr/>
        </p:nvSpPr>
        <p:spPr>
          <a:xfrm>
            <a:off x="8641080" y="3099816"/>
            <a:ext cx="2743200" cy="320040"/>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PIB par habitant</a:t>
            </a:r>
            <a:endParaRPr lang="en-US" sz="1250" dirty="0"/>
          </a:p>
        </p:txBody>
      </p:sp>
      <p:sp>
        <p:nvSpPr>
          <p:cNvPr id="12" name="Text 9"/>
          <p:cNvSpPr txBox="1"/>
          <p:nvPr/>
        </p:nvSpPr>
        <p:spPr>
          <a:xfrm>
            <a:off x="7772400" y="3575304"/>
            <a:ext cx="731520" cy="320040"/>
          </a:xfrm>
          <a:prstGeom prst="rect">
            <a:avLst/>
          </a:prstGeom>
          <a:noFill/>
          <a:ln/>
        </p:spPr>
        <p:txBody>
          <a:bodyPr wrap="square" lIns="0" tIns="0" rIns="0" bIns="0" rtlCol="0" anchor="ctr"/>
          <a:lstStyle/>
          <a:p>
            <a:pPr marL="0" indent="0" algn="r">
              <a:buNone/>
            </a:pPr>
            <a:r>
              <a:rPr lang="en-US" sz="1400" b="1" dirty="0">
                <a:solidFill>
                  <a:srgbClr val="1E2761"/>
                </a:solidFill>
                <a:latin typeface="Calibri" pitchFamily="34" charset="0"/>
                <a:ea typeface="Calibri" pitchFamily="34" charset="-122"/>
                <a:cs typeface="Calibri" pitchFamily="34" charset="-120"/>
              </a:rPr>
              <a:t>15 %</a:t>
            </a:r>
            <a:endParaRPr lang="en-US" sz="1400" dirty="0"/>
          </a:p>
        </p:txBody>
      </p:sp>
      <p:sp>
        <p:nvSpPr>
          <p:cNvPr id="13" name="Text 10"/>
          <p:cNvSpPr txBox="1"/>
          <p:nvPr/>
        </p:nvSpPr>
        <p:spPr>
          <a:xfrm>
            <a:off x="8641080" y="3575304"/>
            <a:ext cx="2743200" cy="320040"/>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Croissance démographique</a:t>
            </a:r>
            <a:endParaRPr lang="en-US" sz="1250" dirty="0"/>
          </a:p>
        </p:txBody>
      </p:sp>
      <p:sp>
        <p:nvSpPr>
          <p:cNvPr id="14" name="Text 11"/>
          <p:cNvSpPr txBox="1"/>
          <p:nvPr/>
        </p:nvSpPr>
        <p:spPr>
          <a:xfrm>
            <a:off x="7772400" y="4050792"/>
            <a:ext cx="731520" cy="320040"/>
          </a:xfrm>
          <a:prstGeom prst="rect">
            <a:avLst/>
          </a:prstGeom>
          <a:noFill/>
          <a:ln/>
        </p:spPr>
        <p:txBody>
          <a:bodyPr wrap="square" lIns="0" tIns="0" rIns="0" bIns="0" rtlCol="0" anchor="ctr"/>
          <a:lstStyle/>
          <a:p>
            <a:pPr marL="0" indent="0" algn="r">
              <a:buNone/>
            </a:pPr>
            <a:r>
              <a:rPr lang="en-US" sz="1400" b="1" dirty="0">
                <a:solidFill>
                  <a:srgbClr val="1E2761"/>
                </a:solidFill>
                <a:latin typeface="Calibri" pitchFamily="34" charset="0"/>
                <a:ea typeface="Calibri" pitchFamily="34" charset="-122"/>
                <a:cs typeface="Calibri" pitchFamily="34" charset="-120"/>
              </a:rPr>
              <a:t>10 %</a:t>
            </a:r>
            <a:endParaRPr lang="en-US" sz="1400" dirty="0"/>
          </a:p>
        </p:txBody>
      </p:sp>
      <p:sp>
        <p:nvSpPr>
          <p:cNvPr id="15" name="Text 12"/>
          <p:cNvSpPr txBox="1"/>
          <p:nvPr/>
        </p:nvSpPr>
        <p:spPr>
          <a:xfrm>
            <a:off x="8641080" y="4050792"/>
            <a:ext cx="2743200" cy="320040"/>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Taille de la population</a:t>
            </a:r>
            <a:endParaRPr lang="en-US" sz="1250" dirty="0"/>
          </a:p>
        </p:txBody>
      </p:sp>
      <p:sp>
        <p:nvSpPr>
          <p:cNvPr id="16" name="Text 13"/>
          <p:cNvSpPr txBox="1"/>
          <p:nvPr/>
        </p:nvSpPr>
        <p:spPr>
          <a:xfrm>
            <a:off x="7772400" y="4526280"/>
            <a:ext cx="731520" cy="320040"/>
          </a:xfrm>
          <a:prstGeom prst="rect">
            <a:avLst/>
          </a:prstGeom>
          <a:noFill/>
          <a:ln/>
        </p:spPr>
        <p:txBody>
          <a:bodyPr wrap="square" lIns="0" tIns="0" rIns="0" bIns="0" rtlCol="0" anchor="ctr"/>
          <a:lstStyle/>
          <a:p>
            <a:pPr marL="0" indent="0" algn="r">
              <a:buNone/>
            </a:pPr>
            <a:r>
              <a:rPr lang="en-US" sz="1400" b="1" dirty="0">
                <a:solidFill>
                  <a:srgbClr val="1E2761"/>
                </a:solidFill>
                <a:latin typeface="Calibri" pitchFamily="34" charset="0"/>
                <a:ea typeface="Calibri" pitchFamily="34" charset="-122"/>
                <a:cs typeface="Calibri" pitchFamily="34" charset="-120"/>
              </a:rPr>
              <a:t>5 %</a:t>
            </a:r>
            <a:endParaRPr lang="en-US" sz="1400" dirty="0"/>
          </a:p>
        </p:txBody>
      </p:sp>
      <p:sp>
        <p:nvSpPr>
          <p:cNvPr id="17" name="Text 14"/>
          <p:cNvSpPr txBox="1"/>
          <p:nvPr/>
        </p:nvSpPr>
        <p:spPr>
          <a:xfrm>
            <a:off x="8641080" y="4526280"/>
            <a:ext cx="2743200" cy="320040"/>
          </a:xfrm>
          <a:prstGeom prst="rect">
            <a:avLst/>
          </a:prstGeom>
          <a:noFill/>
          <a:ln/>
        </p:spPr>
        <p:txBody>
          <a:bodyPr wrap="square" lIns="0" tIns="0" rIns="0" bIns="0" rtlCol="0" anchor="ctr"/>
          <a:lstStyle/>
          <a:p>
            <a:pPr marL="0" indent="0">
              <a:buNone/>
            </a:pPr>
            <a:r>
              <a:rPr lang="en-US" sz="1250" dirty="0">
                <a:solidFill>
                  <a:srgbClr val="333333"/>
                </a:solidFill>
                <a:latin typeface="Calibri" pitchFamily="34" charset="0"/>
                <a:ea typeface="Calibri" pitchFamily="34" charset="-122"/>
                <a:cs typeface="Calibri" pitchFamily="34" charset="-120"/>
              </a:rPr>
              <a:t>Stabilité des prix</a:t>
            </a:r>
            <a:endParaRPr lang="en-US" sz="1250" dirty="0"/>
          </a:p>
        </p:txBody>
      </p:sp>
      <p:sp>
        <p:nvSpPr>
          <p:cNvPr id="18" name="Text 15"/>
          <p:cNvSpPr txBox="1"/>
          <p:nvPr/>
        </p:nvSpPr>
        <p:spPr>
          <a:xfrm>
            <a:off x="7772400" y="5029200"/>
            <a:ext cx="3566160" cy="594360"/>
          </a:xfrm>
          <a:prstGeom prst="rect">
            <a:avLst/>
          </a:prstGeom>
          <a:noFill/>
          <a:ln/>
        </p:spPr>
        <p:txBody>
          <a:bodyPr wrap="square" lIns="0" tIns="0" rIns="0" bIns="0" rtlCol="0" anchor="ctr"/>
          <a:lstStyle/>
          <a:p>
            <a:pPr marL="0" indent="0">
              <a:buNone/>
            </a:pPr>
            <a:r>
              <a:rPr lang="en-US" sz="1150" i="1" dirty="0">
                <a:solidFill>
                  <a:srgbClr val="B5485D"/>
                </a:solidFill>
                <a:latin typeface="Calibri" pitchFamily="34" charset="0"/>
                <a:ea typeface="Calibri" pitchFamily="34" charset="-122"/>
                <a:cs typeface="Calibri" pitchFamily="34" charset="-120"/>
              </a:rPr>
              <a:t>Ces pondérations sont un choix, pas un résultat. Elles sont paramétrables et doivent être validées par le comité.</a:t>
            </a:r>
            <a:endParaRPr lang="en-US" sz="1150" dirty="0"/>
          </a:p>
        </p:txBody>
      </p:sp>
      <p:sp>
        <p:nvSpPr>
          <p:cNvPr id="20" name="Text 16"/>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A8B0BC"/>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La recommandation</a:t>
            </a:r>
            <a:endParaRPr lang="en-US" sz="3000" dirty="0"/>
          </a:p>
        </p:txBody>
      </p:sp>
      <p:sp>
        <p:nvSpPr>
          <p:cNvPr id="3" name="Text 1"/>
          <p:cNvSpPr txBox="1"/>
          <p:nvPr/>
        </p:nvSpPr>
        <p:spPr>
          <a:xfrm>
            <a:off x="640080" y="1078992"/>
            <a:ext cx="10881360" cy="365760"/>
          </a:xfrm>
          <a:prstGeom prst="rect">
            <a:avLst/>
          </a:prstGeom>
          <a:noFill/>
          <a:ln/>
        </p:spPr>
        <p:txBody>
          <a:bodyPr wrap="square" lIns="0" tIns="0" rIns="0" bIns="0" rtlCol="0" anchor="ctr"/>
          <a:lstStyle/>
          <a:p>
            <a:pPr marL="0" indent="0">
              <a:buNone/>
            </a:pPr>
            <a:r>
              <a:rPr lang="en-US" sz="1400" i="1" dirty="0">
                <a:solidFill>
                  <a:srgbClr val="CADCFC"/>
                </a:solidFill>
                <a:latin typeface="Calibri" pitchFamily="34" charset="0"/>
                <a:ea typeface="Calibri" pitchFamily="34" charset="-122"/>
                <a:cs typeface="Calibri" pitchFamily="34" charset="-120"/>
              </a:rPr>
              <a:t>Deux logiques commerciales distinctes, à mener en parallèle</a:t>
            </a:r>
            <a:endParaRPr lang="en-US" sz="1400" dirty="0"/>
          </a:p>
        </p:txBody>
      </p:sp>
      <p:sp>
        <p:nvSpPr>
          <p:cNvPr id="4" name="Shape 2"/>
          <p:cNvSpPr/>
          <p:nvPr/>
        </p:nvSpPr>
        <p:spPr>
          <a:xfrm>
            <a:off x="640080" y="1691640"/>
            <a:ext cx="3429000" cy="3291840"/>
          </a:xfrm>
          <a:prstGeom prst="roundRect">
            <a:avLst>
              <a:gd name="adj" fmla="val 1667"/>
            </a:avLst>
          </a:prstGeom>
          <a:solidFill>
            <a:srgbClr val="2F3F85"/>
          </a:solidFill>
          <a:ln w="31750">
            <a:solidFill>
              <a:srgbClr val="E07A3F"/>
            </a:solidFill>
            <a:prstDash val="solid"/>
          </a:ln>
        </p:spPr>
      </p:sp>
      <p:sp>
        <p:nvSpPr>
          <p:cNvPr id="5" name="Text 3"/>
          <p:cNvSpPr txBox="1"/>
          <p:nvPr/>
        </p:nvSpPr>
        <p:spPr>
          <a:xfrm>
            <a:off x="868680" y="1874520"/>
            <a:ext cx="2286000" cy="4114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Koweït</a:t>
            </a:r>
            <a:endParaRPr lang="en-US" sz="2000" dirty="0"/>
          </a:p>
        </p:txBody>
      </p:sp>
      <p:sp>
        <p:nvSpPr>
          <p:cNvPr id="6" name="Text 4"/>
          <p:cNvSpPr txBox="1"/>
          <p:nvPr/>
        </p:nvSpPr>
        <p:spPr>
          <a:xfrm>
            <a:off x="2926080" y="1874520"/>
            <a:ext cx="914400" cy="411480"/>
          </a:xfrm>
          <a:prstGeom prst="rect">
            <a:avLst/>
          </a:prstGeom>
          <a:noFill/>
          <a:ln/>
        </p:spPr>
        <p:txBody>
          <a:bodyPr wrap="square" lIns="0" tIns="0" rIns="0" bIns="0" rtlCol="0" anchor="ctr"/>
          <a:lstStyle/>
          <a:p>
            <a:pPr marL="0" indent="0" algn="r">
              <a:buNone/>
            </a:pPr>
            <a:r>
              <a:rPr lang="en-US" sz="2000" b="1" dirty="0">
                <a:solidFill>
                  <a:srgbClr val="E07A3F"/>
                </a:solidFill>
                <a:latin typeface="Calibri" pitchFamily="34" charset="0"/>
                <a:ea typeface="Calibri" pitchFamily="34" charset="-122"/>
                <a:cs typeface="Calibri" pitchFamily="34" charset="-120"/>
              </a:rPr>
              <a:t>70,6</a:t>
            </a:r>
            <a:endParaRPr lang="en-US" sz="2000" dirty="0"/>
          </a:p>
        </p:txBody>
      </p:sp>
      <p:sp>
        <p:nvSpPr>
          <p:cNvPr id="7" name="Text 5"/>
          <p:cNvSpPr txBox="1"/>
          <p:nvPr/>
        </p:nvSpPr>
        <p:spPr>
          <a:xfrm>
            <a:off x="868680" y="2468880"/>
            <a:ext cx="2971800" cy="50292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29 048 $ / hab.</a:t>
            </a:r>
            <a:endParaRPr lang="en-US" sz="1200" dirty="0"/>
          </a:p>
        </p:txBody>
      </p:sp>
      <p:sp>
        <p:nvSpPr>
          <p:cNvPr id="8" name="Text 6"/>
          <p:cNvSpPr txBox="1"/>
          <p:nvPr/>
        </p:nvSpPr>
        <p:spPr>
          <a:xfrm>
            <a:off x="868680" y="3035808"/>
            <a:ext cx="2971800" cy="50292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46,2 kg de volaille par habitant</a:t>
            </a:r>
            <a:endParaRPr lang="en-US" sz="1200" dirty="0"/>
          </a:p>
        </p:txBody>
      </p:sp>
      <p:sp>
        <p:nvSpPr>
          <p:cNvPr id="9" name="Text 7"/>
          <p:cNvSpPr txBox="1"/>
          <p:nvPr/>
        </p:nvSpPr>
        <p:spPr>
          <a:xfrm>
            <a:off x="868680" y="3602736"/>
            <a:ext cx="2971800" cy="502920"/>
          </a:xfrm>
          <a:prstGeom prst="rect">
            <a:avLst/>
          </a:prstGeom>
          <a:noFill/>
          <a:ln/>
        </p:spPr>
        <p:txBody>
          <a:bodyPr wrap="square" lIns="0" tIns="0" rIns="0" bIns="0" rtlCol="0" anchor="ctr"/>
          <a:lstStyle/>
          <a:p>
            <a:pPr marL="0" indent="0">
              <a:buNone/>
            </a:pPr>
            <a:r>
              <a:rPr lang="en-US" sz="1200" b="1" dirty="0">
                <a:solidFill>
                  <a:srgbClr val="E07A3F"/>
                </a:solidFill>
                <a:latin typeface="Calibri" pitchFamily="34" charset="0"/>
                <a:ea typeface="Calibri" pitchFamily="34" charset="-122"/>
                <a:cs typeface="Calibri" pitchFamily="34" charset="-120"/>
              </a:rPr>
              <a:t>72 % importés</a:t>
            </a:r>
            <a:endParaRPr lang="en-US" sz="1200" dirty="0"/>
          </a:p>
        </p:txBody>
      </p:sp>
      <p:sp>
        <p:nvSpPr>
          <p:cNvPr id="10" name="Text 8"/>
          <p:cNvSpPr txBox="1"/>
          <p:nvPr/>
        </p:nvSpPr>
        <p:spPr>
          <a:xfrm>
            <a:off x="868680" y="4169664"/>
            <a:ext cx="2971800" cy="50292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+38 % de population depuis 2010</a:t>
            </a:r>
            <a:endParaRPr lang="en-US" sz="1200" dirty="0"/>
          </a:p>
        </p:txBody>
      </p:sp>
      <p:sp>
        <p:nvSpPr>
          <p:cNvPr id="11" name="Shape 9"/>
          <p:cNvSpPr/>
          <p:nvPr/>
        </p:nvSpPr>
        <p:spPr>
          <a:xfrm>
            <a:off x="4389120" y="1691640"/>
            <a:ext cx="3429000" cy="3291840"/>
          </a:xfrm>
          <a:prstGeom prst="roundRect">
            <a:avLst>
              <a:gd name="adj" fmla="val 1667"/>
            </a:avLst>
          </a:prstGeom>
          <a:solidFill>
            <a:srgbClr val="2A3670"/>
          </a:solidFill>
          <a:ln w="12700">
            <a:solidFill>
              <a:srgbClr val="2A3670"/>
            </a:solidFill>
            <a:prstDash val="solid"/>
          </a:ln>
        </p:spPr>
      </p:sp>
      <p:sp>
        <p:nvSpPr>
          <p:cNvPr id="12" name="Text 10"/>
          <p:cNvSpPr txBox="1"/>
          <p:nvPr/>
        </p:nvSpPr>
        <p:spPr>
          <a:xfrm>
            <a:off x="4617720" y="1874520"/>
            <a:ext cx="2286000" cy="4114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Irlande</a:t>
            </a:r>
            <a:endParaRPr lang="en-US" sz="2000" dirty="0"/>
          </a:p>
        </p:txBody>
      </p:sp>
      <p:sp>
        <p:nvSpPr>
          <p:cNvPr id="13" name="Text 11"/>
          <p:cNvSpPr txBox="1"/>
          <p:nvPr/>
        </p:nvSpPr>
        <p:spPr>
          <a:xfrm>
            <a:off x="6675120" y="1874520"/>
            <a:ext cx="914400" cy="411480"/>
          </a:xfrm>
          <a:prstGeom prst="rect">
            <a:avLst/>
          </a:prstGeom>
          <a:noFill/>
          <a:ln/>
        </p:spPr>
        <p:txBody>
          <a:bodyPr wrap="square" lIns="0" tIns="0" rIns="0" bIns="0" rtlCol="0" anchor="ctr"/>
          <a:lstStyle/>
          <a:p>
            <a:pPr marL="0" indent="0" algn="r">
              <a:buNone/>
            </a:pPr>
            <a:r>
              <a:rPr lang="en-US" sz="2000" b="1" dirty="0">
                <a:solidFill>
                  <a:srgbClr val="E07A3F"/>
                </a:solidFill>
                <a:latin typeface="Calibri" pitchFamily="34" charset="0"/>
                <a:ea typeface="Calibri" pitchFamily="34" charset="-122"/>
                <a:cs typeface="Calibri" pitchFamily="34" charset="-120"/>
              </a:rPr>
              <a:t>61,1</a:t>
            </a:r>
            <a:endParaRPr lang="en-US" sz="2000" dirty="0"/>
          </a:p>
        </p:txBody>
      </p:sp>
      <p:sp>
        <p:nvSpPr>
          <p:cNvPr id="14" name="Text 12"/>
          <p:cNvSpPr txBox="1"/>
          <p:nvPr/>
        </p:nvSpPr>
        <p:spPr>
          <a:xfrm>
            <a:off x="4617720" y="2468880"/>
            <a:ext cx="2971800" cy="50292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72 161 $ / hab.</a:t>
            </a:r>
            <a:endParaRPr lang="en-US" sz="1200" dirty="0"/>
          </a:p>
        </p:txBody>
      </p:sp>
      <p:sp>
        <p:nvSpPr>
          <p:cNvPr id="15" name="Text 13"/>
          <p:cNvSpPr txBox="1"/>
          <p:nvPr/>
        </p:nvSpPr>
        <p:spPr>
          <a:xfrm>
            <a:off x="4617720" y="3035808"/>
            <a:ext cx="2971800" cy="50292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25,8 kg de volaille par habitant</a:t>
            </a:r>
            <a:endParaRPr lang="en-US" sz="1200" dirty="0"/>
          </a:p>
        </p:txBody>
      </p:sp>
      <p:sp>
        <p:nvSpPr>
          <p:cNvPr id="16" name="Text 14"/>
          <p:cNvSpPr txBox="1"/>
          <p:nvPr/>
        </p:nvSpPr>
        <p:spPr>
          <a:xfrm>
            <a:off x="4617720" y="3602736"/>
            <a:ext cx="2971800" cy="502920"/>
          </a:xfrm>
          <a:prstGeom prst="rect">
            <a:avLst/>
          </a:prstGeom>
          <a:noFill/>
          <a:ln/>
        </p:spPr>
        <p:txBody>
          <a:bodyPr wrap="square" lIns="0" tIns="0" rIns="0" bIns="0" rtlCol="0" anchor="ctr"/>
          <a:lstStyle/>
          <a:p>
            <a:pPr marL="0" indent="0">
              <a:buNone/>
            </a:pPr>
            <a:r>
              <a:rPr lang="en-US" sz="1200" b="1" dirty="0">
                <a:solidFill>
                  <a:srgbClr val="E07A3F"/>
                </a:solidFill>
                <a:latin typeface="Calibri" pitchFamily="34" charset="0"/>
                <a:ea typeface="Calibri" pitchFamily="34" charset="-122"/>
                <a:cs typeface="Calibri" pitchFamily="34" charset="-120"/>
              </a:rPr>
              <a:t>77 % importés</a:t>
            </a:r>
            <a:endParaRPr lang="en-US" sz="1200" dirty="0"/>
          </a:p>
        </p:txBody>
      </p:sp>
      <p:sp>
        <p:nvSpPr>
          <p:cNvPr id="17" name="Text 15"/>
          <p:cNvSpPr txBox="1"/>
          <p:nvPr/>
        </p:nvSpPr>
        <p:spPr>
          <a:xfrm>
            <a:off x="4617720" y="4169664"/>
            <a:ext cx="2971800" cy="50292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Marché européen, sans barrière douanière</a:t>
            </a:r>
            <a:endParaRPr lang="en-US" sz="1200" dirty="0"/>
          </a:p>
        </p:txBody>
      </p:sp>
      <p:sp>
        <p:nvSpPr>
          <p:cNvPr id="18" name="Shape 16"/>
          <p:cNvSpPr/>
          <p:nvPr/>
        </p:nvSpPr>
        <p:spPr>
          <a:xfrm>
            <a:off x="8138160" y="1691640"/>
            <a:ext cx="3429000" cy="3291840"/>
          </a:xfrm>
          <a:prstGeom prst="roundRect">
            <a:avLst>
              <a:gd name="adj" fmla="val 1667"/>
            </a:avLst>
          </a:prstGeom>
          <a:solidFill>
            <a:srgbClr val="2A3670"/>
          </a:solidFill>
          <a:ln w="12700">
            <a:solidFill>
              <a:srgbClr val="2A3670"/>
            </a:solidFill>
            <a:prstDash val="solid"/>
          </a:ln>
        </p:spPr>
      </p:sp>
      <p:sp>
        <p:nvSpPr>
          <p:cNvPr id="19" name="Text 17"/>
          <p:cNvSpPr txBox="1"/>
          <p:nvPr/>
        </p:nvSpPr>
        <p:spPr>
          <a:xfrm>
            <a:off x="8366760" y="1874520"/>
            <a:ext cx="2286000" cy="4114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Arabie saoudite</a:t>
            </a:r>
            <a:endParaRPr lang="en-US" sz="2000" dirty="0"/>
          </a:p>
        </p:txBody>
      </p:sp>
      <p:sp>
        <p:nvSpPr>
          <p:cNvPr id="20" name="Text 18"/>
          <p:cNvSpPr txBox="1"/>
          <p:nvPr/>
        </p:nvSpPr>
        <p:spPr>
          <a:xfrm>
            <a:off x="10424160" y="1874520"/>
            <a:ext cx="914400" cy="411480"/>
          </a:xfrm>
          <a:prstGeom prst="rect">
            <a:avLst/>
          </a:prstGeom>
          <a:noFill/>
          <a:ln/>
        </p:spPr>
        <p:txBody>
          <a:bodyPr wrap="square" lIns="0" tIns="0" rIns="0" bIns="0" rtlCol="0" anchor="ctr"/>
          <a:lstStyle/>
          <a:p>
            <a:pPr marL="0" indent="0" algn="r">
              <a:buNone/>
            </a:pPr>
            <a:r>
              <a:rPr lang="en-US" sz="2000" b="1" dirty="0">
                <a:solidFill>
                  <a:srgbClr val="E07A3F"/>
                </a:solidFill>
                <a:latin typeface="Calibri" pitchFamily="34" charset="0"/>
                <a:ea typeface="Calibri" pitchFamily="34" charset="-122"/>
                <a:cs typeface="Calibri" pitchFamily="34" charset="-120"/>
              </a:rPr>
              <a:t>60,8</a:t>
            </a:r>
            <a:endParaRPr lang="en-US" sz="2000" dirty="0"/>
          </a:p>
        </p:txBody>
      </p:sp>
      <p:sp>
        <p:nvSpPr>
          <p:cNvPr id="21" name="Text 19"/>
          <p:cNvSpPr txBox="1"/>
          <p:nvPr/>
        </p:nvSpPr>
        <p:spPr>
          <a:xfrm>
            <a:off x="8366760" y="2468880"/>
            <a:ext cx="2971800" cy="50292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23 929 $ / hab.</a:t>
            </a:r>
            <a:endParaRPr lang="en-US" sz="1200" dirty="0"/>
          </a:p>
        </p:txBody>
      </p:sp>
      <p:sp>
        <p:nvSpPr>
          <p:cNvPr id="22" name="Text 20"/>
          <p:cNvSpPr txBox="1"/>
          <p:nvPr/>
        </p:nvSpPr>
        <p:spPr>
          <a:xfrm>
            <a:off x="8366760" y="3035808"/>
            <a:ext cx="2971800" cy="50292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43,4 kg de volaille par habitant</a:t>
            </a:r>
            <a:endParaRPr lang="en-US" sz="1200" dirty="0"/>
          </a:p>
        </p:txBody>
      </p:sp>
      <p:sp>
        <p:nvSpPr>
          <p:cNvPr id="23" name="Text 21"/>
          <p:cNvSpPr txBox="1"/>
          <p:nvPr/>
        </p:nvSpPr>
        <p:spPr>
          <a:xfrm>
            <a:off x="8366760" y="3602736"/>
            <a:ext cx="2971800" cy="502920"/>
          </a:xfrm>
          <a:prstGeom prst="rect">
            <a:avLst/>
          </a:prstGeom>
          <a:noFill/>
          <a:ln/>
        </p:spPr>
        <p:txBody>
          <a:bodyPr wrap="square" lIns="0" tIns="0" rIns="0" bIns="0" rtlCol="0" anchor="ctr"/>
          <a:lstStyle/>
          <a:p>
            <a:pPr marL="0" indent="0">
              <a:buNone/>
            </a:pPr>
            <a:r>
              <a:rPr lang="en-US" sz="1200" b="1" dirty="0">
                <a:solidFill>
                  <a:srgbClr val="E07A3F"/>
                </a:solidFill>
                <a:latin typeface="Calibri" pitchFamily="34" charset="0"/>
                <a:ea typeface="Calibri" pitchFamily="34" charset="-122"/>
                <a:cs typeface="Calibri" pitchFamily="34" charset="-120"/>
              </a:rPr>
              <a:t>50 % importés</a:t>
            </a:r>
            <a:endParaRPr lang="en-US" sz="1200" dirty="0"/>
          </a:p>
        </p:txBody>
      </p:sp>
      <p:sp>
        <p:nvSpPr>
          <p:cNvPr id="24" name="Text 22"/>
          <p:cNvSpPr txBox="1"/>
          <p:nvPr/>
        </p:nvSpPr>
        <p:spPr>
          <a:xfrm>
            <a:off x="8366760" y="4169664"/>
            <a:ext cx="2971800" cy="50292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33 M d'habitants, +23 % depuis 2010</a:t>
            </a:r>
            <a:endParaRPr lang="en-US" sz="1200" dirty="0"/>
          </a:p>
        </p:txBody>
      </p:sp>
      <p:sp>
        <p:nvSpPr>
          <p:cNvPr id="25" name="Text 23"/>
          <p:cNvSpPr txBox="1"/>
          <p:nvPr/>
        </p:nvSpPr>
        <p:spPr>
          <a:xfrm>
            <a:off x="640080" y="5166360"/>
            <a:ext cx="10881360" cy="411480"/>
          </a:xfrm>
          <a:prstGeom prst="rect">
            <a:avLst/>
          </a:prstGeom>
          <a:noFill/>
          <a:ln/>
        </p:spPr>
        <p:txBody>
          <a:bodyPr wrap="square" lIns="0" tIns="0" rIns="0" bIns="0" rtlCol="0" anchor="ctr"/>
          <a:lstStyle/>
          <a:p>
            <a:pPr marL="0" indent="0">
              <a:buNone/>
            </a:pPr>
            <a:r>
              <a:rPr lang="en-US" sz="1300" dirty="0">
                <a:solidFill>
                  <a:srgbClr val="C9D6F0"/>
                </a:solidFill>
                <a:latin typeface="Calibri" pitchFamily="34" charset="0"/>
                <a:ea typeface="Calibri" pitchFamily="34" charset="-122"/>
                <a:cs typeface="Calibri" pitchFamily="34" charset="-120"/>
              </a:rPr>
              <a:t>Le Golfe — Koweït et Arabie saoudite : pays riches, gros consommateurs de volaille, climatiquement incapables de produire, à démographie très dynamique.</a:t>
            </a:r>
            <a:endParaRPr lang="en-US" sz="1300" dirty="0"/>
          </a:p>
        </p:txBody>
      </p:sp>
      <p:sp>
        <p:nvSpPr>
          <p:cNvPr id="26" name="Text 24"/>
          <p:cNvSpPr txBox="1"/>
          <p:nvPr/>
        </p:nvSpPr>
        <p:spPr>
          <a:xfrm>
            <a:off x="640080" y="5623560"/>
            <a:ext cx="10881360" cy="411480"/>
          </a:xfrm>
          <a:prstGeom prst="rect">
            <a:avLst/>
          </a:prstGeom>
          <a:noFill/>
          <a:ln/>
        </p:spPr>
        <p:txBody>
          <a:bodyPr wrap="square" lIns="0" tIns="0" rIns="0" bIns="0" rtlCol="0" anchor="ctr"/>
          <a:lstStyle/>
          <a:p>
            <a:pPr marL="0" indent="0">
              <a:buNone/>
            </a:pPr>
            <a:r>
              <a:rPr lang="en-US" sz="1300" dirty="0">
                <a:solidFill>
                  <a:srgbClr val="C9D6F0"/>
                </a:solidFill>
                <a:latin typeface="Calibri" pitchFamily="34" charset="0"/>
                <a:ea typeface="Calibri" pitchFamily="34" charset="-122"/>
                <a:cs typeface="Calibri" pitchFamily="34" charset="-120"/>
              </a:rPr>
              <a:t>L'Europe — Irlande : marché mature, proche, sans barrière douanière, à très haut pouvoir d'achat. Ticket d'entrée faible.</a:t>
            </a:r>
            <a:endParaRPr lang="en-US" sz="1300" dirty="0"/>
          </a:p>
        </p:txBody>
      </p:sp>
      <p:sp>
        <p:nvSpPr>
          <p:cNvPr id="28" name="Text 25"/>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A8B0BC"/>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731520"/>
          </a:xfrm>
          <a:prstGeom prst="rect">
            <a:avLst/>
          </a:prstGeom>
          <a:noFill/>
          <a:ln/>
        </p:spPr>
        <p:txBody>
          <a:bodyPr wrap="square" lIns="0" tIns="0" rIns="0" bIns="0" rtlCol="0" anchor="ctr"/>
          <a:lstStyle/>
          <a:p>
            <a:pPr marL="0" indent="0" algn="l">
              <a:buNone/>
            </a:pPr>
            <a:r>
              <a:rPr lang="en-US" sz="3000" b="1" dirty="0">
                <a:solidFill>
                  <a:srgbClr val="1E2761"/>
                </a:solidFill>
                <a:latin typeface="Calibri" pitchFamily="34" charset="0"/>
                <a:ea typeface="Calibri" pitchFamily="34" charset="-122"/>
                <a:cs typeface="Calibri" pitchFamily="34" charset="-120"/>
              </a:rPr>
              <a:t>Ce que je propose</a:t>
            </a:r>
            <a:endParaRPr lang="en-US" sz="3000" dirty="0"/>
          </a:p>
        </p:txBody>
      </p:sp>
      <p:sp>
        <p:nvSpPr>
          <p:cNvPr id="3" name="Shape 1"/>
          <p:cNvSpPr/>
          <p:nvPr/>
        </p:nvSpPr>
        <p:spPr>
          <a:xfrm>
            <a:off x="640080" y="1764792"/>
            <a:ext cx="457200" cy="457200"/>
          </a:xfrm>
          <a:prstGeom prst="ellipse">
            <a:avLst/>
          </a:prstGeom>
          <a:solidFill>
            <a:srgbClr val="4A9D5F"/>
          </a:solidFill>
          <a:ln w="12700">
            <a:solidFill>
              <a:srgbClr val="333333"/>
            </a:solidFill>
            <a:prstDash val="solid"/>
          </a:ln>
        </p:spPr>
      </p:sp>
      <p:sp>
        <p:nvSpPr>
          <p:cNvPr id="4" name="Shape 2"/>
          <p:cNvSpPr/>
          <p:nvPr/>
        </p:nvSpPr>
        <p:spPr>
          <a:xfrm>
            <a:off x="868680" y="2221992"/>
            <a:ext cx="0" cy="749808"/>
          </a:xfrm>
          <a:prstGeom prst="line">
            <a:avLst/>
          </a:prstGeom>
          <a:noFill/>
          <a:ln w="25400">
            <a:solidFill>
              <a:srgbClr val="D5DBE4"/>
            </a:solidFill>
            <a:prstDash val="solid"/>
          </a:ln>
        </p:spPr>
      </p:sp>
      <p:sp>
        <p:nvSpPr>
          <p:cNvPr id="5" name="Text 3"/>
          <p:cNvSpPr txBox="1"/>
          <p:nvPr/>
        </p:nvSpPr>
        <p:spPr>
          <a:xfrm>
            <a:off x="1371600" y="1618488"/>
            <a:ext cx="1828800" cy="320040"/>
          </a:xfrm>
          <a:prstGeom prst="rect">
            <a:avLst/>
          </a:prstGeom>
          <a:noFill/>
          <a:ln/>
        </p:spPr>
        <p:txBody>
          <a:bodyPr wrap="square" lIns="0" tIns="0" rIns="0" bIns="0" rtlCol="0" anchor="ctr"/>
          <a:lstStyle/>
          <a:p>
            <a:pPr marL="0" indent="0">
              <a:buNone/>
            </a:pPr>
            <a:r>
              <a:rPr lang="en-US" sz="1150" b="1" dirty="0">
                <a:solidFill>
                  <a:srgbClr val="4A9D5F"/>
                </a:solidFill>
                <a:latin typeface="Calibri" pitchFamily="34" charset="0"/>
                <a:ea typeface="Calibri" pitchFamily="34" charset="-122"/>
                <a:cs typeface="Calibri" pitchFamily="34" charset="-120"/>
              </a:rPr>
              <a:t>Court terme</a:t>
            </a:r>
            <a:endParaRPr lang="en-US" sz="1150" dirty="0"/>
          </a:p>
        </p:txBody>
      </p:sp>
      <p:sp>
        <p:nvSpPr>
          <p:cNvPr id="6" name="Text 4"/>
          <p:cNvSpPr txBox="1"/>
          <p:nvPr/>
        </p:nvSpPr>
        <p:spPr>
          <a:xfrm>
            <a:off x="1371600" y="1920240"/>
            <a:ext cx="3931920" cy="36576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Irlande</a:t>
            </a:r>
            <a:endParaRPr lang="en-US" sz="1600" dirty="0"/>
          </a:p>
        </p:txBody>
      </p:sp>
      <p:sp>
        <p:nvSpPr>
          <p:cNvPr id="7" name="Text 5"/>
          <p:cNvSpPr txBox="1"/>
          <p:nvPr/>
        </p:nvSpPr>
        <p:spPr>
          <a:xfrm>
            <a:off x="5577840" y="1709928"/>
            <a:ext cx="5852160" cy="731520"/>
          </a:xfrm>
          <a:prstGeom prst="rect">
            <a:avLst/>
          </a:prstGeom>
          <a:noFill/>
          <a:ln/>
        </p:spPr>
        <p:txBody>
          <a:bodyPr wrap="square" lIns="0" tIns="0" rIns="0" bIns="0" rtlCol="0" anchor="ctr"/>
          <a:lstStyle/>
          <a:p>
            <a:pPr marL="0" indent="0">
              <a:buNone/>
            </a:pPr>
            <a:r>
              <a:rPr lang="en-US" sz="1250" dirty="0">
                <a:solidFill>
                  <a:srgbClr val="5A6472"/>
                </a:solidFill>
                <a:latin typeface="Calibri" pitchFamily="34" charset="0"/>
                <a:ea typeface="Calibri" pitchFamily="34" charset="-122"/>
                <a:cs typeface="Calibri" pitchFamily="34" charset="-120"/>
              </a:rPr>
              <a:t>Test commercial. Risque faible, logistique simple, pas de barrière douanière.</a:t>
            </a:r>
            <a:endParaRPr lang="en-US" sz="1250" dirty="0"/>
          </a:p>
        </p:txBody>
      </p:sp>
      <p:sp>
        <p:nvSpPr>
          <p:cNvPr id="8" name="Shape 6"/>
          <p:cNvSpPr/>
          <p:nvPr/>
        </p:nvSpPr>
        <p:spPr>
          <a:xfrm>
            <a:off x="640080" y="2971800"/>
            <a:ext cx="457200" cy="457200"/>
          </a:xfrm>
          <a:prstGeom prst="ellipse">
            <a:avLst/>
          </a:prstGeom>
          <a:solidFill>
            <a:srgbClr val="E07A3F"/>
          </a:solidFill>
          <a:ln w="12700">
            <a:solidFill>
              <a:srgbClr val="333333"/>
            </a:solidFill>
            <a:prstDash val="solid"/>
          </a:ln>
        </p:spPr>
      </p:sp>
      <p:sp>
        <p:nvSpPr>
          <p:cNvPr id="9" name="Shape 7"/>
          <p:cNvSpPr/>
          <p:nvPr/>
        </p:nvSpPr>
        <p:spPr>
          <a:xfrm>
            <a:off x="868680" y="3429000"/>
            <a:ext cx="0" cy="749808"/>
          </a:xfrm>
          <a:prstGeom prst="line">
            <a:avLst/>
          </a:prstGeom>
          <a:noFill/>
          <a:ln w="25400">
            <a:solidFill>
              <a:srgbClr val="D5DBE4"/>
            </a:solidFill>
            <a:prstDash val="solid"/>
          </a:ln>
        </p:spPr>
      </p:sp>
      <p:sp>
        <p:nvSpPr>
          <p:cNvPr id="10" name="Text 8"/>
          <p:cNvSpPr txBox="1"/>
          <p:nvPr/>
        </p:nvSpPr>
        <p:spPr>
          <a:xfrm>
            <a:off x="1371600" y="2825496"/>
            <a:ext cx="1828800" cy="320040"/>
          </a:xfrm>
          <a:prstGeom prst="rect">
            <a:avLst/>
          </a:prstGeom>
          <a:noFill/>
          <a:ln/>
        </p:spPr>
        <p:txBody>
          <a:bodyPr wrap="square" lIns="0" tIns="0" rIns="0" bIns="0" rtlCol="0" anchor="ctr"/>
          <a:lstStyle/>
          <a:p>
            <a:pPr marL="0" indent="0">
              <a:buNone/>
            </a:pPr>
            <a:r>
              <a:rPr lang="en-US" sz="1150" b="1" dirty="0">
                <a:solidFill>
                  <a:srgbClr val="E07A3F"/>
                </a:solidFill>
                <a:latin typeface="Calibri" pitchFamily="34" charset="0"/>
                <a:ea typeface="Calibri" pitchFamily="34" charset="-122"/>
                <a:cs typeface="Calibri" pitchFamily="34" charset="-120"/>
              </a:rPr>
              <a:t>Court terme</a:t>
            </a:r>
            <a:endParaRPr lang="en-US" sz="1150" dirty="0"/>
          </a:p>
        </p:txBody>
      </p:sp>
      <p:sp>
        <p:nvSpPr>
          <p:cNvPr id="11" name="Text 9"/>
          <p:cNvSpPr txBox="1"/>
          <p:nvPr/>
        </p:nvSpPr>
        <p:spPr>
          <a:xfrm>
            <a:off x="1371600" y="3127248"/>
            <a:ext cx="3931920" cy="36576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Koweït</a:t>
            </a:r>
            <a:endParaRPr lang="en-US" sz="1600" dirty="0"/>
          </a:p>
        </p:txBody>
      </p:sp>
      <p:sp>
        <p:nvSpPr>
          <p:cNvPr id="12" name="Text 10"/>
          <p:cNvSpPr txBox="1"/>
          <p:nvPr/>
        </p:nvSpPr>
        <p:spPr>
          <a:xfrm>
            <a:off x="5577840" y="2916936"/>
            <a:ext cx="5852160" cy="731520"/>
          </a:xfrm>
          <a:prstGeom prst="rect">
            <a:avLst/>
          </a:prstGeom>
          <a:noFill/>
          <a:ln/>
        </p:spPr>
        <p:txBody>
          <a:bodyPr wrap="square" lIns="0" tIns="0" rIns="0" bIns="0" rtlCol="0" anchor="ctr"/>
          <a:lstStyle/>
          <a:p>
            <a:pPr marL="0" indent="0">
              <a:buNone/>
            </a:pPr>
            <a:r>
              <a:rPr lang="en-US" sz="1250" dirty="0">
                <a:solidFill>
                  <a:srgbClr val="5A6472"/>
                </a:solidFill>
                <a:latin typeface="Calibri" pitchFamily="34" charset="0"/>
                <a:ea typeface="Calibri" pitchFamily="34" charset="-122"/>
                <a:cs typeface="Calibri" pitchFamily="34" charset="-120"/>
              </a:rPr>
              <a:t>Étude terrain avant engagement : circuits de distribution, reconnaissance du label bio, chaîne du froid.</a:t>
            </a:r>
            <a:endParaRPr lang="en-US" sz="1250" dirty="0"/>
          </a:p>
        </p:txBody>
      </p:sp>
      <p:sp>
        <p:nvSpPr>
          <p:cNvPr id="13" name="Shape 11"/>
          <p:cNvSpPr/>
          <p:nvPr/>
        </p:nvSpPr>
        <p:spPr>
          <a:xfrm>
            <a:off x="640080" y="4178808"/>
            <a:ext cx="457200" cy="457200"/>
          </a:xfrm>
          <a:prstGeom prst="ellipse">
            <a:avLst/>
          </a:prstGeom>
          <a:solidFill>
            <a:srgbClr val="1E2761"/>
          </a:solidFill>
          <a:ln w="12700">
            <a:solidFill>
              <a:srgbClr val="333333"/>
            </a:solidFill>
            <a:prstDash val="solid"/>
          </a:ln>
        </p:spPr>
      </p:sp>
      <p:sp>
        <p:nvSpPr>
          <p:cNvPr id="14" name="Shape 12"/>
          <p:cNvSpPr/>
          <p:nvPr/>
        </p:nvSpPr>
        <p:spPr>
          <a:xfrm>
            <a:off x="868680" y="4636008"/>
            <a:ext cx="0" cy="749808"/>
          </a:xfrm>
          <a:prstGeom prst="line">
            <a:avLst/>
          </a:prstGeom>
          <a:noFill/>
          <a:ln w="25400">
            <a:solidFill>
              <a:srgbClr val="D5DBE4"/>
            </a:solidFill>
            <a:prstDash val="solid"/>
          </a:ln>
        </p:spPr>
      </p:sp>
      <p:sp>
        <p:nvSpPr>
          <p:cNvPr id="15" name="Text 13"/>
          <p:cNvSpPr txBox="1"/>
          <p:nvPr/>
        </p:nvSpPr>
        <p:spPr>
          <a:xfrm>
            <a:off x="1371600" y="4032504"/>
            <a:ext cx="1828800" cy="320040"/>
          </a:xfrm>
          <a:prstGeom prst="rect">
            <a:avLst/>
          </a:prstGeom>
          <a:noFill/>
          <a:ln/>
        </p:spPr>
        <p:txBody>
          <a:bodyPr wrap="square" lIns="0" tIns="0" rIns="0" bIns="0"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Moyen terme</a:t>
            </a:r>
            <a:endParaRPr lang="en-US" sz="1150" dirty="0"/>
          </a:p>
        </p:txBody>
      </p:sp>
      <p:sp>
        <p:nvSpPr>
          <p:cNvPr id="16" name="Text 14"/>
          <p:cNvSpPr txBox="1"/>
          <p:nvPr/>
        </p:nvSpPr>
        <p:spPr>
          <a:xfrm>
            <a:off x="1371600" y="4334256"/>
            <a:ext cx="3931920" cy="36576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Arabie saoudite puis Europe centrale</a:t>
            </a:r>
            <a:endParaRPr lang="en-US" sz="1600" dirty="0"/>
          </a:p>
        </p:txBody>
      </p:sp>
      <p:sp>
        <p:nvSpPr>
          <p:cNvPr id="17" name="Text 15"/>
          <p:cNvSpPr txBox="1"/>
          <p:nvPr/>
        </p:nvSpPr>
        <p:spPr>
          <a:xfrm>
            <a:off x="5577840" y="4123944"/>
            <a:ext cx="5852160" cy="731520"/>
          </a:xfrm>
          <a:prstGeom prst="rect">
            <a:avLst/>
          </a:prstGeom>
          <a:noFill/>
          <a:ln/>
        </p:spPr>
        <p:txBody>
          <a:bodyPr wrap="square" lIns="0" tIns="0" rIns="0" bIns="0" rtlCol="0" anchor="ctr"/>
          <a:lstStyle/>
          <a:p>
            <a:pPr marL="0" indent="0">
              <a:buNone/>
            </a:pPr>
            <a:r>
              <a:rPr lang="en-US" sz="1250" dirty="0">
                <a:solidFill>
                  <a:srgbClr val="5A6472"/>
                </a:solidFill>
                <a:latin typeface="Calibri" pitchFamily="34" charset="0"/>
                <a:ea typeface="Calibri" pitchFamily="34" charset="-122"/>
                <a:cs typeface="Calibri" pitchFamily="34" charset="-120"/>
              </a:rPr>
              <a:t>Déploiement si les deux tests sont concluants. Autriche, Allemagne et Royaume-Uni suivent dans le classement.</a:t>
            </a:r>
            <a:endParaRPr lang="en-US" sz="1250" dirty="0"/>
          </a:p>
        </p:txBody>
      </p:sp>
      <p:sp>
        <p:nvSpPr>
          <p:cNvPr id="18" name="Shape 16"/>
          <p:cNvSpPr/>
          <p:nvPr/>
        </p:nvSpPr>
        <p:spPr>
          <a:xfrm>
            <a:off x="640080" y="5385816"/>
            <a:ext cx="457200" cy="457200"/>
          </a:xfrm>
          <a:prstGeom prst="ellipse">
            <a:avLst/>
          </a:prstGeom>
          <a:solidFill>
            <a:srgbClr val="B5485D"/>
          </a:solidFill>
          <a:ln w="12700">
            <a:solidFill>
              <a:srgbClr val="333333"/>
            </a:solidFill>
            <a:prstDash val="solid"/>
          </a:ln>
        </p:spPr>
      </p:sp>
      <p:sp>
        <p:nvSpPr>
          <p:cNvPr id="19" name="Text 17"/>
          <p:cNvSpPr txBox="1"/>
          <p:nvPr/>
        </p:nvSpPr>
        <p:spPr>
          <a:xfrm>
            <a:off x="1371600" y="5239512"/>
            <a:ext cx="1828800" cy="320040"/>
          </a:xfrm>
          <a:prstGeom prst="rect">
            <a:avLst/>
          </a:prstGeom>
          <a:noFill/>
          <a:ln/>
        </p:spPr>
        <p:txBody>
          <a:bodyPr wrap="square" lIns="0" tIns="0" rIns="0" bIns="0" rtlCol="0" anchor="ctr"/>
          <a:lstStyle/>
          <a:p>
            <a:pPr marL="0" indent="0">
              <a:buNone/>
            </a:pPr>
            <a:r>
              <a:rPr lang="en-US" sz="1150" b="1" dirty="0">
                <a:solidFill>
                  <a:srgbClr val="B5485D"/>
                </a:solidFill>
                <a:latin typeface="Calibri" pitchFamily="34" charset="0"/>
                <a:ea typeface="Calibri" pitchFamily="34" charset="-122"/>
                <a:cs typeface="Calibri" pitchFamily="34" charset="-120"/>
              </a:rPr>
              <a:t>À écarter</a:t>
            </a:r>
            <a:endParaRPr lang="en-US" sz="1150" dirty="0"/>
          </a:p>
        </p:txBody>
      </p:sp>
      <p:sp>
        <p:nvSpPr>
          <p:cNvPr id="20" name="Text 18"/>
          <p:cNvSpPr txBox="1"/>
          <p:nvPr/>
        </p:nvSpPr>
        <p:spPr>
          <a:xfrm>
            <a:off x="1371600" y="5541264"/>
            <a:ext cx="3931920" cy="36576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États-Unis, Brésil, Israël, Australie</a:t>
            </a:r>
            <a:endParaRPr lang="en-US" sz="1600" dirty="0"/>
          </a:p>
        </p:txBody>
      </p:sp>
      <p:sp>
        <p:nvSpPr>
          <p:cNvPr id="21" name="Text 19"/>
          <p:cNvSpPr txBox="1"/>
          <p:nvPr/>
        </p:nvSpPr>
        <p:spPr>
          <a:xfrm>
            <a:off x="5577840" y="5330952"/>
            <a:ext cx="5852160" cy="731520"/>
          </a:xfrm>
          <a:prstGeom prst="rect">
            <a:avLst/>
          </a:prstGeom>
          <a:noFill/>
          <a:ln/>
        </p:spPr>
        <p:txBody>
          <a:bodyPr wrap="square" lIns="0" tIns="0" rIns="0" bIns="0" rtlCol="0" anchor="ctr"/>
          <a:lstStyle/>
          <a:p>
            <a:pPr marL="0" indent="0">
              <a:buNone/>
            </a:pPr>
            <a:r>
              <a:rPr lang="en-US" sz="1250" dirty="0">
                <a:solidFill>
                  <a:srgbClr val="5A6472"/>
                </a:solidFill>
                <a:latin typeface="Calibri" pitchFamily="34" charset="0"/>
                <a:ea typeface="Calibri" pitchFamily="34" charset="-122"/>
                <a:cs typeface="Calibri" pitchFamily="34" charset="-120"/>
              </a:rPr>
              <a:t>Autosuffisants. Barrière à l'entrée trop élevée quel que soit leur pouvoir d'achat.</a:t>
            </a:r>
            <a:endParaRPr lang="en-US" sz="1250" dirty="0"/>
          </a:p>
        </p:txBody>
      </p:sp>
      <p:sp>
        <p:nvSpPr>
          <p:cNvPr id="22" name="Text 20"/>
          <p:cNvSpPr txBox="1"/>
          <p:nvPr/>
        </p:nvSpPr>
        <p:spPr>
          <a:xfrm>
            <a:off x="640080" y="5943600"/>
            <a:ext cx="10881360" cy="548640"/>
          </a:xfrm>
          <a:prstGeom prst="rect">
            <a:avLst/>
          </a:prstGeom>
          <a:noFill/>
          <a:ln/>
        </p:spPr>
        <p:txBody>
          <a:bodyPr wrap="square" lIns="0" tIns="0" rIns="0" bIns="0" rtlCol="0" anchor="ctr"/>
          <a:lstStyle/>
          <a:p>
            <a:pPr marL="0" indent="0">
              <a:buNone/>
            </a:pPr>
            <a:r>
              <a:rPr lang="en-US" sz="1350" i="1" dirty="0">
                <a:solidFill>
                  <a:srgbClr val="1E2761"/>
                </a:solidFill>
                <a:latin typeface="Calibri" pitchFamily="34" charset="0"/>
                <a:ea typeface="Calibri" pitchFamily="34" charset="-122"/>
                <a:cs typeface="Calibri" pitchFamily="34" charset="-120"/>
              </a:rPr>
              <a:t>Prochaine étape : une étude terrain sur les deux premiers marchés. Les données quantitatives ont fait leur travail, elles ne diront rien de plus.</a:t>
            </a:r>
            <a:endParaRPr lang="en-US" sz="1350" dirty="0"/>
          </a:p>
        </p:txBody>
      </p:sp>
      <p:sp>
        <p:nvSpPr>
          <p:cNvPr id="24" name="Text 21"/>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A8B0BC"/>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731520"/>
          </a:xfrm>
          <a:prstGeom prst="rect">
            <a:avLst/>
          </a:prstGeom>
          <a:noFill/>
          <a:ln/>
        </p:spPr>
        <p:txBody>
          <a:bodyPr wrap="square" lIns="0" tIns="0" rIns="0" bIns="0" rtlCol="0" anchor="ctr"/>
          <a:lstStyle/>
          <a:p>
            <a:pPr marL="0" indent="0" algn="l">
              <a:buNone/>
            </a:pPr>
            <a:r>
              <a:rPr lang="en-US" sz="3000" b="1" dirty="0">
                <a:solidFill>
                  <a:srgbClr val="1E2761"/>
                </a:solidFill>
                <a:latin typeface="Calibri" pitchFamily="34" charset="0"/>
                <a:ea typeface="Calibri" pitchFamily="34" charset="-122"/>
                <a:cs typeface="Calibri" pitchFamily="34" charset="-120"/>
              </a:rPr>
              <a:t>Ce que cette étude ne dit pas</a:t>
            </a:r>
            <a:endParaRPr lang="en-US" sz="3000" dirty="0"/>
          </a:p>
        </p:txBody>
      </p:sp>
      <p:sp>
        <p:nvSpPr>
          <p:cNvPr id="3" name="Text 1"/>
          <p:cNvSpPr txBox="1"/>
          <p:nvPr/>
        </p:nvSpPr>
        <p:spPr>
          <a:xfrm>
            <a:off x="640080" y="1078992"/>
            <a:ext cx="10881360" cy="41148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Quatre limites à connaître avant de décider</a:t>
            </a:r>
            <a:endParaRPr lang="en-US" sz="1400" dirty="0"/>
          </a:p>
        </p:txBody>
      </p:sp>
      <p:sp>
        <p:nvSpPr>
          <p:cNvPr id="4" name="Shape 2"/>
          <p:cNvSpPr/>
          <p:nvPr/>
        </p:nvSpPr>
        <p:spPr>
          <a:xfrm>
            <a:off x="640080" y="1783080"/>
            <a:ext cx="5257800" cy="1600200"/>
          </a:xfrm>
          <a:prstGeom prst="roundRect">
            <a:avLst>
              <a:gd name="adj" fmla="val 3429"/>
            </a:avLst>
          </a:prstGeom>
          <a:solidFill>
            <a:srgbClr val="EEF1F5"/>
          </a:solidFill>
          <a:ln w="12700">
            <a:solidFill>
              <a:srgbClr val="EEF1F5"/>
            </a:solidFill>
            <a:prstDash val="solid"/>
          </a:ln>
        </p:spPr>
      </p:sp>
      <p:sp>
        <p:nvSpPr>
          <p:cNvPr id="5" name="Shape 3"/>
          <p:cNvSpPr/>
          <p:nvPr/>
        </p:nvSpPr>
        <p:spPr>
          <a:xfrm>
            <a:off x="914400" y="2075688"/>
            <a:ext cx="457200" cy="457200"/>
          </a:xfrm>
          <a:prstGeom prst="ellipse">
            <a:avLst/>
          </a:prstGeom>
          <a:solidFill>
            <a:srgbClr val="B5485D"/>
          </a:solidFill>
          <a:ln w="12700">
            <a:solidFill>
              <a:srgbClr val="333333"/>
            </a:solidFill>
            <a:prstDash val="solid"/>
          </a:ln>
        </p:spPr>
      </p:sp>
      <p:sp>
        <p:nvSpPr>
          <p:cNvPr id="6" name="Text 4"/>
          <p:cNvSpPr txBox="1"/>
          <p:nvPr/>
        </p:nvSpPr>
        <p:spPr>
          <a:xfrm>
            <a:off x="914400" y="2130552"/>
            <a:ext cx="45720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txBox="1"/>
          <p:nvPr/>
        </p:nvSpPr>
        <p:spPr>
          <a:xfrm>
            <a:off x="1554480" y="2039112"/>
            <a:ext cx="4114800" cy="411480"/>
          </a:xfrm>
          <a:prstGeom prst="rect">
            <a:avLst/>
          </a:prstGeom>
          <a:noFill/>
          <a:ln/>
        </p:spPr>
        <p:txBody>
          <a:bodyPr wrap="square" lIns="0" tIns="0" rIns="0" bIns="0"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Les données datent de 2017</a:t>
            </a:r>
            <a:endParaRPr lang="en-US" sz="1450" dirty="0"/>
          </a:p>
        </p:txBody>
      </p:sp>
      <p:sp>
        <p:nvSpPr>
          <p:cNvPr id="8" name="Text 6"/>
          <p:cNvSpPr txBox="1"/>
          <p:nvPr/>
        </p:nvSpPr>
        <p:spPr>
          <a:xfrm>
            <a:off x="1554480" y="2468880"/>
            <a:ext cx="4160520" cy="822960"/>
          </a:xfrm>
          <a:prstGeom prst="rect">
            <a:avLst/>
          </a:prstGeom>
          <a:noFill/>
          <a:ln/>
        </p:spPr>
        <p:txBody>
          <a:bodyPr wrap="square" lIns="0" tIns="0" rIns="0" bIns="0" rtlCol="0" anchor="ctr"/>
          <a:lstStyle/>
          <a:p>
            <a:pPr marL="0" indent="0">
              <a:buNone/>
            </a:pPr>
            <a:r>
              <a:rPr lang="en-US" sz="1200" dirty="0">
                <a:solidFill>
                  <a:srgbClr val="5A6472"/>
                </a:solidFill>
                <a:latin typeface="Calibri" pitchFamily="34" charset="0"/>
                <a:ea typeface="Calibri" pitchFamily="34" charset="-122"/>
                <a:cs typeface="Calibri" pitchFamily="34" charset="-120"/>
              </a:rPr>
              <a:t>C'est la dernière année complète publiée par la FAO. L'analyse est une photographie, pas une tendance.</a:t>
            </a:r>
            <a:endParaRPr lang="en-US" sz="1200" dirty="0"/>
          </a:p>
        </p:txBody>
      </p:sp>
      <p:sp>
        <p:nvSpPr>
          <p:cNvPr id="9" name="Shape 7"/>
          <p:cNvSpPr/>
          <p:nvPr/>
        </p:nvSpPr>
        <p:spPr>
          <a:xfrm>
            <a:off x="6263640" y="1783080"/>
            <a:ext cx="5257800" cy="1600200"/>
          </a:xfrm>
          <a:prstGeom prst="roundRect">
            <a:avLst>
              <a:gd name="adj" fmla="val 3429"/>
            </a:avLst>
          </a:prstGeom>
          <a:solidFill>
            <a:srgbClr val="EEF1F5"/>
          </a:solidFill>
          <a:ln w="12700">
            <a:solidFill>
              <a:srgbClr val="EEF1F5"/>
            </a:solidFill>
            <a:prstDash val="solid"/>
          </a:ln>
        </p:spPr>
      </p:sp>
      <p:sp>
        <p:nvSpPr>
          <p:cNvPr id="10" name="Shape 8"/>
          <p:cNvSpPr/>
          <p:nvPr/>
        </p:nvSpPr>
        <p:spPr>
          <a:xfrm>
            <a:off x="6537960" y="2075688"/>
            <a:ext cx="457200" cy="457200"/>
          </a:xfrm>
          <a:prstGeom prst="ellipse">
            <a:avLst/>
          </a:prstGeom>
          <a:solidFill>
            <a:srgbClr val="B5485D"/>
          </a:solidFill>
          <a:ln w="12700">
            <a:solidFill>
              <a:srgbClr val="333333"/>
            </a:solidFill>
            <a:prstDash val="solid"/>
          </a:ln>
        </p:spPr>
      </p:sp>
      <p:sp>
        <p:nvSpPr>
          <p:cNvPr id="11" name="Text 9"/>
          <p:cNvSpPr txBox="1"/>
          <p:nvPr/>
        </p:nvSpPr>
        <p:spPr>
          <a:xfrm>
            <a:off x="6537960" y="2130552"/>
            <a:ext cx="45720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2" name="Text 10"/>
          <p:cNvSpPr txBox="1"/>
          <p:nvPr/>
        </p:nvSpPr>
        <p:spPr>
          <a:xfrm>
            <a:off x="7178040" y="2039112"/>
            <a:ext cx="4114800" cy="411480"/>
          </a:xfrm>
          <a:prstGeom prst="rect">
            <a:avLst/>
          </a:prstGeom>
          <a:noFill/>
          <a:ln/>
        </p:spPr>
        <p:txBody>
          <a:bodyPr wrap="square" lIns="0" tIns="0" rIns="0" bIns="0"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Ni douanes, ni normes, ni certifications</a:t>
            </a:r>
            <a:endParaRPr lang="en-US" sz="1450" dirty="0"/>
          </a:p>
        </p:txBody>
      </p:sp>
      <p:sp>
        <p:nvSpPr>
          <p:cNvPr id="13" name="Text 11"/>
          <p:cNvSpPr txBox="1"/>
          <p:nvPr/>
        </p:nvSpPr>
        <p:spPr>
          <a:xfrm>
            <a:off x="7178040" y="2468880"/>
            <a:ext cx="4160520" cy="822960"/>
          </a:xfrm>
          <a:prstGeom prst="rect">
            <a:avLst/>
          </a:prstGeom>
          <a:noFill/>
          <a:ln/>
        </p:spPr>
        <p:txBody>
          <a:bodyPr wrap="square" lIns="0" tIns="0" rIns="0" bIns="0" rtlCol="0" anchor="ctr"/>
          <a:lstStyle/>
          <a:p>
            <a:pPr marL="0" indent="0">
              <a:buNone/>
            </a:pPr>
            <a:r>
              <a:rPr lang="en-US" sz="1200" dirty="0">
                <a:solidFill>
                  <a:srgbClr val="5A6472"/>
                </a:solidFill>
                <a:latin typeface="Calibri" pitchFamily="34" charset="0"/>
                <a:ea typeface="Calibri" pitchFamily="34" charset="-122"/>
                <a:cs typeface="Calibri" pitchFamily="34" charset="-120"/>
              </a:rPr>
              <a:t>Les barrières tarifaires, les accords commerciaux et la reconnaissance du label bio français ne figurent pas dans les données. Elles peuvent être bloquantes.</a:t>
            </a:r>
            <a:endParaRPr lang="en-US" sz="1200" dirty="0"/>
          </a:p>
        </p:txBody>
      </p:sp>
      <p:sp>
        <p:nvSpPr>
          <p:cNvPr id="14" name="Shape 12"/>
          <p:cNvSpPr/>
          <p:nvPr/>
        </p:nvSpPr>
        <p:spPr>
          <a:xfrm>
            <a:off x="640080" y="3611880"/>
            <a:ext cx="5257800" cy="1600200"/>
          </a:xfrm>
          <a:prstGeom prst="roundRect">
            <a:avLst>
              <a:gd name="adj" fmla="val 3429"/>
            </a:avLst>
          </a:prstGeom>
          <a:solidFill>
            <a:srgbClr val="EEF1F5"/>
          </a:solidFill>
          <a:ln w="12700">
            <a:solidFill>
              <a:srgbClr val="EEF1F5"/>
            </a:solidFill>
            <a:prstDash val="solid"/>
          </a:ln>
        </p:spPr>
      </p:sp>
      <p:sp>
        <p:nvSpPr>
          <p:cNvPr id="15" name="Shape 13"/>
          <p:cNvSpPr/>
          <p:nvPr/>
        </p:nvSpPr>
        <p:spPr>
          <a:xfrm>
            <a:off x="914400" y="3904488"/>
            <a:ext cx="457200" cy="457200"/>
          </a:xfrm>
          <a:prstGeom prst="ellipse">
            <a:avLst/>
          </a:prstGeom>
          <a:solidFill>
            <a:srgbClr val="B5485D"/>
          </a:solidFill>
          <a:ln w="12700">
            <a:solidFill>
              <a:srgbClr val="333333"/>
            </a:solidFill>
            <a:prstDash val="solid"/>
          </a:ln>
        </p:spPr>
      </p:sp>
      <p:sp>
        <p:nvSpPr>
          <p:cNvPr id="16" name="Text 14"/>
          <p:cNvSpPr txBox="1"/>
          <p:nvPr/>
        </p:nvSpPr>
        <p:spPr>
          <a:xfrm>
            <a:off x="914400" y="3959352"/>
            <a:ext cx="45720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7" name="Text 15"/>
          <p:cNvSpPr txBox="1"/>
          <p:nvPr/>
        </p:nvSpPr>
        <p:spPr>
          <a:xfrm>
            <a:off x="1554480" y="3867912"/>
            <a:ext cx="4114800" cy="411480"/>
          </a:xfrm>
          <a:prstGeom prst="rect">
            <a:avLst/>
          </a:prstGeom>
          <a:noFill/>
          <a:ln/>
        </p:spPr>
        <p:txBody>
          <a:bodyPr wrap="square" lIns="0" tIns="0" rIns="0" bIns="0"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Ni coûts logistiques</a:t>
            </a:r>
            <a:endParaRPr lang="en-US" sz="1450" dirty="0"/>
          </a:p>
        </p:txBody>
      </p:sp>
      <p:sp>
        <p:nvSpPr>
          <p:cNvPr id="18" name="Text 16"/>
          <p:cNvSpPr txBox="1"/>
          <p:nvPr/>
        </p:nvSpPr>
        <p:spPr>
          <a:xfrm>
            <a:off x="1554480" y="4297680"/>
            <a:ext cx="4160520" cy="822960"/>
          </a:xfrm>
          <a:prstGeom prst="rect">
            <a:avLst/>
          </a:prstGeom>
          <a:noFill/>
          <a:ln/>
        </p:spPr>
        <p:txBody>
          <a:bodyPr wrap="square" lIns="0" tIns="0" rIns="0" bIns="0" rtlCol="0" anchor="ctr"/>
          <a:lstStyle/>
          <a:p>
            <a:pPr marL="0" indent="0">
              <a:buNone/>
            </a:pPr>
            <a:r>
              <a:rPr lang="en-US" sz="1200" dirty="0">
                <a:solidFill>
                  <a:srgbClr val="5A6472"/>
                </a:solidFill>
                <a:latin typeface="Calibri" pitchFamily="34" charset="0"/>
                <a:ea typeface="Calibri" pitchFamily="34" charset="-122"/>
                <a:cs typeface="Calibri" pitchFamily="34" charset="-120"/>
              </a:rPr>
              <a:t>Exporter du poulet réfrigéré vers le Golfe impose des contraintes de chaîne du froid qui ne sont pas chiffrées ici.</a:t>
            </a:r>
            <a:endParaRPr lang="en-US" sz="1200" dirty="0"/>
          </a:p>
        </p:txBody>
      </p:sp>
      <p:sp>
        <p:nvSpPr>
          <p:cNvPr id="19" name="Shape 17"/>
          <p:cNvSpPr/>
          <p:nvPr/>
        </p:nvSpPr>
        <p:spPr>
          <a:xfrm>
            <a:off x="6263640" y="3611880"/>
            <a:ext cx="5257800" cy="1600200"/>
          </a:xfrm>
          <a:prstGeom prst="roundRect">
            <a:avLst>
              <a:gd name="adj" fmla="val 3429"/>
            </a:avLst>
          </a:prstGeom>
          <a:solidFill>
            <a:srgbClr val="EEF1F5"/>
          </a:solidFill>
          <a:ln w="12700">
            <a:solidFill>
              <a:srgbClr val="EEF1F5"/>
            </a:solidFill>
            <a:prstDash val="solid"/>
          </a:ln>
        </p:spPr>
      </p:sp>
      <p:sp>
        <p:nvSpPr>
          <p:cNvPr id="20" name="Shape 18"/>
          <p:cNvSpPr/>
          <p:nvPr/>
        </p:nvSpPr>
        <p:spPr>
          <a:xfrm>
            <a:off x="6537960" y="3904488"/>
            <a:ext cx="457200" cy="457200"/>
          </a:xfrm>
          <a:prstGeom prst="ellipse">
            <a:avLst/>
          </a:prstGeom>
          <a:solidFill>
            <a:srgbClr val="B5485D"/>
          </a:solidFill>
          <a:ln w="12700">
            <a:solidFill>
              <a:srgbClr val="333333"/>
            </a:solidFill>
            <a:prstDash val="solid"/>
          </a:ln>
        </p:spPr>
      </p:sp>
      <p:sp>
        <p:nvSpPr>
          <p:cNvPr id="21" name="Text 19"/>
          <p:cNvSpPr txBox="1"/>
          <p:nvPr/>
        </p:nvSpPr>
        <p:spPr>
          <a:xfrm>
            <a:off x="6537960" y="3959352"/>
            <a:ext cx="45720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2" name="Text 20"/>
          <p:cNvSpPr txBox="1"/>
          <p:nvPr/>
        </p:nvSpPr>
        <p:spPr>
          <a:xfrm>
            <a:off x="7178040" y="3867912"/>
            <a:ext cx="4114800" cy="411480"/>
          </a:xfrm>
          <a:prstGeom prst="rect">
            <a:avLst/>
          </a:prstGeom>
          <a:noFill/>
          <a:ln/>
        </p:spPr>
        <p:txBody>
          <a:bodyPr wrap="square" lIns="0" tIns="0" rIns="0" bIns="0"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Les groupes ne sont pas étanches</a:t>
            </a:r>
            <a:endParaRPr lang="en-US" sz="1450" dirty="0"/>
          </a:p>
        </p:txBody>
      </p:sp>
      <p:sp>
        <p:nvSpPr>
          <p:cNvPr id="23" name="Text 21"/>
          <p:cNvSpPr txBox="1"/>
          <p:nvPr/>
        </p:nvSpPr>
        <p:spPr>
          <a:xfrm>
            <a:off x="7178040" y="4297680"/>
            <a:ext cx="4160520" cy="822960"/>
          </a:xfrm>
          <a:prstGeom prst="rect">
            <a:avLst/>
          </a:prstGeom>
          <a:noFill/>
          <a:ln/>
        </p:spPr>
        <p:txBody>
          <a:bodyPr wrap="square" lIns="0" tIns="0" rIns="0" bIns="0" rtlCol="0" anchor="ctr"/>
          <a:lstStyle/>
          <a:p>
            <a:pPr marL="0" indent="0">
              <a:buNone/>
            </a:pPr>
            <a:r>
              <a:rPr lang="en-US" sz="1200" dirty="0">
                <a:solidFill>
                  <a:srgbClr val="5A6472"/>
                </a:solidFill>
                <a:latin typeface="Calibri" pitchFamily="34" charset="0"/>
                <a:ea typeface="Calibri" pitchFamily="34" charset="-122"/>
                <a:cs typeface="Calibri" pitchFamily="34" charset="-120"/>
              </a:rPr>
              <a:t>Le développement économique est un dégradé continu. La segmentation est un outil de décision, pas une vérité tranchée.</a:t>
            </a:r>
            <a:endParaRPr lang="en-US" sz="1200" dirty="0"/>
          </a:p>
        </p:txBody>
      </p:sp>
      <p:sp>
        <p:nvSpPr>
          <p:cNvPr id="24" name="Text 22"/>
          <p:cNvSpPr txBox="1"/>
          <p:nvPr/>
        </p:nvSpPr>
        <p:spPr>
          <a:xfrm>
            <a:off x="640080" y="5623560"/>
            <a:ext cx="10881360" cy="548640"/>
          </a:xfrm>
          <a:prstGeom prst="rect">
            <a:avLst/>
          </a:prstGeom>
          <a:noFill/>
          <a:ln/>
        </p:spPr>
        <p:txBody>
          <a:bodyPr wrap="square" lIns="0" tIns="0" rIns="0" bIns="0" rtlCol="0" anchor="ctr"/>
          <a:lstStyle/>
          <a:p>
            <a:pPr marL="0" indent="0">
              <a:buNone/>
            </a:pPr>
            <a:r>
              <a:rPr lang="en-US" sz="1400" i="1" dirty="0">
                <a:solidFill>
                  <a:srgbClr val="1E2761"/>
                </a:solidFill>
                <a:latin typeface="Calibri" pitchFamily="34" charset="0"/>
                <a:ea typeface="Calibri" pitchFamily="34" charset="-122"/>
                <a:cs typeface="Calibri" pitchFamily="34" charset="-120"/>
              </a:rPr>
              <a:t>Aucune de ces limites n'invalide la recommandation. Toutes doivent être levées avant l'engagement commercial.</a:t>
            </a:r>
            <a:endParaRPr lang="en-US" sz="1400" dirty="0"/>
          </a:p>
        </p:txBody>
      </p:sp>
      <p:sp>
        <p:nvSpPr>
          <p:cNvPr id="26" name="Text 23"/>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A8B0BC"/>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640080" y="822960"/>
            <a:ext cx="10881360" cy="64008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En résumé</a:t>
            </a:r>
            <a:endParaRPr lang="en-US" sz="3000" dirty="0"/>
          </a:p>
        </p:txBody>
      </p:sp>
      <p:sp>
        <p:nvSpPr>
          <p:cNvPr id="3" name="Text 1"/>
          <p:cNvSpPr txBox="1"/>
          <p:nvPr/>
        </p:nvSpPr>
        <p:spPr>
          <a:xfrm>
            <a:off x="8138160" y="868680"/>
            <a:ext cx="3383280" cy="548640"/>
          </a:xfrm>
          <a:prstGeom prst="rect">
            <a:avLst/>
          </a:prstGeom>
          <a:noFill/>
          <a:ln/>
        </p:spPr>
        <p:txBody>
          <a:bodyPr wrap="square" lIns="0" tIns="0" rIns="0" bIns="0" rtlCol="0" anchor="ctr"/>
          <a:lstStyle/>
          <a:p>
            <a:pPr marL="0" indent="0" algn="r">
              <a:buNone/>
            </a:pPr>
            <a:r>
              <a:rPr lang="en-US" sz="1500" i="1" dirty="0">
                <a:solidFill>
                  <a:srgbClr val="E07A3F"/>
                </a:solidFill>
                <a:latin typeface="Calibri" pitchFamily="34" charset="0"/>
                <a:ea typeface="Calibri" pitchFamily="34" charset="-122"/>
                <a:cs typeface="Calibri" pitchFamily="34" charset="-120"/>
              </a:rPr>
              <a:t>Merci de votre attention</a:t>
            </a:r>
            <a:endParaRPr lang="en-US" sz="1500" dirty="0"/>
          </a:p>
        </p:txBody>
      </p:sp>
      <p:sp>
        <p:nvSpPr>
          <p:cNvPr id="4" name="Text 2"/>
          <p:cNvSpPr txBox="1"/>
          <p:nvPr/>
        </p:nvSpPr>
        <p:spPr>
          <a:xfrm>
            <a:off x="640080" y="1828800"/>
            <a:ext cx="2377440" cy="548640"/>
          </a:xfrm>
          <a:prstGeom prst="rect">
            <a:avLst/>
          </a:prstGeom>
          <a:noFill/>
          <a:ln/>
        </p:spPr>
        <p:txBody>
          <a:bodyPr wrap="square" lIns="0" tIns="0" rIns="0" bIns="0" rtlCol="0" anchor="ctr"/>
          <a:lstStyle/>
          <a:p>
            <a:pPr marL="0" indent="0">
              <a:buNone/>
            </a:pPr>
            <a:r>
              <a:rPr lang="en-US" sz="2600" b="1" dirty="0">
                <a:solidFill>
                  <a:srgbClr val="CADCFC"/>
                </a:solidFill>
                <a:latin typeface="Calibri" pitchFamily="34" charset="0"/>
                <a:ea typeface="Calibri" pitchFamily="34" charset="-122"/>
                <a:cs typeface="Calibri" pitchFamily="34" charset="-120"/>
              </a:rPr>
              <a:t>174 → 164</a:t>
            </a:r>
            <a:endParaRPr lang="en-US" sz="2600" dirty="0"/>
          </a:p>
        </p:txBody>
      </p:sp>
      <p:sp>
        <p:nvSpPr>
          <p:cNvPr id="5" name="Text 3"/>
          <p:cNvSpPr txBox="1"/>
          <p:nvPr/>
        </p:nvSpPr>
        <p:spPr>
          <a:xfrm>
            <a:off x="3383280" y="1901952"/>
            <a:ext cx="8046720" cy="640080"/>
          </a:xfrm>
          <a:prstGeom prst="rect">
            <a:avLst/>
          </a:prstGeom>
          <a:noFill/>
          <a:ln/>
        </p:spPr>
        <p:txBody>
          <a:bodyPr wrap="square" lIns="0" tIns="0" rIns="0" bIns="0" rtlCol="0" anchor="ctr"/>
          <a:lstStyle/>
          <a:p>
            <a:pPr marL="0" indent="0">
              <a:buNone/>
            </a:pPr>
            <a:r>
              <a:rPr lang="en-US" sz="1500" dirty="0">
                <a:solidFill>
                  <a:srgbClr val="C9D6F0"/>
                </a:solidFill>
                <a:latin typeface="Calibri" pitchFamily="34" charset="0"/>
                <a:ea typeface="Calibri" pitchFamily="34" charset="-122"/>
                <a:cs typeface="Calibri" pitchFamily="34" charset="-120"/>
              </a:rPr>
              <a:t>pays retenus, couvrant 96 % de la population mondiale, sans aucune donnée manquante</a:t>
            </a:r>
            <a:endParaRPr lang="en-US" sz="1500" dirty="0"/>
          </a:p>
        </p:txBody>
      </p:sp>
      <p:sp>
        <p:nvSpPr>
          <p:cNvPr id="6" name="Text 4"/>
          <p:cNvSpPr txBox="1"/>
          <p:nvPr/>
        </p:nvSpPr>
        <p:spPr>
          <a:xfrm>
            <a:off x="640080" y="2880360"/>
            <a:ext cx="2377440" cy="548640"/>
          </a:xfrm>
          <a:prstGeom prst="rect">
            <a:avLst/>
          </a:prstGeom>
          <a:noFill/>
          <a:ln/>
        </p:spPr>
        <p:txBody>
          <a:bodyPr wrap="square" lIns="0" tIns="0" rIns="0" bIns="0" rtlCol="0" anchor="ctr"/>
          <a:lstStyle/>
          <a:p>
            <a:pPr marL="0" indent="0">
              <a:buNone/>
            </a:pPr>
            <a:r>
              <a:rPr lang="en-US" sz="2600" b="1" dirty="0">
                <a:solidFill>
                  <a:srgbClr val="CADCFC"/>
                </a:solidFill>
                <a:latin typeface="Calibri" pitchFamily="34" charset="0"/>
                <a:ea typeface="Calibri" pitchFamily="34" charset="-122"/>
                <a:cs typeface="Calibri" pitchFamily="34" charset="-120"/>
              </a:rPr>
              <a:t>15 → 4</a:t>
            </a:r>
            <a:endParaRPr lang="en-US" sz="2600" dirty="0"/>
          </a:p>
        </p:txBody>
      </p:sp>
      <p:sp>
        <p:nvSpPr>
          <p:cNvPr id="7" name="Text 5"/>
          <p:cNvSpPr txBox="1"/>
          <p:nvPr/>
        </p:nvSpPr>
        <p:spPr>
          <a:xfrm>
            <a:off x="3383280" y="2953512"/>
            <a:ext cx="8046720" cy="640080"/>
          </a:xfrm>
          <a:prstGeom prst="rect">
            <a:avLst/>
          </a:prstGeom>
          <a:noFill/>
          <a:ln/>
        </p:spPr>
        <p:txBody>
          <a:bodyPr wrap="square" lIns="0" tIns="0" rIns="0" bIns="0" rtlCol="0" anchor="ctr"/>
          <a:lstStyle/>
          <a:p>
            <a:pPr marL="0" indent="0">
              <a:buNone/>
            </a:pPr>
            <a:r>
              <a:rPr lang="en-US" sz="1500" dirty="0">
                <a:solidFill>
                  <a:srgbClr val="C9D6F0"/>
                </a:solidFill>
                <a:latin typeface="Calibri" pitchFamily="34" charset="0"/>
                <a:ea typeface="Calibri" pitchFamily="34" charset="-122"/>
                <a:cs typeface="Calibri" pitchFamily="34" charset="-120"/>
              </a:rPr>
              <a:t>dimensions synthétiques conservant 75 % de l'information</a:t>
            </a:r>
            <a:endParaRPr lang="en-US" sz="1500" dirty="0"/>
          </a:p>
        </p:txBody>
      </p:sp>
      <p:sp>
        <p:nvSpPr>
          <p:cNvPr id="8" name="Text 6"/>
          <p:cNvSpPr txBox="1"/>
          <p:nvPr/>
        </p:nvSpPr>
        <p:spPr>
          <a:xfrm>
            <a:off x="640080" y="3931920"/>
            <a:ext cx="2377440" cy="548640"/>
          </a:xfrm>
          <a:prstGeom prst="rect">
            <a:avLst/>
          </a:prstGeom>
          <a:noFill/>
          <a:ln/>
        </p:spPr>
        <p:txBody>
          <a:bodyPr wrap="square" lIns="0" tIns="0" rIns="0" bIns="0" rtlCol="0" anchor="ctr"/>
          <a:lstStyle/>
          <a:p>
            <a:pPr marL="0" indent="0">
              <a:buNone/>
            </a:pPr>
            <a:r>
              <a:rPr lang="en-US" sz="2600" b="1" dirty="0">
                <a:solidFill>
                  <a:srgbClr val="CADCFC"/>
                </a:solidFill>
                <a:latin typeface="Calibri" pitchFamily="34" charset="0"/>
                <a:ea typeface="Calibri" pitchFamily="34" charset="-122"/>
                <a:cs typeface="Calibri" pitchFamily="34" charset="-120"/>
              </a:rPr>
              <a:t>164 → 4</a:t>
            </a:r>
            <a:endParaRPr lang="en-US" sz="2600" dirty="0"/>
          </a:p>
        </p:txBody>
      </p:sp>
      <p:sp>
        <p:nvSpPr>
          <p:cNvPr id="9" name="Text 7"/>
          <p:cNvSpPr txBox="1"/>
          <p:nvPr/>
        </p:nvSpPr>
        <p:spPr>
          <a:xfrm>
            <a:off x="3383280" y="4005072"/>
            <a:ext cx="8046720" cy="640080"/>
          </a:xfrm>
          <a:prstGeom prst="rect">
            <a:avLst/>
          </a:prstGeom>
          <a:noFill/>
          <a:ln/>
        </p:spPr>
        <p:txBody>
          <a:bodyPr wrap="square" lIns="0" tIns="0" rIns="0" bIns="0" rtlCol="0" anchor="ctr"/>
          <a:lstStyle/>
          <a:p>
            <a:pPr marL="0" indent="0">
              <a:buNone/>
            </a:pPr>
            <a:r>
              <a:rPr lang="en-US" sz="1500" dirty="0">
                <a:solidFill>
                  <a:srgbClr val="C9D6F0"/>
                </a:solidFill>
                <a:latin typeface="Calibri" pitchFamily="34" charset="0"/>
                <a:ea typeface="Calibri" pitchFamily="34" charset="-122"/>
                <a:cs typeface="Calibri" pitchFamily="34" charset="-120"/>
              </a:rPr>
              <a:t>groupes de pays, validés par deux méthodes indépendantes qui convergent à 83 %</a:t>
            </a:r>
            <a:endParaRPr lang="en-US" sz="1500" dirty="0"/>
          </a:p>
        </p:txBody>
      </p:sp>
      <p:sp>
        <p:nvSpPr>
          <p:cNvPr id="10" name="Text 8"/>
          <p:cNvSpPr txBox="1"/>
          <p:nvPr/>
        </p:nvSpPr>
        <p:spPr>
          <a:xfrm>
            <a:off x="640080" y="4983480"/>
            <a:ext cx="2377440" cy="548640"/>
          </a:xfrm>
          <a:prstGeom prst="rect">
            <a:avLst/>
          </a:prstGeom>
          <a:noFill/>
          <a:ln/>
        </p:spPr>
        <p:txBody>
          <a:bodyPr wrap="square" lIns="0" tIns="0" rIns="0" bIns="0" rtlCol="0" anchor="ctr"/>
          <a:lstStyle/>
          <a:p>
            <a:pPr marL="0" indent="0">
              <a:buNone/>
            </a:pPr>
            <a:r>
              <a:rPr lang="en-US" sz="2600" b="1" dirty="0">
                <a:solidFill>
                  <a:srgbClr val="E07A3F"/>
                </a:solidFill>
                <a:latin typeface="Calibri" pitchFamily="34" charset="0"/>
                <a:ea typeface="Calibri" pitchFamily="34" charset="-122"/>
                <a:cs typeface="Calibri" pitchFamily="34" charset="-120"/>
              </a:rPr>
              <a:t>24 → 3</a:t>
            </a:r>
            <a:endParaRPr lang="en-US" sz="2600" dirty="0"/>
          </a:p>
        </p:txBody>
      </p:sp>
      <p:sp>
        <p:nvSpPr>
          <p:cNvPr id="11" name="Text 9"/>
          <p:cNvSpPr txBox="1"/>
          <p:nvPr/>
        </p:nvSpPr>
        <p:spPr>
          <a:xfrm>
            <a:off x="3383280" y="5056632"/>
            <a:ext cx="8046720" cy="6400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marchés recommandés : Koweït, Irlande, Arabie saoudite</a:t>
            </a:r>
            <a:endParaRPr lang="en-US" sz="1500" dirty="0"/>
          </a:p>
        </p:txBody>
      </p:sp>
      <p:sp>
        <p:nvSpPr>
          <p:cNvPr id="12" name="Shape 10"/>
          <p:cNvSpPr/>
          <p:nvPr/>
        </p:nvSpPr>
        <p:spPr>
          <a:xfrm>
            <a:off x="640080" y="5989320"/>
            <a:ext cx="2194560" cy="0"/>
          </a:xfrm>
          <a:prstGeom prst="line">
            <a:avLst/>
          </a:prstGeom>
          <a:noFill/>
          <a:ln w="38100">
            <a:solidFill>
              <a:srgbClr val="E07A3F"/>
            </a:solidFill>
            <a:prstDash val="solid"/>
          </a:ln>
        </p:spPr>
      </p:sp>
      <p:sp>
        <p:nvSpPr>
          <p:cNvPr id="13" name="Text 11"/>
          <p:cNvSpPr txBox="1"/>
          <p:nvPr/>
        </p:nvSpPr>
        <p:spPr>
          <a:xfrm>
            <a:off x="640080" y="6144768"/>
            <a:ext cx="10881360" cy="45720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Deux points appellent votre arbitrage : le seuil de pouvoir d'achat de 5 000 $ par habitant, et les pondérations du score.</a:t>
            </a:r>
            <a:endParaRPr lang="en-US" sz="1350" dirty="0"/>
          </a:p>
        </p:txBody>
      </p:sp>
      <p:sp>
        <p:nvSpPr>
          <p:cNvPr id="15" name="Text 12"/>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A8B0BC"/>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640080" y="2743200"/>
            <a:ext cx="10881360" cy="82296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ANNEXES</a:t>
            </a:r>
            <a:endParaRPr lang="en-US" sz="4000" dirty="0"/>
          </a:p>
        </p:txBody>
      </p:sp>
      <p:sp>
        <p:nvSpPr>
          <p:cNvPr id="3" name="Shape 1"/>
          <p:cNvSpPr/>
          <p:nvPr/>
        </p:nvSpPr>
        <p:spPr>
          <a:xfrm>
            <a:off x="640080" y="3657600"/>
            <a:ext cx="2194560" cy="0"/>
          </a:xfrm>
          <a:prstGeom prst="line">
            <a:avLst/>
          </a:prstGeom>
          <a:noFill/>
          <a:ln w="38100">
            <a:solidFill>
              <a:srgbClr val="E07A3F"/>
            </a:solidFill>
            <a:prstDash val="solid"/>
          </a:ln>
        </p:spPr>
      </p:sp>
      <p:sp>
        <p:nvSpPr>
          <p:cNvPr id="4" name="Text 2"/>
          <p:cNvSpPr txBox="1"/>
          <p:nvPr/>
        </p:nvSpPr>
        <p:spPr>
          <a:xfrm>
            <a:off x="640080" y="3931920"/>
            <a:ext cx="10881360" cy="45720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Slides de réserve, à utiliser pendant les questions</a:t>
            </a:r>
            <a:endParaRPr lang="en-US" sz="1500" dirty="0"/>
          </a:p>
        </p:txBody>
      </p:sp>
      <p:sp>
        <p:nvSpPr>
          <p:cNvPr id="5" name="Text 3"/>
          <p:cNvSpPr txBox="1"/>
          <p:nvPr/>
        </p:nvSpPr>
        <p:spPr>
          <a:xfrm>
            <a:off x="640080" y="4663440"/>
            <a:ext cx="10881360" cy="457200"/>
          </a:xfrm>
          <a:prstGeom prst="rect">
            <a:avLst/>
          </a:prstGeom>
          <a:noFill/>
          <a:ln/>
        </p:spPr>
        <p:txBody>
          <a:bodyPr wrap="square" lIns="0" tIns="0" rIns="0" bIns="0" rtlCol="0" anchor="ctr"/>
          <a:lstStyle/>
          <a:p>
            <a:pPr marL="0" indent="0">
              <a:buNone/>
            </a:pPr>
            <a:r>
              <a:rPr lang="en-US" sz="1250" dirty="0">
                <a:solidFill>
                  <a:srgbClr val="9FB0D0"/>
                </a:solidFill>
                <a:latin typeface="Calibri" pitchFamily="34" charset="0"/>
                <a:ea typeface="Calibri" pitchFamily="34" charset="-122"/>
                <a:cs typeface="Calibri" pitchFamily="34" charset="-120"/>
              </a:rPr>
              <a:t>A1 · Les décisions de nettoyage          A2 · Le principe de l'ACP          A3 · Le banc d'essai des méthodes          A4 · La signature des quatre groupes</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731520"/>
          </a:xfrm>
          <a:prstGeom prst="rect">
            <a:avLst/>
          </a:prstGeom>
          <a:noFill/>
          <a:ln/>
        </p:spPr>
        <p:txBody>
          <a:bodyPr wrap="square" lIns="0" tIns="0" rIns="0" bIns="0" rtlCol="0" anchor="ctr"/>
          <a:lstStyle/>
          <a:p>
            <a:pPr marL="0" indent="0" algn="l">
              <a:buNone/>
            </a:pPr>
            <a:r>
              <a:rPr lang="en-US" sz="3000" b="1" dirty="0">
                <a:solidFill>
                  <a:srgbClr val="1E2761"/>
                </a:solidFill>
                <a:latin typeface="Calibri" pitchFamily="34" charset="0"/>
                <a:ea typeface="Calibri" pitchFamily="34" charset="-122"/>
                <a:cs typeface="Calibri" pitchFamily="34" charset="-120"/>
              </a:rPr>
              <a:t>Les décisions de nettoyage</a:t>
            </a:r>
            <a:endParaRPr lang="en-US" sz="3000" dirty="0"/>
          </a:p>
        </p:txBody>
      </p:sp>
      <p:sp>
        <p:nvSpPr>
          <p:cNvPr id="3" name="Text 1"/>
          <p:cNvSpPr txBox="1"/>
          <p:nvPr/>
        </p:nvSpPr>
        <p:spPr>
          <a:xfrm>
            <a:off x="640080" y="1078992"/>
            <a:ext cx="10881360" cy="41148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Chaque écart a été documenté plutôt que corrigé silencieusement</a:t>
            </a:r>
            <a:endParaRPr lang="en-US" sz="1400" dirty="0"/>
          </a:p>
        </p:txBody>
      </p:sp>
      <p:sp>
        <p:nvSpPr>
          <p:cNvPr id="4" name="Shape 2"/>
          <p:cNvSpPr/>
          <p:nvPr/>
        </p:nvSpPr>
        <p:spPr>
          <a:xfrm>
            <a:off x="640080" y="1810512"/>
            <a:ext cx="45720" cy="868680"/>
          </a:xfrm>
          <a:prstGeom prst="rect">
            <a:avLst/>
          </a:prstGeom>
          <a:solidFill>
            <a:srgbClr val="CADCFC"/>
          </a:solidFill>
          <a:ln w="12700">
            <a:solidFill>
              <a:srgbClr val="333333"/>
            </a:solidFill>
            <a:prstDash val="solid"/>
          </a:ln>
        </p:spPr>
      </p:sp>
      <p:sp>
        <p:nvSpPr>
          <p:cNvPr id="5" name="Text 3"/>
          <p:cNvSpPr txBox="1"/>
          <p:nvPr/>
        </p:nvSpPr>
        <p:spPr>
          <a:xfrm>
            <a:off x="896112" y="1737360"/>
            <a:ext cx="3749040" cy="822960"/>
          </a:xfrm>
          <a:prstGeom prst="rect">
            <a:avLst/>
          </a:prstGeom>
          <a:noFill/>
          <a:ln/>
        </p:spPr>
        <p:txBody>
          <a:bodyPr wrap="square" lIns="0" tIns="0" rIns="0" bIns="0"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Flux manquants imputés à zéro</a:t>
            </a:r>
            <a:endParaRPr lang="en-US" sz="1450" dirty="0"/>
          </a:p>
        </p:txBody>
      </p:sp>
      <p:sp>
        <p:nvSpPr>
          <p:cNvPr id="6" name="Text 4"/>
          <p:cNvSpPr txBox="1"/>
          <p:nvPr/>
        </p:nvSpPr>
        <p:spPr>
          <a:xfrm>
            <a:off x="4754880" y="1737360"/>
            <a:ext cx="6858000" cy="914400"/>
          </a:xfrm>
          <a:prstGeom prst="rect">
            <a:avLst/>
          </a:prstGeom>
          <a:noFill/>
          <a:ln/>
        </p:spPr>
        <p:txBody>
          <a:bodyPr wrap="square" lIns="0" tIns="0" rIns="0" bIns="0" rtlCol="0" anchor="ctr"/>
          <a:lstStyle/>
          <a:p>
            <a:pPr marL="0" indent="0">
              <a:buNone/>
            </a:pPr>
            <a:r>
              <a:rPr lang="en-US" sz="1250" dirty="0">
                <a:solidFill>
                  <a:srgbClr val="5A6472"/>
                </a:solidFill>
                <a:latin typeface="Calibri" pitchFamily="34" charset="0"/>
                <a:ea typeface="Calibri" pitchFamily="34" charset="-122"/>
                <a:cs typeface="Calibri" pitchFamily="34" charset="-120"/>
              </a:rPr>
              <a:t>Dans le format FAO, une ligne absente signifie un flux nul. Un pays sans ligne « exportations » n'exporte pas : c'est une information, pas un trou.</a:t>
            </a:r>
            <a:endParaRPr lang="en-US" sz="1250" dirty="0"/>
          </a:p>
        </p:txBody>
      </p:sp>
      <p:sp>
        <p:nvSpPr>
          <p:cNvPr id="7" name="Shape 5"/>
          <p:cNvSpPr/>
          <p:nvPr/>
        </p:nvSpPr>
        <p:spPr>
          <a:xfrm>
            <a:off x="640080" y="2953512"/>
            <a:ext cx="45720" cy="868680"/>
          </a:xfrm>
          <a:prstGeom prst="rect">
            <a:avLst/>
          </a:prstGeom>
          <a:solidFill>
            <a:srgbClr val="E07A3F"/>
          </a:solidFill>
          <a:ln w="12700">
            <a:solidFill>
              <a:srgbClr val="333333"/>
            </a:solidFill>
            <a:prstDash val="solid"/>
          </a:ln>
        </p:spPr>
      </p:sp>
      <p:sp>
        <p:nvSpPr>
          <p:cNvPr id="8" name="Text 6"/>
          <p:cNvSpPr txBox="1"/>
          <p:nvPr/>
        </p:nvSpPr>
        <p:spPr>
          <a:xfrm>
            <a:off x="896112" y="2880360"/>
            <a:ext cx="3749040" cy="822960"/>
          </a:xfrm>
          <a:prstGeom prst="rect">
            <a:avLst/>
          </a:prstGeom>
          <a:noFill/>
          <a:ln/>
        </p:spPr>
        <p:txBody>
          <a:bodyPr wrap="square" lIns="0" tIns="0" rIns="0" bIns="0"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Cinq entités écartées</a:t>
            </a:r>
            <a:endParaRPr lang="en-US" sz="1450" dirty="0"/>
          </a:p>
        </p:txBody>
      </p:sp>
      <p:sp>
        <p:nvSpPr>
          <p:cNvPr id="9" name="Text 7"/>
          <p:cNvSpPr txBox="1"/>
          <p:nvPr/>
        </p:nvSpPr>
        <p:spPr>
          <a:xfrm>
            <a:off x="4754880" y="2880360"/>
            <a:ext cx="6858000" cy="914400"/>
          </a:xfrm>
          <a:prstGeom prst="rect">
            <a:avLst/>
          </a:prstGeom>
          <a:noFill/>
          <a:ln/>
        </p:spPr>
        <p:txBody>
          <a:bodyPr wrap="square" lIns="0" tIns="0" rIns="0" bIns="0" rtlCol="0" anchor="ctr"/>
          <a:lstStyle/>
          <a:p>
            <a:pPr marL="0" indent="0">
              <a:buNone/>
            </a:pPr>
            <a:r>
              <a:rPr lang="en-US" sz="1250" dirty="0">
                <a:solidFill>
                  <a:srgbClr val="5A6472"/>
                </a:solidFill>
                <a:latin typeface="Calibri" pitchFamily="34" charset="0"/>
                <a:ea typeface="Calibri" pitchFamily="34" charset="-122"/>
                <a:cs typeface="Calibri" pitchFamily="34" charset="-120"/>
              </a:rPr>
              <a:t>Corée du Nord — aucune donnée économique publiée. Hong-Kong et Macao — non souveraines. Nouvelle-Calédonie et Polynésie — marché intérieur français, pas de l'export.</a:t>
            </a:r>
            <a:endParaRPr lang="en-US" sz="1250" dirty="0"/>
          </a:p>
        </p:txBody>
      </p:sp>
      <p:sp>
        <p:nvSpPr>
          <p:cNvPr id="10" name="Shape 8"/>
          <p:cNvSpPr/>
          <p:nvPr/>
        </p:nvSpPr>
        <p:spPr>
          <a:xfrm>
            <a:off x="640080" y="4096512"/>
            <a:ext cx="45720" cy="868680"/>
          </a:xfrm>
          <a:prstGeom prst="rect">
            <a:avLst/>
          </a:prstGeom>
          <a:solidFill>
            <a:srgbClr val="CADCFC"/>
          </a:solidFill>
          <a:ln w="12700">
            <a:solidFill>
              <a:srgbClr val="333333"/>
            </a:solidFill>
            <a:prstDash val="solid"/>
          </a:ln>
        </p:spPr>
      </p:sp>
      <p:sp>
        <p:nvSpPr>
          <p:cNvPr id="11" name="Text 9"/>
          <p:cNvSpPr txBox="1"/>
          <p:nvPr/>
        </p:nvSpPr>
        <p:spPr>
          <a:xfrm>
            <a:off x="896112" y="4023360"/>
            <a:ext cx="3749040" cy="822960"/>
          </a:xfrm>
          <a:prstGeom prst="rect">
            <a:avLst/>
          </a:prstGeom>
          <a:noFill/>
          <a:ln/>
        </p:spPr>
        <p:txBody>
          <a:bodyPr wrap="square" lIns="0" tIns="0" rIns="0" bIns="0"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Population soudanaise reconstituée</a:t>
            </a:r>
            <a:endParaRPr lang="en-US" sz="1450" dirty="0"/>
          </a:p>
        </p:txBody>
      </p:sp>
      <p:sp>
        <p:nvSpPr>
          <p:cNvPr id="12" name="Text 10"/>
          <p:cNvSpPr txBox="1"/>
          <p:nvPr/>
        </p:nvSpPr>
        <p:spPr>
          <a:xfrm>
            <a:off x="4754880" y="4023360"/>
            <a:ext cx="6858000" cy="914400"/>
          </a:xfrm>
          <a:prstGeom prst="rect">
            <a:avLst/>
          </a:prstGeom>
          <a:noFill/>
          <a:ln/>
        </p:spPr>
        <p:txBody>
          <a:bodyPr wrap="square" lIns="0" tIns="0" rIns="0" bIns="0" rtlCol="0" anchor="ctr"/>
          <a:lstStyle/>
          <a:p>
            <a:pPr marL="0" indent="0">
              <a:buNone/>
            </a:pPr>
            <a:r>
              <a:rPr lang="en-US" sz="1250" dirty="0">
                <a:solidFill>
                  <a:srgbClr val="5A6472"/>
                </a:solidFill>
                <a:latin typeface="Calibri" pitchFamily="34" charset="0"/>
                <a:ea typeface="Calibri" pitchFamily="34" charset="-122"/>
                <a:cs typeface="Calibri" pitchFamily="34" charset="-120"/>
              </a:rPr>
              <a:t>La sécession de 2011 avait coupé la série. La donnée existait sous un autre libellé : elle a été répartie au prorata plutôt qu'estimée par une moyenne.</a:t>
            </a:r>
            <a:endParaRPr lang="en-US" sz="1250" dirty="0"/>
          </a:p>
        </p:txBody>
      </p:sp>
      <p:sp>
        <p:nvSpPr>
          <p:cNvPr id="13" name="Shape 11"/>
          <p:cNvSpPr/>
          <p:nvPr/>
        </p:nvSpPr>
        <p:spPr>
          <a:xfrm>
            <a:off x="640080" y="5239512"/>
            <a:ext cx="45720" cy="868680"/>
          </a:xfrm>
          <a:prstGeom prst="rect">
            <a:avLst/>
          </a:prstGeom>
          <a:solidFill>
            <a:srgbClr val="CADCFC"/>
          </a:solidFill>
          <a:ln w="12700">
            <a:solidFill>
              <a:srgbClr val="333333"/>
            </a:solidFill>
            <a:prstDash val="solid"/>
          </a:ln>
        </p:spPr>
      </p:sp>
      <p:sp>
        <p:nvSpPr>
          <p:cNvPr id="14" name="Text 12"/>
          <p:cNvSpPr txBox="1"/>
          <p:nvPr/>
        </p:nvSpPr>
        <p:spPr>
          <a:xfrm>
            <a:off x="896112" y="5166360"/>
            <a:ext cx="3749040" cy="822960"/>
          </a:xfrm>
          <a:prstGeom prst="rect">
            <a:avLst/>
          </a:prstGeom>
          <a:noFill/>
          <a:ln/>
        </p:spPr>
        <p:txBody>
          <a:bodyPr wrap="square" lIns="0" tIns="0" rIns="0" bIns="0"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Valeurs extrêmes conservées</a:t>
            </a:r>
            <a:endParaRPr lang="en-US" sz="1450" dirty="0"/>
          </a:p>
        </p:txBody>
      </p:sp>
      <p:sp>
        <p:nvSpPr>
          <p:cNvPr id="15" name="Text 13"/>
          <p:cNvSpPr txBox="1"/>
          <p:nvPr/>
        </p:nvSpPr>
        <p:spPr>
          <a:xfrm>
            <a:off x="4754880" y="5166360"/>
            <a:ext cx="6858000" cy="914400"/>
          </a:xfrm>
          <a:prstGeom prst="rect">
            <a:avLst/>
          </a:prstGeom>
          <a:noFill/>
          <a:ln/>
        </p:spPr>
        <p:txBody>
          <a:bodyPr wrap="square" lIns="0" tIns="0" rIns="0" bIns="0" rtlCol="0" anchor="ctr"/>
          <a:lstStyle/>
          <a:p>
            <a:pPr marL="0" indent="0">
              <a:buNone/>
            </a:pPr>
            <a:r>
              <a:rPr lang="en-US" sz="1250" dirty="0">
                <a:solidFill>
                  <a:srgbClr val="5A6472"/>
                </a:solidFill>
                <a:latin typeface="Calibri" pitchFamily="34" charset="0"/>
                <a:ea typeface="Calibri" pitchFamily="34" charset="-122"/>
                <a:cs typeface="Calibri" pitchFamily="34" charset="-120"/>
              </a:rPr>
              <a:t>La Chine produit réellement des millions de tonnes. Ce ne sont pas des erreurs. Un traitement mathématique corrige leur poids sans les supprimer.</a:t>
            </a:r>
            <a:endParaRPr lang="en-US" sz="1250" dirty="0"/>
          </a:p>
        </p:txBody>
      </p:sp>
      <p:sp>
        <p:nvSpPr>
          <p:cNvPr id="17" name="Text 14"/>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A8B0BC"/>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731520"/>
          </a:xfrm>
          <a:prstGeom prst="rect">
            <a:avLst/>
          </a:prstGeom>
          <a:noFill/>
          <a:ln/>
        </p:spPr>
        <p:txBody>
          <a:bodyPr wrap="square" lIns="0" tIns="0" rIns="0" bIns="0" rtlCol="0" anchor="ctr"/>
          <a:lstStyle/>
          <a:p>
            <a:pPr marL="0" indent="0" algn="l">
              <a:buNone/>
            </a:pPr>
            <a:r>
              <a:rPr lang="en-US" sz="3000" b="1" dirty="0">
                <a:solidFill>
                  <a:srgbClr val="1E2761"/>
                </a:solidFill>
                <a:latin typeface="Calibri" pitchFamily="34" charset="0"/>
                <a:ea typeface="Calibri" pitchFamily="34" charset="-122"/>
                <a:cs typeface="Calibri" pitchFamily="34" charset="-120"/>
              </a:rPr>
              <a:t>Pourquoi réduire à quatre dimensions ?</a:t>
            </a:r>
            <a:endParaRPr lang="en-US" sz="3000" dirty="0"/>
          </a:p>
        </p:txBody>
      </p:sp>
      <p:sp>
        <p:nvSpPr>
          <p:cNvPr id="3" name="Shape 1"/>
          <p:cNvSpPr/>
          <p:nvPr/>
        </p:nvSpPr>
        <p:spPr>
          <a:xfrm>
            <a:off x="640080" y="1600200"/>
            <a:ext cx="5212080" cy="4023360"/>
          </a:xfrm>
          <a:prstGeom prst="roundRect">
            <a:avLst>
              <a:gd name="adj" fmla="val 1364"/>
            </a:avLst>
          </a:prstGeom>
          <a:solidFill>
            <a:srgbClr val="EEF1F5"/>
          </a:solidFill>
          <a:ln w="12700">
            <a:solidFill>
              <a:srgbClr val="EEF1F5"/>
            </a:solidFill>
            <a:prstDash val="solid"/>
          </a:ln>
        </p:spPr>
      </p:sp>
      <p:sp>
        <p:nvSpPr>
          <p:cNvPr id="4" name="Text 2"/>
          <p:cNvSpPr txBox="1"/>
          <p:nvPr/>
        </p:nvSpPr>
        <p:spPr>
          <a:xfrm>
            <a:off x="960120" y="1828800"/>
            <a:ext cx="4572000" cy="365760"/>
          </a:xfrm>
          <a:prstGeom prst="rect">
            <a:avLst/>
          </a:prstGeom>
          <a:noFill/>
          <a:ln/>
        </p:spPr>
        <p:txBody>
          <a:bodyPr wrap="square" lIns="0" tIns="0" rIns="0" bIns="0" rtlCol="0" anchor="ctr"/>
          <a:lstStyle/>
          <a:p>
            <a:pPr marL="0" indent="0">
              <a:buNone/>
            </a:pPr>
            <a:r>
              <a:rPr lang="en-US" sz="1700" b="1" dirty="0">
                <a:solidFill>
                  <a:srgbClr val="B5485D"/>
                </a:solidFill>
                <a:latin typeface="Calibri" pitchFamily="34" charset="0"/>
                <a:ea typeface="Calibri" pitchFamily="34" charset="-122"/>
                <a:cs typeface="Calibri" pitchFamily="34" charset="-120"/>
              </a:rPr>
              <a:t>Le problème</a:t>
            </a:r>
            <a:endParaRPr lang="en-US" sz="1700" dirty="0"/>
          </a:p>
        </p:txBody>
      </p:sp>
      <p:sp>
        <p:nvSpPr>
          <p:cNvPr id="5" name="Text 3"/>
          <p:cNvSpPr txBox="1"/>
          <p:nvPr/>
        </p:nvSpPr>
        <p:spPr>
          <a:xfrm>
            <a:off x="960120" y="2286000"/>
            <a:ext cx="4572000" cy="201168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333333"/>
                </a:solidFill>
                <a:latin typeface="Calibri" pitchFamily="34" charset="0"/>
                <a:ea typeface="Calibri" pitchFamily="34" charset="-122"/>
                <a:cs typeface="Calibri" pitchFamily="34" charset="-120"/>
              </a:rPr>
              <a:t>Quinze variables, c'est trop pour raisonner</a:t>
            </a:r>
            <a:endParaRPr lang="en-US" sz="1350" dirty="0"/>
          </a:p>
          <a:p>
            <a:pPr marL="342900" indent="-342900">
              <a:spcAft>
                <a:spcPts val="800"/>
              </a:spcAft>
              <a:buSzPct val="100000"/>
              <a:buChar char="•"/>
            </a:pPr>
            <a:r>
              <a:rPr lang="en-US" sz="1350" dirty="0">
                <a:solidFill>
                  <a:srgbClr val="333333"/>
                </a:solidFill>
                <a:latin typeface="Calibri" pitchFamily="34" charset="0"/>
                <a:ea typeface="Calibri" pitchFamily="34" charset="-122"/>
                <a:cs typeface="Calibri" pitchFamily="34" charset="-120"/>
              </a:rPr>
              <a:t>Beaucoup mesurent partiellement la même chose : richesse, urbanisation et régime carné varient ensemble</a:t>
            </a:r>
            <a:endParaRPr lang="en-US" sz="1350" dirty="0"/>
          </a:p>
          <a:p>
            <a:pPr marL="342900" indent="-342900">
              <a:spcAft>
                <a:spcPts val="800"/>
              </a:spcAft>
              <a:buSzPct val="100000"/>
              <a:buChar char="•"/>
            </a:pPr>
            <a:r>
              <a:rPr lang="en-US" sz="1350" dirty="0">
                <a:solidFill>
                  <a:srgbClr val="333333"/>
                </a:solidFill>
                <a:latin typeface="Calibri" pitchFamily="34" charset="0"/>
                <a:ea typeface="Calibri" pitchFamily="34" charset="-122"/>
                <a:cs typeface="Calibri" pitchFamily="34" charset="-120"/>
              </a:rPr>
              <a:t>On ne peut pas dessiner un espace à quinze dimensions</a:t>
            </a:r>
            <a:endParaRPr lang="en-US" sz="1350" dirty="0"/>
          </a:p>
        </p:txBody>
      </p:sp>
      <p:sp>
        <p:nvSpPr>
          <p:cNvPr id="6" name="Text 4"/>
          <p:cNvSpPr txBox="1"/>
          <p:nvPr/>
        </p:nvSpPr>
        <p:spPr>
          <a:xfrm>
            <a:off x="960120" y="4846320"/>
            <a:ext cx="4572000" cy="548640"/>
          </a:xfrm>
          <a:prstGeom prst="rect">
            <a:avLst/>
          </a:prstGeom>
          <a:noFill/>
          <a:ln/>
        </p:spPr>
        <p:txBody>
          <a:bodyPr wrap="square" lIns="0" tIns="0" rIns="0" bIns="0" rtlCol="0" anchor="ctr"/>
          <a:lstStyle/>
          <a:p>
            <a:pPr marL="0" indent="0">
              <a:buNone/>
            </a:pPr>
            <a:r>
              <a:rPr lang="en-US" sz="1250" i="1" dirty="0">
                <a:solidFill>
                  <a:srgbClr val="B5485D"/>
                </a:solidFill>
                <a:latin typeface="Calibri" pitchFamily="34" charset="0"/>
                <a:ea typeface="Calibri" pitchFamily="34" charset="-122"/>
                <a:cs typeface="Calibri" pitchFamily="34" charset="-120"/>
              </a:rPr>
              <a:t>Trois variables qui mesurent la richesse comptent trois fois la richesse.</a:t>
            </a:r>
            <a:endParaRPr lang="en-US" sz="1250" dirty="0"/>
          </a:p>
        </p:txBody>
      </p:sp>
      <p:sp>
        <p:nvSpPr>
          <p:cNvPr id="7" name="Shape 5"/>
          <p:cNvSpPr/>
          <p:nvPr/>
        </p:nvSpPr>
        <p:spPr>
          <a:xfrm>
            <a:off x="6309360" y="1600200"/>
            <a:ext cx="5212080" cy="4023360"/>
          </a:xfrm>
          <a:prstGeom prst="roundRect">
            <a:avLst>
              <a:gd name="adj" fmla="val 1364"/>
            </a:avLst>
          </a:prstGeom>
          <a:solidFill>
            <a:srgbClr val="1E2761"/>
          </a:solidFill>
          <a:ln w="12700">
            <a:solidFill>
              <a:srgbClr val="1E2761"/>
            </a:solidFill>
            <a:prstDash val="solid"/>
          </a:ln>
        </p:spPr>
      </p:sp>
      <p:sp>
        <p:nvSpPr>
          <p:cNvPr id="8" name="Text 6"/>
          <p:cNvSpPr txBox="1"/>
          <p:nvPr/>
        </p:nvSpPr>
        <p:spPr>
          <a:xfrm>
            <a:off x="6629400" y="1828800"/>
            <a:ext cx="4572000" cy="365760"/>
          </a:xfrm>
          <a:prstGeom prst="rect">
            <a:avLst/>
          </a:prstGeom>
          <a:noFill/>
          <a:ln/>
        </p:spPr>
        <p:txBody>
          <a:bodyPr wrap="square" lIns="0" tIns="0" rIns="0" bIns="0" rtlCol="0" anchor="ctr"/>
          <a:lstStyle/>
          <a:p>
            <a:pPr marL="0" indent="0">
              <a:buNone/>
            </a:pPr>
            <a:r>
              <a:rPr lang="en-US" sz="1700" b="1" dirty="0">
                <a:solidFill>
                  <a:srgbClr val="E07A3F"/>
                </a:solidFill>
                <a:latin typeface="Calibri" pitchFamily="34" charset="0"/>
                <a:ea typeface="Calibri" pitchFamily="34" charset="-122"/>
                <a:cs typeface="Calibri" pitchFamily="34" charset="-120"/>
              </a:rPr>
              <a:t>La solution</a:t>
            </a:r>
            <a:endParaRPr lang="en-US" sz="1700" dirty="0"/>
          </a:p>
        </p:txBody>
      </p:sp>
      <p:sp>
        <p:nvSpPr>
          <p:cNvPr id="9" name="Text 7"/>
          <p:cNvSpPr txBox="1"/>
          <p:nvPr/>
        </p:nvSpPr>
        <p:spPr>
          <a:xfrm>
            <a:off x="6629400" y="2286000"/>
            <a:ext cx="4572000" cy="201168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DCE5F5"/>
                </a:solidFill>
                <a:latin typeface="Calibri" pitchFamily="34" charset="0"/>
                <a:ea typeface="Calibri" pitchFamily="34" charset="-122"/>
                <a:cs typeface="Calibri" pitchFamily="34" charset="-120"/>
              </a:rPr>
              <a:t>L'analyse en composantes principales combine les variables corrélées en dimensions synthétiques</a:t>
            </a:r>
            <a:endParaRPr lang="en-US" sz="1350" dirty="0"/>
          </a:p>
          <a:p>
            <a:pPr marL="342900" indent="-342900">
              <a:spcAft>
                <a:spcPts val="800"/>
              </a:spcAft>
              <a:buSzPct val="100000"/>
              <a:buChar char="•"/>
            </a:pPr>
            <a:r>
              <a:rPr lang="en-US" sz="1350" dirty="0">
                <a:solidFill>
                  <a:srgbClr val="DCE5F5"/>
                </a:solidFill>
                <a:latin typeface="Calibri" pitchFamily="34" charset="0"/>
                <a:ea typeface="Calibri" pitchFamily="34" charset="-122"/>
                <a:cs typeface="Calibri" pitchFamily="34" charset="-120"/>
              </a:rPr>
              <a:t>Quatre dimensions conservent 75 % de l'information</a:t>
            </a:r>
            <a:endParaRPr lang="en-US" sz="1350" dirty="0"/>
          </a:p>
          <a:p>
            <a:pPr marL="342900" indent="-342900">
              <a:spcAft>
                <a:spcPts val="800"/>
              </a:spcAft>
              <a:buSzPct val="100000"/>
              <a:buChar char="•"/>
            </a:pPr>
            <a:r>
              <a:rPr lang="en-US" sz="1350" dirty="0">
                <a:solidFill>
                  <a:srgbClr val="DCE5F5"/>
                </a:solidFill>
                <a:latin typeface="Calibri" pitchFamily="34" charset="0"/>
                <a:ea typeface="Calibri" pitchFamily="34" charset="-122"/>
                <a:cs typeface="Calibri" pitchFamily="34" charset="-120"/>
              </a:rPr>
              <a:t>Ces dimensions sont indépendantes : chacune apporte du nouveau</a:t>
            </a:r>
            <a:endParaRPr lang="en-US" sz="1350" dirty="0"/>
          </a:p>
        </p:txBody>
      </p:sp>
      <p:sp>
        <p:nvSpPr>
          <p:cNvPr id="10" name="Text 8"/>
          <p:cNvSpPr txBox="1"/>
          <p:nvPr/>
        </p:nvSpPr>
        <p:spPr>
          <a:xfrm>
            <a:off x="6629400" y="4846320"/>
            <a:ext cx="4572000" cy="548640"/>
          </a:xfrm>
          <a:prstGeom prst="rect">
            <a:avLst/>
          </a:prstGeom>
          <a:noFill/>
          <a:ln/>
        </p:spPr>
        <p:txBody>
          <a:bodyPr wrap="square" lIns="0" tIns="0" rIns="0" bIns="0" rtlCol="0" anchor="ctr"/>
          <a:lstStyle/>
          <a:p>
            <a:pPr marL="0" indent="0">
              <a:buNone/>
            </a:pPr>
            <a:r>
              <a:rPr lang="en-US" sz="1250" i="1" dirty="0">
                <a:solidFill>
                  <a:srgbClr val="E07A3F"/>
                </a:solidFill>
                <a:latin typeface="Calibri" pitchFamily="34" charset="0"/>
                <a:ea typeface="Calibri" pitchFamily="34" charset="-122"/>
                <a:cs typeface="Calibri" pitchFamily="34" charset="-120"/>
              </a:rPr>
              <a:t>On passe de quinze mesures redondantes à quatre axes lisibles.</a:t>
            </a:r>
            <a:endParaRPr lang="en-US" sz="1250" dirty="0"/>
          </a:p>
        </p:txBody>
      </p:sp>
      <p:sp>
        <p:nvSpPr>
          <p:cNvPr id="12" name="Text 9"/>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A8B0BC"/>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731520"/>
          </a:xfrm>
          <a:prstGeom prst="rect">
            <a:avLst/>
          </a:prstGeom>
          <a:noFill/>
          <a:ln/>
        </p:spPr>
        <p:txBody>
          <a:bodyPr wrap="square" lIns="0" tIns="0" rIns="0" bIns="0" rtlCol="0" anchor="ctr"/>
          <a:lstStyle/>
          <a:p>
            <a:pPr marL="0" indent="0" algn="l">
              <a:buNone/>
            </a:pPr>
            <a:r>
              <a:rPr lang="en-US" sz="3000" b="1" dirty="0">
                <a:solidFill>
                  <a:srgbClr val="1E2761"/>
                </a:solidFill>
                <a:latin typeface="Calibri" pitchFamily="34" charset="0"/>
                <a:ea typeface="Calibri" pitchFamily="34" charset="-122"/>
                <a:cs typeface="Calibri" pitchFamily="34" charset="-120"/>
              </a:rPr>
              <a:t>Pourquoi ces méthodes et pas d'autres</a:t>
            </a:r>
            <a:endParaRPr lang="en-US" sz="3000" dirty="0"/>
          </a:p>
        </p:txBody>
      </p:sp>
      <p:sp>
        <p:nvSpPr>
          <p:cNvPr id="3" name="Text 1"/>
          <p:cNvSpPr txBox="1"/>
          <p:nvPr/>
        </p:nvSpPr>
        <p:spPr>
          <a:xfrm>
            <a:off x="640080" y="1078992"/>
            <a:ext cx="10881360" cy="41148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Sept familles d'algorithmes testées sur les mêmes données</a:t>
            </a:r>
            <a:endParaRPr lang="en-US" sz="1400" dirty="0"/>
          </a:p>
        </p:txBody>
      </p:sp>
      <p:pic>
        <p:nvPicPr>
          <p:cNvPr id="4" name="Image 0" descr="/home/claude/p/fig/banc.png"/>
          <p:cNvPicPr>
            <a:picLocks noChangeAspect="1"/>
          </p:cNvPicPr>
          <p:nvPr/>
        </p:nvPicPr>
        <p:blipFill>
          <a:blip r:embed="rId3"/>
          <a:stretch>
            <a:fillRect/>
          </a:stretch>
        </p:blipFill>
        <p:spPr>
          <a:xfrm>
            <a:off x="502920" y="1691640"/>
            <a:ext cx="7132320" cy="2926080"/>
          </a:xfrm>
          <a:prstGeom prst="rect">
            <a:avLst/>
          </a:prstGeom>
        </p:spPr>
      </p:pic>
      <p:sp>
        <p:nvSpPr>
          <p:cNvPr id="5" name="Shape 2"/>
          <p:cNvSpPr/>
          <p:nvPr/>
        </p:nvSpPr>
        <p:spPr>
          <a:xfrm>
            <a:off x="7589520" y="1645920"/>
            <a:ext cx="3931920" cy="3108960"/>
          </a:xfrm>
          <a:prstGeom prst="roundRect">
            <a:avLst>
              <a:gd name="adj" fmla="val 1765"/>
            </a:avLst>
          </a:prstGeom>
          <a:solidFill>
            <a:srgbClr val="EEF1F5"/>
          </a:solidFill>
          <a:ln w="12700">
            <a:solidFill>
              <a:srgbClr val="EEF1F5"/>
            </a:solidFill>
            <a:prstDash val="solid"/>
          </a:ln>
        </p:spPr>
      </p:sp>
      <p:sp>
        <p:nvSpPr>
          <p:cNvPr id="6" name="Text 3"/>
          <p:cNvSpPr txBox="1"/>
          <p:nvPr/>
        </p:nvSpPr>
        <p:spPr>
          <a:xfrm>
            <a:off x="7863840" y="1828800"/>
            <a:ext cx="3474720" cy="36576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Ce que le test révèle</a:t>
            </a:r>
            <a:endParaRPr lang="en-US" sz="1500" dirty="0"/>
          </a:p>
        </p:txBody>
      </p:sp>
      <p:sp>
        <p:nvSpPr>
          <p:cNvPr id="7" name="Text 4"/>
          <p:cNvSpPr txBox="1"/>
          <p:nvPr/>
        </p:nvSpPr>
        <p:spPr>
          <a:xfrm>
            <a:off x="7863840" y="2286000"/>
            <a:ext cx="3474720" cy="228600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333333"/>
                </a:solidFill>
                <a:latin typeface="Calibri" pitchFamily="34" charset="0"/>
                <a:ea typeface="Calibri" pitchFamily="34" charset="-122"/>
                <a:cs typeface="Calibri" pitchFamily="34" charset="-120"/>
              </a:rPr>
              <a:t>Certaines méthodes obtiennent un meilleur score en isolant un seul pays</a:t>
            </a:r>
            <a:endParaRPr lang="en-US" sz="1200" dirty="0"/>
          </a:p>
          <a:p>
            <a:pPr marL="342900" indent="-342900">
              <a:spcAft>
                <a:spcPts val="800"/>
              </a:spcAft>
              <a:buSzPct val="100000"/>
              <a:buChar char="•"/>
            </a:pPr>
            <a:r>
              <a:rPr lang="en-US" sz="1200" dirty="0">
                <a:solidFill>
                  <a:srgbClr val="333333"/>
                </a:solidFill>
                <a:latin typeface="Calibri" pitchFamily="34" charset="0"/>
                <a:ea typeface="Calibri" pitchFamily="34" charset="-122"/>
                <a:cs typeface="Calibri" pitchFamily="34" charset="-120"/>
              </a:rPr>
              <a:t>Une méthode place 161 pays sur 164 dans le même groupe</a:t>
            </a:r>
            <a:endParaRPr lang="en-US" sz="1200" dirty="0"/>
          </a:p>
          <a:p>
            <a:pPr marL="342900" indent="-342900">
              <a:spcAft>
                <a:spcPts val="800"/>
              </a:spcAft>
              <a:buSzPct val="100000"/>
              <a:buChar char="•"/>
            </a:pPr>
            <a:r>
              <a:rPr lang="en-US" sz="1200" dirty="0">
                <a:solidFill>
                  <a:srgbClr val="333333"/>
                </a:solidFill>
                <a:latin typeface="Calibri" pitchFamily="34" charset="0"/>
                <a:ea typeface="Calibri" pitchFamily="34" charset="-122"/>
                <a:cs typeface="Calibri" pitchFamily="34" charset="-120"/>
              </a:rPr>
              <a:t>DBSCAN laisse 70 pays sans classement, quel que soit son réglage</a:t>
            </a:r>
            <a:endParaRPr lang="en-US" sz="1200" dirty="0"/>
          </a:p>
        </p:txBody>
      </p:sp>
      <p:sp>
        <p:nvSpPr>
          <p:cNvPr id="8" name="Shape 5"/>
          <p:cNvSpPr/>
          <p:nvPr/>
        </p:nvSpPr>
        <p:spPr>
          <a:xfrm>
            <a:off x="640080" y="5029200"/>
            <a:ext cx="10881360" cy="1188720"/>
          </a:xfrm>
          <a:prstGeom prst="roundRect">
            <a:avLst>
              <a:gd name="adj" fmla="val 4615"/>
            </a:avLst>
          </a:prstGeom>
          <a:solidFill>
            <a:srgbClr val="1E2761"/>
          </a:solidFill>
          <a:ln w="12700">
            <a:solidFill>
              <a:srgbClr val="1E2761"/>
            </a:solidFill>
            <a:prstDash val="solid"/>
          </a:ln>
        </p:spPr>
      </p:sp>
      <p:sp>
        <p:nvSpPr>
          <p:cNvPr id="9" name="Text 6"/>
          <p:cNvSpPr txBox="1"/>
          <p:nvPr/>
        </p:nvSpPr>
        <p:spPr>
          <a:xfrm>
            <a:off x="914400" y="5166360"/>
            <a:ext cx="3657600" cy="320040"/>
          </a:xfrm>
          <a:prstGeom prst="rect">
            <a:avLst/>
          </a:prstGeom>
          <a:noFill/>
          <a:ln/>
        </p:spPr>
        <p:txBody>
          <a:bodyPr wrap="square" lIns="0" tIns="0" rIns="0" bIns="0" rtlCol="0" anchor="ctr"/>
          <a:lstStyle/>
          <a:p>
            <a:pPr marL="0" indent="0">
              <a:buNone/>
            </a:pPr>
            <a:r>
              <a:rPr lang="en-US" sz="1400" b="1" dirty="0">
                <a:solidFill>
                  <a:srgbClr val="E07A3F"/>
                </a:solidFill>
                <a:latin typeface="Calibri" pitchFamily="34" charset="0"/>
                <a:ea typeface="Calibri" pitchFamily="34" charset="-122"/>
                <a:cs typeface="Calibri" pitchFamily="34" charset="-120"/>
              </a:rPr>
              <a:t>L'échec le plus instructif</a:t>
            </a:r>
            <a:endParaRPr lang="en-US" sz="1400" dirty="0"/>
          </a:p>
        </p:txBody>
      </p:sp>
      <p:sp>
        <p:nvSpPr>
          <p:cNvPr id="10" name="Text 7"/>
          <p:cNvSpPr txBox="1"/>
          <p:nvPr/>
        </p:nvSpPr>
        <p:spPr>
          <a:xfrm>
            <a:off x="914400" y="5486400"/>
            <a:ext cx="10332720" cy="640080"/>
          </a:xfrm>
          <a:prstGeom prst="rect">
            <a:avLst/>
          </a:prstGeom>
          <a:noFill/>
          <a:ln/>
        </p:spPr>
        <p:txBody>
          <a:bodyPr wrap="square" lIns="0" tIns="0" rIns="0" bIns="0" rtlCol="0" anchor="ctr"/>
          <a:lstStyle/>
          <a:p>
            <a:pPr marL="0" indent="0">
              <a:buNone/>
            </a:pPr>
            <a:r>
              <a:rPr lang="en-US" sz="1250" dirty="0">
                <a:solidFill>
                  <a:srgbClr val="DCE5F5"/>
                </a:solidFill>
                <a:latin typeface="Calibri" pitchFamily="34" charset="0"/>
                <a:ea typeface="Calibri" pitchFamily="34" charset="-122"/>
                <a:cs typeface="Calibri" pitchFamily="34" charset="-120"/>
              </a:rPr>
              <a:t>Les algorithmes qui cherchent des zones denses séparées par du vide ne trouvent rien. Il n'existe pas de frontière naturelle entre pays riches et pays pauvres : le développement est un dégradé continu. Nos quatre groupes sont donc un découpage utile, pas une réalité tranchée.</a:t>
            </a:r>
            <a:endParaRPr lang="en-US" sz="1250" dirty="0"/>
          </a:p>
        </p:txBody>
      </p:sp>
      <p:sp>
        <p:nvSpPr>
          <p:cNvPr id="12" name="Text 8"/>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A8B0BC"/>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10881360" cy="731520"/>
          </a:xfrm>
          <a:prstGeom prst="rect">
            <a:avLst/>
          </a:prstGeom>
          <a:noFill/>
          <a:ln/>
        </p:spPr>
        <p:txBody>
          <a:bodyPr wrap="square" lIns="0" tIns="0" rIns="0" bIns="0" rtlCol="0" anchor="ctr"/>
          <a:lstStyle/>
          <a:p>
            <a:pPr marL="0" indent="0" algn="l">
              <a:buNone/>
            </a:pPr>
            <a:r>
              <a:rPr lang="en-US" sz="3000" b="1" dirty="0">
                <a:solidFill>
                  <a:srgbClr val="1E2761"/>
                </a:solidFill>
                <a:latin typeface="Calibri" pitchFamily="34" charset="0"/>
                <a:ea typeface="Calibri" pitchFamily="34" charset="-122"/>
                <a:cs typeface="Calibri" pitchFamily="34" charset="-120"/>
              </a:rPr>
              <a:t>Ce qui distingue chaque groupe</a:t>
            </a:r>
            <a:endParaRPr lang="en-US" sz="3000" dirty="0"/>
          </a:p>
        </p:txBody>
      </p:sp>
      <p:sp>
        <p:nvSpPr>
          <p:cNvPr id="3" name="Text 1"/>
          <p:cNvSpPr txBox="1"/>
          <p:nvPr/>
        </p:nvSpPr>
        <p:spPr>
          <a:xfrm>
            <a:off x="640080" y="1078992"/>
            <a:ext cx="10881360" cy="41148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Écart à la moyenne mondiale — rouge au-dessus, bleu en dessous</a:t>
            </a:r>
            <a:endParaRPr lang="en-US" sz="1400" dirty="0"/>
          </a:p>
        </p:txBody>
      </p:sp>
      <p:pic>
        <p:nvPicPr>
          <p:cNvPr id="4" name="Image 0" descr="/home/claude/p/fig/signature.png"/>
          <p:cNvPicPr>
            <a:picLocks noChangeAspect="1"/>
          </p:cNvPicPr>
          <p:nvPr/>
        </p:nvPicPr>
        <p:blipFill>
          <a:blip r:embed="rId3"/>
          <a:stretch>
            <a:fillRect/>
          </a:stretch>
        </p:blipFill>
        <p:spPr>
          <a:xfrm>
            <a:off x="2011680" y="1691640"/>
            <a:ext cx="7498080" cy="3840480"/>
          </a:xfrm>
          <a:prstGeom prst="rect">
            <a:avLst/>
          </a:prstGeom>
        </p:spPr>
      </p:pic>
      <p:sp>
        <p:nvSpPr>
          <p:cNvPr id="5" name="Text 2"/>
          <p:cNvSpPr txBox="1"/>
          <p:nvPr/>
        </p:nvSpPr>
        <p:spPr>
          <a:xfrm>
            <a:off x="640080" y="5669280"/>
            <a:ext cx="10881360" cy="640080"/>
          </a:xfrm>
          <a:prstGeom prst="rect">
            <a:avLst/>
          </a:prstGeom>
          <a:noFill/>
          <a:ln/>
        </p:spPr>
        <p:txBody>
          <a:bodyPr wrap="square" lIns="0" tIns="0" rIns="0" bIns="0" rtlCol="0" anchor="ctr"/>
          <a:lstStyle/>
          <a:p>
            <a:pPr marL="0" indent="0">
              <a:buNone/>
            </a:pPr>
            <a:r>
              <a:rPr lang="en-US" sz="1400" i="1" dirty="0">
                <a:solidFill>
                  <a:srgbClr val="1E2761"/>
                </a:solidFill>
                <a:latin typeface="Calibri" pitchFamily="34" charset="0"/>
                <a:ea typeface="Calibri" pitchFamily="34" charset="-122"/>
                <a:cs typeface="Calibri" pitchFamily="34" charset="-120"/>
              </a:rPr>
              <a:t>Le groupe 3 est le seul à combiner un pouvoir d'achat supérieur à la moyenne, une consommation de volaille élevée et une forte dépendance aux importations.</a:t>
            </a:r>
            <a:endParaRPr lang="en-US" sz="1400" dirty="0"/>
          </a:p>
        </p:txBody>
      </p:sp>
      <p:sp>
        <p:nvSpPr>
          <p:cNvPr id="7" name="Text 3"/>
          <p:cNvSpPr txBox="1"/>
          <p:nvPr/>
        </p:nvSpPr>
        <p:spPr>
          <a:xfrm>
            <a:off x="11247120" y="6355080"/>
            <a:ext cx="457200" cy="274320"/>
          </a:xfrm>
          <a:prstGeom prst="rect">
            <a:avLst/>
          </a:prstGeom>
          <a:noFill/>
          <a:ln/>
        </p:spPr>
        <p:txBody>
          <a:bodyPr wrap="square" lIns="0" tIns="0" rIns="0" bIns="0" rtlCol="0" anchor="ctr"/>
          <a:lstStyle/>
          <a:p>
            <a:pPr marL="0" indent="0" algn="r">
              <a:buNone/>
            </a:pPr>
            <a:r>
              <a:rPr lang="en-US" sz="1000" dirty="0">
                <a:solidFill>
                  <a:srgbClr val="A8B0BC"/>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15003</TotalTime>
  <Words>5895</Words>
  <Application>Microsoft Office PowerPoint</Application>
  <PresentationFormat>Grand écran</PresentationFormat>
  <Paragraphs>374</Paragraphs>
  <Slides>25</Slides>
  <Notes>25</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25</vt:i4>
      </vt:variant>
    </vt:vector>
  </HeadingPairs>
  <TitlesOfParts>
    <vt:vector size="28"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Étude de marché internationale — La poule qui chante</dc:title>
  <dc:subject>PptxGenJS Presentation</dc:subject>
  <dc:creator>Sabah Rizki</dc:creator>
  <cp:lastModifiedBy>sabah rizki</cp:lastModifiedBy>
  <cp:revision>7</cp:revision>
  <dcterms:created xsi:type="dcterms:W3CDTF">2026-09-13T10:46:08Z</dcterms:created>
  <dcterms:modified xsi:type="dcterms:W3CDTF">2026-09-28T07:24:06Z</dcterms:modified>
</cp:coreProperties>
</file>